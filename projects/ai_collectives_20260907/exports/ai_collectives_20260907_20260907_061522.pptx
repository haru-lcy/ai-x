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p15="http://schemas.microsoft.com/office/powerpoint/2012/main" xmlns:r="http://schemas.openxmlformats.org/officeDocument/2006/relationships" saveSubsetFonts="1" autoCompressPictures="0">
  <p:sldMasterIdLst>
    <p:sldMasterId id="2147483858" r:id="rId1"/>
  </p:sldMasterIdLst>
  <p:notesMasterIdLst>
    <p:notesMasterId r:id="rId25"/>
  </p:notesMasterIdLst>
  <p:sldIdLst>
    <p:sldId id="256" r:id="rId30"/>
    <p:sldId id="257" r:id="rId31"/>
    <p:sldId id="258" r:id="rId32"/>
    <p:sldId id="259" r:id="rId33"/>
    <p:sldId id="260" r:id="rId34"/>
    <p:sldId id="261" r:id="rId35"/>
    <p:sldId id="262" r:id="rId36"/>
    <p:sldId id="263" r:id="rId37"/>
    <p:sldId id="264" r:id="rId38"/>
    <p:sldId id="265" r:id="rId39"/>
    <p:sldId id="266"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874"/>
    <a:srgbClr val="5C307D"/>
    <a:srgbClr val="FEFDFF"/>
    <a:srgbClr val="E1DF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5"/>
    <p:restoredTop sz="74422"/>
  </p:normalViewPr>
  <p:slideViewPr>
    <p:cSldViewPr snapToGrid="0" snapToObjects="1">
      <p:cViewPr varScale="1">
        <p:scale>
          <a:sx n="93" d="100"/>
          <a:sy n="93" d="100"/>
        </p:scale>
        <p:origin x="1288" y="208"/>
      </p:cViewPr>
      <p:guideLst/>
    </p:cSldViewPr>
  </p:slideViewPr>
  <p:outlineViewPr>
    <p:cViewPr>
      <p:scale>
        <a:sx n="33" d="100"/>
        <a:sy n="33" d="100"/>
      </p:scale>
      <p:origin x="0" y="-1140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Relationships xmlns="http://schemas.openxmlformats.org/package/2006/relationships"><Relationship Id="rId26" Type="http://schemas.openxmlformats.org/officeDocument/2006/relationships/presProps" Target="presProps.xml" /><Relationship Id="rId25" Type="http://schemas.openxmlformats.org/officeDocument/2006/relationships/notesMaster" Target="notesMasters/notesMaster1.xml" /><Relationship Id="rId29" Type="http://schemas.openxmlformats.org/officeDocument/2006/relationships/tableStyles" Target="tableStyles.xml" /><Relationship Id="rId1" Type="http://schemas.openxmlformats.org/officeDocument/2006/relationships/slideMaster" Target="slideMasters/slideMaster1.xml" /><Relationship Id="rId28" Type="http://schemas.openxmlformats.org/officeDocument/2006/relationships/theme" Target="theme/theme1.xml" /><Relationship Id="rId27" Type="http://schemas.openxmlformats.org/officeDocument/2006/relationships/viewProps" Target="viewProps.xml" /><Relationship Id="rId30" Type="http://schemas.openxmlformats.org/officeDocument/2006/relationships/slide" Target="slides/slide1.xml" /><Relationship Id="rId31" Type="http://schemas.openxmlformats.org/officeDocument/2006/relationships/slide" Target="slides/slide2.xml" /><Relationship Id="rId32" Type="http://schemas.openxmlformats.org/officeDocument/2006/relationships/slide" Target="slides/slide3.xml" /><Relationship Id="rId33" Type="http://schemas.openxmlformats.org/officeDocument/2006/relationships/slide" Target="slides/slide4.xml" /><Relationship Id="rId34" Type="http://schemas.openxmlformats.org/officeDocument/2006/relationships/slide" Target="slides/slide5.xml" /><Relationship Id="rId35" Type="http://schemas.openxmlformats.org/officeDocument/2006/relationships/slide" Target="slides/slide6.xml" /><Relationship Id="rId36" Type="http://schemas.openxmlformats.org/officeDocument/2006/relationships/slide" Target="slides/slide7.xml" /><Relationship Id="rId37" Type="http://schemas.openxmlformats.org/officeDocument/2006/relationships/slide" Target="slides/slide8.xml" /><Relationship Id="rId38" Type="http://schemas.openxmlformats.org/officeDocument/2006/relationships/slide" Target="slides/slide9.xml" /><Relationship Id="rId39" Type="http://schemas.openxmlformats.org/officeDocument/2006/relationships/slide" Target="slides/slide10.xml" /><Relationship Id="rId40" Type="http://schemas.openxmlformats.org/officeDocument/2006/relationships/slide" Target="slides/slide1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51940-DB52-3B48-AABB-9C7938529E4E}" type="datetimeFigureOut">
              <a:rPr kumimoji="1" lang="zh-CN" altLang="en-US" smtClean="0"/>
              <a:t>2026/9/7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8717E-F74C-4246-A795-6577BEDC8382}" type="slidenum">
              <a:rPr kumimoji="1" lang="zh-CN" altLang="en-US" smtClean="0"/>
              <a:t>‹#›</a:t>
            </a:fld>
            <a:endParaRPr kumimoji="1" lang="zh-CN" altLang="en-US"/>
          </a:p>
        </p:txBody>
      </p:sp>
    </p:spTree>
    <p:extLst>
      <p:ext uri="{BB962C8B-B14F-4D97-AF65-F5344CB8AC3E}">
        <p14:creationId xmlns:p14="http://schemas.microsoft.com/office/powerpoint/2010/main" val="2015298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Today I will present our collective-aware Router microarchitecture in gem5 Garnet. The central idea is to preserve communication structure that conventional packet networks usually discard, using tree multicast, express-link bypass, and event-level tensor all-reduce.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Large-scale GPU training repeatedly alternates local computation with global synchronization. Ranks produce gradient tensors, exchange them through collectives such as broadcast and all-reduce, and wait before the next training step can begin. Once those operations enter a conventional network, their group and tensor structure is often reduced to unrelated packets and destinations. Our question is whether a Router datapath that retains this structure can reduce traffic and latency while preserving exact delivery and completion. We study that question at the Mesh network layer in cycle-level gem5 Garnet.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work exposes structure at three complementary levels. Tree multicast shares common route prefixes instead of injecting one physical packet for every destination. Express-link bypass changes the topology and routing policy so selected packets can skip Router stages when the full modeled path becomes cheaper. Tensor streaming retains an all-reduce event as one multi-flit collective request rather than thousands of scalar-lane rounds. Each mechanism is evaluated against a workload-matched baseline, with traffic, latency, throughput, or replay window chosen according to the mechanism being tested.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For multicast, the baseline Network Interface injects one unicast packet for every remote destination. Our alternative injects a single packet carrying a sixty-four-bit destination bitmap, and each Router replicates only where the pruned XY tree branches. Head, body, and tail flits retain per-branch virtual-channel state so every selected destination receives one complete packet. Allocation is atomic: all required outputs must have a free virtual channel, and a flit advances only when every selected branch has credit. This guarantees exact delivery, but it also couples fast branches to the slowest congested branch.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Across one hundred sixty-two matched performance pairs, tree multicast reduces internal-link flit arrivals by thirty-nine point five one percent on average. The reduction grows monotonically with fanout, reaching fifty-three point one three percent for sixteen destinations. Geometric-mean latency speedup is three point six three eight times, and all paired latency values improve, although this includes the dedicated collective datapath as well as shared-prefix replication. Mean throughput also rises strongly, but ten four-destination cases regress, with a worst change of minus eighteen point two four percent. Those cases expose the cost of atomic branch synchronization under low-fanout congestion.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bypass design adds bidirectional stride-two physical links to the Mesh, with link latency scaled by Manhattan span. Before simulation, an oracle materializes deterministic X-then-Y routes and selects an express edge only when it lowers the cycle cost of the complete remaining path. Unlike the earlier source-only design, the final policy reconsults this table at every Router, allowing several monotonic express hops. For unordered traffic, a conservative runtime guard falls back to ordinary XY when the express or landing output is blocked, materially more congested, or associated with a sustained hotspot. Static paths pass a channel-dependency audit, while runtime safety follows from strict dimension-order progress.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Over one thousand five hundred thirty-six workload-matched pairs, the final distance-scaled multi-hop design achieves a one point four three zero times geometric-mean latency speedup and a twenty-one point eight seven percent mean throughput increase. Its median speedup is one point zero eight two, and only one case regresses by more than five percent; the worst case is zero point nine zero nine under hotspot traffic. The comparison against source-only routing is important: the same stride topology is essentially neutral at zero point nine nine nine times. Physical links alone therefore do not explain the gain. These are added-resource results, because the bypass Mesh has more links, ports, virtual channels, and buffers than plain Mesh XY.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trace case study reconnects these mechanisms to measured eight-H100 collectives. We select fifteen all-reduce events at one, four, and sixteen mebibytes, then scale both bytes and relative release times by one over one thousand twenty-four for tractable Garnet replay. Scalar lowering represents the events as six thousand seven hundred twenty independent one-flit collective rounds. Tensor lowering instead creates one multi-flit packet per event and rank, with a lane identifier on every flit. Both paths use the same lane-wise Router reduction, routes, release schedule, and arithmetic, so the manipulated variable is request representation.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Event-level tensor packetization shortens the replay window from eighty point six three eight million to seventeen point zero five five million ticks, a four point seven two eight times improvement on both evaluated topologies. Crucially, the scalar and tensor representations inject the same fifty-three thousand seven hundred sixty source flits and forward the same one hundred forty-seven thousand eight hundred forty Router flits. All lane identifiers, deterministic sums, and accumulator releases also match. The improvement therefore comes from replacing thousands of independently admitted scalar rounds with fifteen event-level requests, not from reducing counted network work.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common lesson is that the network benefits when collective structure remains explicit. Tree replication shares multicast prefixes, pressure-aware stride routing skips Router stages when doing so is genuinely cheaper, and tensor requests avoid scalar-lane serialization. The boundaries are equally important: atomic multicast can couple branches, bypass gains require added hardware and are not iso-resource, and the H100 trace is scaled rather than a native end-to-end training run. Within those limits, the experiments show consistent value from exposing communication semantics to the Router datapath instead of flattening them at injection.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Thank you for listening. We welcome your questions about the microarchitecture, evaluation methodology, or the observed tradeoffs.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11C919A1-7361-1F44-B599-7E9DB3DD7A32}"/>
              </a:ext>
            </a:extLst>
          </p:cNvPr>
          <p:cNvSpPr/>
          <p:nvPr userDrawn="1"/>
        </p:nvSpPr>
        <p:spPr>
          <a:xfrm>
            <a:off x="378178" y="1750294"/>
            <a:ext cx="11435645" cy="232342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8">
            <a:extLst>
              <a:ext uri="{FF2B5EF4-FFF2-40B4-BE49-F238E27FC236}">
                <a16:creationId xmlns:a16="http://schemas.microsoft.com/office/drawing/2014/main" id="{27E11570-1C13-394D-8C65-136BC3D04ED2}"/>
              </a:ext>
            </a:extLst>
          </p:cNvPr>
          <p:cNvSpPr/>
          <p:nvPr userDrawn="1"/>
        </p:nvSpPr>
        <p:spPr>
          <a:xfrm>
            <a:off x="8382000" y="4155707"/>
            <a:ext cx="3431823"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9">
            <a:extLst>
              <a:ext uri="{FF2B5EF4-FFF2-40B4-BE49-F238E27FC236}">
                <a16:creationId xmlns:a16="http://schemas.microsoft.com/office/drawing/2014/main" id="{5FB5F265-5FC7-B54E-AB48-4D8DA46E458F}"/>
              </a:ext>
            </a:extLst>
          </p:cNvPr>
          <p:cNvSpPr/>
          <p:nvPr userDrawn="1"/>
        </p:nvSpPr>
        <p:spPr>
          <a:xfrm>
            <a:off x="378177" y="4155707"/>
            <a:ext cx="7918756"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2" name="Title 1">
            <a:extLst>
              <a:ext uri="{FF2B5EF4-FFF2-40B4-BE49-F238E27FC236}">
                <a16:creationId xmlns:a16="http://schemas.microsoft.com/office/drawing/2014/main" id="{43FE9298-60C2-9548-BC1E-E8694904B371}"/>
              </a:ext>
            </a:extLst>
          </p:cNvPr>
          <p:cNvSpPr>
            <a:spLocks noGrp="1"/>
          </p:cNvSpPr>
          <p:nvPr>
            <p:ph type="ctrTitle"/>
          </p:nvPr>
        </p:nvSpPr>
        <p:spPr>
          <a:xfrm>
            <a:off x="599226" y="1921565"/>
            <a:ext cx="10993549" cy="1961322"/>
          </a:xfrm>
          <a:prstGeom prst="rect">
            <a:avLst/>
          </a:prstGeom>
          <a:effectLst/>
        </p:spPr>
        <p:txBody>
          <a:bodyPr anchor="ctr">
            <a:normAutofit/>
          </a:bodyPr>
          <a:lstStyle>
            <a:lvl1pPr algn="ctr">
              <a:defRPr lang="en-US" altLang="en-US" sz="3600" b="0" kern="1200" cap="none" baseline="0" dirty="0">
                <a:solidFill>
                  <a:schemeClr val="bg1"/>
                </a:solidFill>
                <a:latin typeface="+mj-lt"/>
                <a:ea typeface="+mj-ea"/>
                <a:cs typeface="+mj-cs"/>
              </a:defRPr>
            </a:lvl1pPr>
          </a:lstStyle>
          <a:p>
            <a:r>
              <a:rPr lang="zh-CN" altLang="en-US" dirty="0"/>
              <a:t>单击此处编辑母版标题样式</a:t>
            </a:r>
            <a:endParaRPr lang="en-US" dirty="0"/>
          </a:p>
        </p:txBody>
      </p:sp>
      <p:sp>
        <p:nvSpPr>
          <p:cNvPr id="13" name="Subtitle 2">
            <a:extLst>
              <a:ext uri="{FF2B5EF4-FFF2-40B4-BE49-F238E27FC236}">
                <a16:creationId xmlns:a16="http://schemas.microsoft.com/office/drawing/2014/main" id="{103A73B5-4CCB-264A-803E-B46FEDFF9626}"/>
              </a:ext>
            </a:extLst>
          </p:cNvPr>
          <p:cNvSpPr>
            <a:spLocks noGrp="1"/>
          </p:cNvSpPr>
          <p:nvPr>
            <p:ph type="subTitle" idx="1"/>
          </p:nvPr>
        </p:nvSpPr>
        <p:spPr>
          <a:xfrm>
            <a:off x="581194" y="4352306"/>
            <a:ext cx="10993546" cy="1340999"/>
          </a:xfrm>
        </p:spPr>
        <p:txBody>
          <a:bodyPr anchor="t">
            <a:normAutofit/>
          </a:bodyPr>
          <a:lstStyle>
            <a:lvl1pPr marL="0" indent="0" algn="ctr">
              <a:buNone/>
              <a:defRPr sz="2000" cap="none" baseline="0">
                <a:solidFill>
                  <a:srgbClr val="660874"/>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14" name="Date Placeholder 3">
            <a:extLst>
              <a:ext uri="{FF2B5EF4-FFF2-40B4-BE49-F238E27FC236}">
                <a16:creationId xmlns:a16="http://schemas.microsoft.com/office/drawing/2014/main" id="{27C9BA39-4396-944E-8847-8AA1FB4D7EF5}"/>
              </a:ext>
            </a:extLst>
          </p:cNvPr>
          <p:cNvSpPr>
            <a:spLocks noGrp="1"/>
          </p:cNvSpPr>
          <p:nvPr>
            <p:ph type="dt" sz="half" idx="10"/>
          </p:nvPr>
        </p:nvSpPr>
        <p:spPr>
          <a:xfrm>
            <a:off x="7605953" y="5956139"/>
            <a:ext cx="2844799" cy="365125"/>
          </a:xfrm>
        </p:spPr>
        <p:txBody>
          <a:bodyPr/>
          <a:lstStyle/>
          <a:p>
            <a:fld id="{E4551058-E5DB-324A-A8E9-6D3BEF243C3B}" type="datetimeFigureOut">
              <a:rPr kumimoji="1" lang="zh-CN" altLang="en-US" smtClean="0"/>
              <a:t>2026/9/7</a:t>
            </a:fld>
            <a:endParaRPr kumimoji="1" lang="zh-CN" altLang="en-US"/>
          </a:p>
        </p:txBody>
      </p:sp>
      <p:sp>
        <p:nvSpPr>
          <p:cNvPr id="15" name="Footer Placeholder 4">
            <a:extLst>
              <a:ext uri="{FF2B5EF4-FFF2-40B4-BE49-F238E27FC236}">
                <a16:creationId xmlns:a16="http://schemas.microsoft.com/office/drawing/2014/main" id="{2046AEFE-93F1-C842-BBEF-EA6F5A8D976C}"/>
              </a:ext>
            </a:extLst>
          </p:cNvPr>
          <p:cNvSpPr>
            <a:spLocks noGrp="1"/>
          </p:cNvSpPr>
          <p:nvPr>
            <p:ph type="ftr" sz="quarter" idx="11"/>
          </p:nvPr>
        </p:nvSpPr>
        <p:spPr>
          <a:xfrm>
            <a:off x="581192" y="5951813"/>
            <a:ext cx="6917211" cy="365125"/>
          </a:xfrm>
        </p:spPr>
        <p:txBody>
          <a:bodyPr/>
          <a:lstStyle/>
          <a:p>
            <a:endParaRPr kumimoji="1" lang="zh-CN" altLang="en-US"/>
          </a:p>
        </p:txBody>
      </p:sp>
      <p:sp>
        <p:nvSpPr>
          <p:cNvPr id="16" name="Slide Number Placeholder 5">
            <a:extLst>
              <a:ext uri="{FF2B5EF4-FFF2-40B4-BE49-F238E27FC236}">
                <a16:creationId xmlns:a16="http://schemas.microsoft.com/office/drawing/2014/main" id="{DC680849-96D9-DD4B-8BEC-6C1105997248}"/>
              </a:ext>
            </a:extLst>
          </p:cNvPr>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pic>
        <p:nvPicPr>
          <p:cNvPr id="3" name="图片 2">
            <a:extLst>
              <a:ext uri="{FF2B5EF4-FFF2-40B4-BE49-F238E27FC236}">
                <a16:creationId xmlns:a16="http://schemas.microsoft.com/office/drawing/2014/main" id="{228E0E76-103F-614C-9971-08354F663532}"/>
              </a:ext>
            </a:extLst>
          </p:cNvPr>
          <p:cNvPicPr>
            <a:picLocks noChangeAspect="1"/>
          </p:cNvPicPr>
          <p:nvPr userDrawn="1"/>
        </p:nvPicPr>
        <p:blipFill>
          <a:blip r:embed="rId2"/>
          <a:stretch>
            <a:fillRect/>
          </a:stretch>
        </p:blipFill>
        <p:spPr>
          <a:xfrm>
            <a:off x="378177" y="293654"/>
            <a:ext cx="2889452" cy="1137659"/>
          </a:xfrm>
          <a:prstGeom prst="rect">
            <a:avLst/>
          </a:prstGeom>
        </p:spPr>
      </p:pic>
    </p:spTree>
    <p:extLst>
      <p:ext uri="{BB962C8B-B14F-4D97-AF65-F5344CB8AC3E}">
        <p14:creationId xmlns:p14="http://schemas.microsoft.com/office/powerpoint/2010/main" val="9349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4" y="2180498"/>
            <a:ext cx="11029615" cy="36783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sp>
        <p:nvSpPr>
          <p:cNvPr id="8" name="标题 7">
            <a:extLst>
              <a:ext uri="{FF2B5EF4-FFF2-40B4-BE49-F238E27FC236}">
                <a16:creationId xmlns:a16="http://schemas.microsoft.com/office/drawing/2014/main" id="{C91EB146-E429-F542-B185-DC14BCA9BC59}"/>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3409904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2" name="Rectangle 6">
            <a:extLst>
              <a:ext uri="{FF2B5EF4-FFF2-40B4-BE49-F238E27FC236}">
                <a16:creationId xmlns:a16="http://schemas.microsoft.com/office/drawing/2014/main" id="{D2AB89F7-7C87-3347-A0CB-FCEE9D36F083}"/>
              </a:ext>
            </a:extLst>
          </p:cNvPr>
          <p:cNvSpPr>
            <a:spLocks noChangeAspect="1"/>
          </p:cNvSpPr>
          <p:nvPr userDrawn="1"/>
        </p:nvSpPr>
        <p:spPr>
          <a:xfrm>
            <a:off x="564440"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Content Placeholder 2">
            <a:extLst>
              <a:ext uri="{FF2B5EF4-FFF2-40B4-BE49-F238E27FC236}">
                <a16:creationId xmlns:a16="http://schemas.microsoft.com/office/drawing/2014/main" id="{26727754-C851-C341-8EC8-C90F9BC75713}"/>
              </a:ext>
            </a:extLst>
          </p:cNvPr>
          <p:cNvSpPr>
            <a:spLocks noGrp="1"/>
          </p:cNvSpPr>
          <p:nvPr>
            <p:ph idx="1"/>
          </p:nvPr>
        </p:nvSpPr>
        <p:spPr>
          <a:xfrm>
            <a:off x="5544289" y="1137355"/>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13" name="Date Placeholder 3">
            <a:extLst>
              <a:ext uri="{FF2B5EF4-FFF2-40B4-BE49-F238E27FC236}">
                <a16:creationId xmlns:a16="http://schemas.microsoft.com/office/drawing/2014/main" id="{83F81271-2815-9B4A-9DE1-54434A60C989}"/>
              </a:ext>
            </a:extLst>
          </p:cNvPr>
          <p:cNvSpPr>
            <a:spLocks noGrp="1"/>
          </p:cNvSpPr>
          <p:nvPr>
            <p:ph type="dt" sz="half" idx="10"/>
          </p:nvPr>
        </p:nvSpPr>
        <p:spPr>
          <a:xfrm>
            <a:off x="7605951" y="5956137"/>
            <a:ext cx="2844799" cy="365125"/>
          </a:xfrm>
        </p:spPr>
        <p:txBody>
          <a:bodyPr/>
          <a:lstStyle/>
          <a:p>
            <a:fld id="{E4551058-E5DB-324A-A8E9-6D3BEF243C3B}" type="datetimeFigureOut">
              <a:rPr kumimoji="1" lang="zh-CN" altLang="en-US" smtClean="0"/>
              <a:t>2026/9/7</a:t>
            </a:fld>
            <a:endParaRPr kumimoji="1" lang="zh-CN" altLang="en-US"/>
          </a:p>
        </p:txBody>
      </p:sp>
      <p:sp>
        <p:nvSpPr>
          <p:cNvPr id="16" name="Footer Placeholder 4">
            <a:extLst>
              <a:ext uri="{FF2B5EF4-FFF2-40B4-BE49-F238E27FC236}">
                <a16:creationId xmlns:a16="http://schemas.microsoft.com/office/drawing/2014/main" id="{A57A6457-265E-454A-8DEA-AC0A1AAC3647}"/>
              </a:ext>
            </a:extLst>
          </p:cNvPr>
          <p:cNvSpPr>
            <a:spLocks noGrp="1"/>
          </p:cNvSpPr>
          <p:nvPr>
            <p:ph type="ftr" sz="quarter" idx="11"/>
          </p:nvPr>
        </p:nvSpPr>
        <p:spPr>
          <a:xfrm>
            <a:off x="581192" y="5951811"/>
            <a:ext cx="6917210" cy="365125"/>
          </a:xfrm>
        </p:spPr>
        <p:txBody>
          <a:bodyPr/>
          <a:lstStyle/>
          <a:p>
            <a:endParaRPr kumimoji="1" lang="zh-CN" altLang="en-US"/>
          </a:p>
        </p:txBody>
      </p:sp>
      <p:sp>
        <p:nvSpPr>
          <p:cNvPr id="17" name="Slide Number Placeholder 5">
            <a:extLst>
              <a:ext uri="{FF2B5EF4-FFF2-40B4-BE49-F238E27FC236}">
                <a16:creationId xmlns:a16="http://schemas.microsoft.com/office/drawing/2014/main" id="{17055F7E-60B7-6A43-A3E4-C6F9DC89FA56}"/>
              </a:ext>
            </a:extLst>
          </p:cNvPr>
          <p:cNvSpPr>
            <a:spLocks noGrp="1"/>
          </p:cNvSpPr>
          <p:nvPr>
            <p:ph type="sldNum" sz="quarter" idx="12"/>
          </p:nvPr>
        </p:nvSpPr>
        <p:spPr>
          <a:xfrm>
            <a:off x="10558300" y="5956137"/>
            <a:ext cx="1052508" cy="365125"/>
          </a:xfrm>
        </p:spPr>
        <p:txBody>
          <a:bodyPr/>
          <a:lstStyle/>
          <a:p>
            <a:fld id="{977BA8E6-E826-B147-AA17-E3D76A29629C}" type="slidenum">
              <a:rPr kumimoji="1" lang="zh-CN" altLang="en-US" smtClean="0"/>
              <a:t>‹#›</a:t>
            </a:fld>
            <a:endParaRPr kumimoji="1" lang="zh-CN" altLang="en-US"/>
          </a:p>
        </p:txBody>
      </p:sp>
      <p:sp>
        <p:nvSpPr>
          <p:cNvPr id="18" name="Title 1">
            <a:extLst>
              <a:ext uri="{FF2B5EF4-FFF2-40B4-BE49-F238E27FC236}">
                <a16:creationId xmlns:a16="http://schemas.microsoft.com/office/drawing/2014/main" id="{4D989D6D-F1B5-F54E-813A-CCB6A463D717}"/>
              </a:ext>
            </a:extLst>
          </p:cNvPr>
          <p:cNvSpPr>
            <a:spLocks noGrp="1"/>
          </p:cNvSpPr>
          <p:nvPr>
            <p:ph type="title"/>
          </p:nvPr>
        </p:nvSpPr>
        <p:spPr>
          <a:xfrm>
            <a:off x="733774" y="1964074"/>
            <a:ext cx="2568408" cy="2929850"/>
          </a:xfrm>
          <a:prstGeom prst="rect">
            <a:avLst/>
          </a:prstGeom>
        </p:spPr>
        <p:txBody>
          <a:bodyPr anchor="ctr">
            <a:normAutofit/>
          </a:bodyPr>
          <a:lstStyle>
            <a:lvl1pPr algn="ctr">
              <a:defRPr sz="3600"/>
            </a:lvl1pPr>
          </a:lstStyle>
          <a:p>
            <a:r>
              <a:rPr lang="zh-CN" altLang="en-US" dirty="0"/>
              <a:t>单击此处编辑母版标题样式</a:t>
            </a:r>
            <a:endParaRPr lang="en-US" dirty="0"/>
          </a:p>
        </p:txBody>
      </p:sp>
      <p:sp>
        <p:nvSpPr>
          <p:cNvPr id="20" name="Rectangle 9">
            <a:extLst>
              <a:ext uri="{FF2B5EF4-FFF2-40B4-BE49-F238E27FC236}">
                <a16:creationId xmlns:a16="http://schemas.microsoft.com/office/drawing/2014/main" id="{F5609871-59AA-714A-B688-568A52C6B22B}"/>
              </a:ext>
            </a:extLst>
          </p:cNvPr>
          <p:cNvSpPr/>
          <p:nvPr userDrawn="1"/>
        </p:nvSpPr>
        <p:spPr>
          <a:xfrm rot="5400000">
            <a:off x="2678806" y="5475222"/>
            <a:ext cx="1800000"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8">
            <a:extLst>
              <a:ext uri="{FF2B5EF4-FFF2-40B4-BE49-F238E27FC236}">
                <a16:creationId xmlns:a16="http://schemas.microsoft.com/office/drawing/2014/main" id="{23D49990-DD79-AF4A-809C-C7A68D94B066}"/>
              </a:ext>
            </a:extLst>
          </p:cNvPr>
          <p:cNvSpPr/>
          <p:nvPr userDrawn="1"/>
        </p:nvSpPr>
        <p:spPr>
          <a:xfrm rot="5400000">
            <a:off x="1601532" y="2540998"/>
            <a:ext cx="3954547" cy="719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9" name="图片 18">
            <a:extLst>
              <a:ext uri="{FF2B5EF4-FFF2-40B4-BE49-F238E27FC236}">
                <a16:creationId xmlns:a16="http://schemas.microsoft.com/office/drawing/2014/main" id="{A55AB928-FD5F-284E-A537-D442BF41502C}"/>
              </a:ext>
            </a:extLst>
          </p:cNvPr>
          <p:cNvPicPr>
            <a:picLocks noChangeAspect="1"/>
          </p:cNvPicPr>
          <p:nvPr userDrawn="1"/>
        </p:nvPicPr>
        <p:blipFill>
          <a:blip r:embed="rId2"/>
          <a:stretch>
            <a:fillRect/>
          </a:stretch>
        </p:blipFill>
        <p:spPr>
          <a:xfrm>
            <a:off x="643332" y="678616"/>
            <a:ext cx="1015763" cy="1019553"/>
          </a:xfrm>
          <a:prstGeom prst="rect">
            <a:avLst/>
          </a:prstGeom>
        </p:spPr>
      </p:pic>
    </p:spTree>
    <p:extLst>
      <p:ext uri="{BB962C8B-B14F-4D97-AF65-F5344CB8AC3E}">
        <p14:creationId xmlns:p14="http://schemas.microsoft.com/office/powerpoint/2010/main" val="2996159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7DE89DA6-356D-194E-8935-6C10024491A7}"/>
              </a:ext>
            </a:extLst>
          </p:cNvPr>
          <p:cNvSpPr>
            <a:spLocks noChangeAspect="1"/>
          </p:cNvSpPr>
          <p:nvPr userDrawn="1"/>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9" name="图片 8">
            <a:extLst>
              <a:ext uri="{FF2B5EF4-FFF2-40B4-BE49-F238E27FC236}">
                <a16:creationId xmlns:a16="http://schemas.microsoft.com/office/drawing/2014/main" id="{2877B1D8-453C-0B4B-B0BA-8AC0FA47C99A}"/>
              </a:ext>
            </a:extLst>
          </p:cNvPr>
          <p:cNvPicPr>
            <a:picLocks noChangeAspect="1"/>
          </p:cNvPicPr>
          <p:nvPr userDrawn="1"/>
        </p:nvPicPr>
        <p:blipFill>
          <a:blip r:embed="rId2"/>
          <a:stretch>
            <a:fillRect/>
          </a:stretch>
        </p:blipFill>
        <p:spPr>
          <a:xfrm>
            <a:off x="10632535" y="5261609"/>
            <a:ext cx="1015763" cy="1019553"/>
          </a:xfrm>
          <a:prstGeom prst="rect">
            <a:avLst/>
          </a:prstGeom>
        </p:spPr>
      </p:pic>
      <p:sp>
        <p:nvSpPr>
          <p:cNvPr id="17" name="Title 1">
            <a:extLst>
              <a:ext uri="{FF2B5EF4-FFF2-40B4-BE49-F238E27FC236}">
                <a16:creationId xmlns:a16="http://schemas.microsoft.com/office/drawing/2014/main" id="{54DB8D1A-12A8-B34E-ABB0-AFDEDA44F187}"/>
              </a:ext>
            </a:extLst>
          </p:cNvPr>
          <p:cNvSpPr>
            <a:spLocks noGrp="1"/>
          </p:cNvSpPr>
          <p:nvPr>
            <p:ph type="title"/>
          </p:nvPr>
        </p:nvSpPr>
        <p:spPr>
          <a:xfrm>
            <a:off x="581193" y="3043910"/>
            <a:ext cx="11029615" cy="1497507"/>
          </a:xfrm>
          <a:prstGeom prst="rect">
            <a:avLst/>
          </a:prstGeom>
        </p:spPr>
        <p:txBody>
          <a:bodyPr anchor="b">
            <a:normAutofit/>
          </a:bodyPr>
          <a:lstStyle>
            <a:lvl1pPr algn="l">
              <a:defRPr sz="3600" b="0" cap="none" baseline="0">
                <a:solidFill>
                  <a:schemeClr val="accent1"/>
                </a:solidFill>
              </a:defRPr>
            </a:lvl1pPr>
          </a:lstStyle>
          <a:p>
            <a:r>
              <a:rPr lang="zh-CN" altLang="en-US" dirty="0"/>
              <a:t>单击此处编辑母版标题样式</a:t>
            </a:r>
            <a:endParaRPr lang="en-US" dirty="0"/>
          </a:p>
        </p:txBody>
      </p:sp>
      <p:sp>
        <p:nvSpPr>
          <p:cNvPr id="18" name="Text Placeholder 2">
            <a:extLst>
              <a:ext uri="{FF2B5EF4-FFF2-40B4-BE49-F238E27FC236}">
                <a16:creationId xmlns:a16="http://schemas.microsoft.com/office/drawing/2014/main" id="{D8C8D98C-AAE6-6D4F-8FDD-A93E2E1124F2}"/>
              </a:ext>
            </a:extLst>
          </p:cNvPr>
          <p:cNvSpPr>
            <a:spLocks noGrp="1"/>
          </p:cNvSpPr>
          <p:nvPr>
            <p:ph type="body" idx="1"/>
          </p:nvPr>
        </p:nvSpPr>
        <p:spPr>
          <a:xfrm>
            <a:off x="581192" y="4541417"/>
            <a:ext cx="11029615" cy="600556"/>
          </a:xfrm>
        </p:spPr>
        <p:txBody>
          <a:bodyPr anchor="t">
            <a:normAutofit/>
          </a:bodyPr>
          <a:lstStyle>
            <a:lvl1pPr marL="0" indent="0" algn="l">
              <a:buNone/>
              <a:defRPr sz="1800" cap="none" baseline="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19" name="Date Placeholder 3">
            <a:extLst>
              <a:ext uri="{FF2B5EF4-FFF2-40B4-BE49-F238E27FC236}">
                <a16:creationId xmlns:a16="http://schemas.microsoft.com/office/drawing/2014/main" id="{63894592-A78C-994C-A7F8-16460B6D0042}"/>
              </a:ext>
            </a:extLst>
          </p:cNvPr>
          <p:cNvSpPr>
            <a:spLocks noGrp="1"/>
          </p:cNvSpPr>
          <p:nvPr>
            <p:ph type="dt" sz="half" idx="10"/>
          </p:nvPr>
        </p:nvSpPr>
        <p:spPr>
          <a:xfrm>
            <a:off x="7605951" y="5956137"/>
            <a:ext cx="2844799"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2026/9/7</a:t>
            </a:fld>
            <a:endParaRPr kumimoji="1" lang="zh-CN" altLang="en-US"/>
          </a:p>
        </p:txBody>
      </p:sp>
      <p:sp>
        <p:nvSpPr>
          <p:cNvPr id="20" name="Footer Placeholder 4">
            <a:extLst>
              <a:ext uri="{FF2B5EF4-FFF2-40B4-BE49-F238E27FC236}">
                <a16:creationId xmlns:a16="http://schemas.microsoft.com/office/drawing/2014/main" id="{620A79B4-2346-8146-8C5E-F662BBFFD574}"/>
              </a:ext>
            </a:extLst>
          </p:cNvPr>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kumimoji="1" lang="zh-CN" altLang="en-US"/>
          </a:p>
        </p:txBody>
      </p:sp>
      <p:sp>
        <p:nvSpPr>
          <p:cNvPr id="21" name="Slide Number Placeholder 5">
            <a:extLst>
              <a:ext uri="{FF2B5EF4-FFF2-40B4-BE49-F238E27FC236}">
                <a16:creationId xmlns:a16="http://schemas.microsoft.com/office/drawing/2014/main" id="{C7187CC3-F105-CE4C-957B-55AE9DA69507}"/>
              </a:ext>
            </a:extLst>
          </p:cNvPr>
          <p:cNvSpPr>
            <a:spLocks noGrp="1"/>
          </p:cNvSpPr>
          <p:nvPr>
            <p:ph type="sldNum" sz="quarter" idx="12"/>
          </p:nvPr>
        </p:nvSpPr>
        <p:spPr>
          <a:xfrm>
            <a:off x="10558300" y="5956137"/>
            <a:ext cx="105251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2282667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590C7D26-A2BB-CE43-BB2A-2808F22C4FD2}"/>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4014618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dirty="0"/>
              <a:t>单击此处编辑母版文本样式</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dirty="0"/>
              <a:t>单击此处编辑母版文本样式</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395155F9-0BCA-F049-9D40-4CF28F90A407}"/>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3206004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DC31502A-7294-9848-AFF1-6116ACE1419B}"/>
              </a:ext>
            </a:extLst>
          </p:cNvPr>
          <p:cNvSpPr>
            <a:spLocks noGrp="1"/>
          </p:cNvSpPr>
          <p:nvPr>
            <p:ph type="title"/>
          </p:nvPr>
        </p:nvSpPr>
        <p:spPr/>
        <p:txBody>
          <a:bodyPr/>
          <a:lstStyle/>
          <a:p>
            <a:r>
              <a:rPr kumimoji="1" lang="zh-CN" altLang="en-US" dirty="0"/>
              <a:t>单击此处编辑母版标题样式</a:t>
            </a:r>
          </a:p>
        </p:txBody>
      </p:sp>
    </p:spTree>
    <p:extLst>
      <p:ext uri="{BB962C8B-B14F-4D97-AF65-F5344CB8AC3E}">
        <p14:creationId xmlns:p14="http://schemas.microsoft.com/office/powerpoint/2010/main" val="285752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8" name="Rectangle 8">
            <a:extLst>
              <a:ext uri="{FF2B5EF4-FFF2-40B4-BE49-F238E27FC236}">
                <a16:creationId xmlns:a16="http://schemas.microsoft.com/office/drawing/2014/main" id="{E5F10BF9-D5CD-1D48-BAAA-1C82ACBE3EEC}"/>
              </a:ext>
            </a:extLst>
          </p:cNvPr>
          <p:cNvSpPr/>
          <p:nvPr userDrawn="1"/>
        </p:nvSpPr>
        <p:spPr>
          <a:xfrm>
            <a:off x="8144933" y="436481"/>
            <a:ext cx="3657601"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591DCB4B-F7F0-EB42-A850-558FBD4EBF7E}"/>
              </a:ext>
            </a:extLst>
          </p:cNvPr>
          <p:cNvSpPr/>
          <p:nvPr userDrawn="1"/>
        </p:nvSpPr>
        <p:spPr>
          <a:xfrm>
            <a:off x="389467" y="4364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8948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DD0108F8-765A-DF43-9CAF-934132882EE3}"/>
              </a:ext>
            </a:extLst>
          </p:cNvPr>
          <p:cNvSpPr>
            <a:spLocks noChangeAspect="1"/>
          </p:cNvSpPr>
          <p:nvPr userDrawn="1"/>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2" name="图片 11">
            <a:extLst>
              <a:ext uri="{FF2B5EF4-FFF2-40B4-BE49-F238E27FC236}">
                <a16:creationId xmlns:a16="http://schemas.microsoft.com/office/drawing/2014/main" id="{CDDAB4A3-B3EF-6A4A-A3CA-230AFEAD99E0}"/>
              </a:ext>
            </a:extLst>
          </p:cNvPr>
          <p:cNvPicPr>
            <a:picLocks noChangeAspect="1"/>
          </p:cNvPicPr>
          <p:nvPr userDrawn="1"/>
        </p:nvPicPr>
        <p:blipFill>
          <a:blip r:embed="rId2"/>
          <a:stretch>
            <a:fillRect/>
          </a:stretch>
        </p:blipFill>
        <p:spPr>
          <a:xfrm>
            <a:off x="10632535" y="5261609"/>
            <a:ext cx="1015763" cy="1019553"/>
          </a:xfrm>
          <a:prstGeom prst="rect">
            <a:avLst/>
          </a:prstGeom>
        </p:spPr>
      </p:pic>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a:solidFill>
                  <a:schemeClr val="bg1"/>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740824" y="5262298"/>
            <a:ext cx="4708931" cy="689515"/>
          </a:xfrm>
        </p:spPr>
        <p:txBody>
          <a:bodyPr anchor="ctr">
            <a:normAutofit/>
          </a:bodyPr>
          <a:lstStyle>
            <a:lvl1pPr marL="0" indent="0" algn="r">
              <a:buNone/>
              <a:defRPr sz="1600">
                <a:solidFill>
                  <a:schemeClr val="bg1"/>
                </a:solidFill>
              </a:defRPr>
            </a:lvl1pPr>
            <a:lvl2pPr marL="457189" indent="0">
              <a:buNone/>
              <a:defRPr sz="11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2026/9/7</a:t>
            </a:fld>
            <a:endParaRPr kumimoji="1" lang="zh-CN" alt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kumimoji="1" lang="zh-CN" alt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70207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a:solidFill>
                  <a:schemeClr val="accent1"/>
                </a:solidFill>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9" name="Rectangle 8">
            <a:extLst>
              <a:ext uri="{FF2B5EF4-FFF2-40B4-BE49-F238E27FC236}">
                <a16:creationId xmlns:a16="http://schemas.microsoft.com/office/drawing/2014/main" id="{01F9AFCA-0D8E-7C4B-9EE4-15258FA226B6}"/>
              </a:ext>
            </a:extLst>
          </p:cNvPr>
          <p:cNvSpPr/>
          <p:nvPr userDrawn="1"/>
        </p:nvSpPr>
        <p:spPr>
          <a:xfrm>
            <a:off x="8144933" y="436481"/>
            <a:ext cx="3657601"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9C93E312-E758-E548-90FC-22E1E7EC6CCE}"/>
              </a:ext>
            </a:extLst>
          </p:cNvPr>
          <p:cNvSpPr/>
          <p:nvPr userDrawn="1"/>
        </p:nvSpPr>
        <p:spPr>
          <a:xfrm>
            <a:off x="389467" y="4364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79797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2026/9/7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FD92ADC6-CE60-BE46-B46D-E72C08A66F9E}"/>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4227691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竖排标题与文本">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5BC0A53C-150C-A541-93A8-A5B4C7EFDD96}"/>
              </a:ext>
            </a:extLst>
          </p:cNvPr>
          <p:cNvSpPr>
            <a:spLocks noChangeAspect="1"/>
          </p:cNvSpPr>
          <p:nvPr userDrawn="1"/>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Vertical Text Placeholder 2">
            <a:extLst>
              <a:ext uri="{FF2B5EF4-FFF2-40B4-BE49-F238E27FC236}">
                <a16:creationId xmlns:a16="http://schemas.microsoft.com/office/drawing/2014/main" id="{5F0B6C42-B8E7-1C45-A053-18F7FE5B2B9E}"/>
              </a:ext>
            </a:extLst>
          </p:cNvPr>
          <p:cNvSpPr>
            <a:spLocks noGrp="1"/>
          </p:cNvSpPr>
          <p:nvPr>
            <p:ph type="body" orient="vert" idx="1"/>
          </p:nvPr>
        </p:nvSpPr>
        <p:spPr>
          <a:xfrm>
            <a:off x="774923" y="675726"/>
            <a:ext cx="7896279" cy="5183073"/>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a:extLst>
              <a:ext uri="{FF2B5EF4-FFF2-40B4-BE49-F238E27FC236}">
                <a16:creationId xmlns:a16="http://schemas.microsoft.com/office/drawing/2014/main" id="{9D8F7654-F738-DB4A-BDC9-C147359A8918}"/>
              </a:ext>
            </a:extLst>
          </p:cNvPr>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2026/9/7</a:t>
            </a:fld>
            <a:endParaRPr kumimoji="1" lang="zh-CN" altLang="en-US"/>
          </a:p>
        </p:txBody>
      </p:sp>
      <p:sp>
        <p:nvSpPr>
          <p:cNvPr id="14" name="Footer Placeholder 4">
            <a:extLst>
              <a:ext uri="{FF2B5EF4-FFF2-40B4-BE49-F238E27FC236}">
                <a16:creationId xmlns:a16="http://schemas.microsoft.com/office/drawing/2014/main" id="{A49875D8-CF05-584E-A606-B0C7A6C66F30}"/>
              </a:ext>
            </a:extLst>
          </p:cNvPr>
          <p:cNvSpPr>
            <a:spLocks noGrp="1"/>
          </p:cNvSpPr>
          <p:nvPr>
            <p:ph type="ftr" sz="quarter" idx="11"/>
          </p:nvPr>
        </p:nvSpPr>
        <p:spPr>
          <a:xfrm>
            <a:off x="774923" y="5951811"/>
            <a:ext cx="7896279" cy="365125"/>
          </a:xfrm>
        </p:spPr>
        <p:txBody>
          <a:bodyPr/>
          <a:lstStyle/>
          <a:p>
            <a:endParaRPr kumimoji="1" lang="zh-CN" altLang="en-US"/>
          </a:p>
        </p:txBody>
      </p:sp>
      <p:sp>
        <p:nvSpPr>
          <p:cNvPr id="15" name="Slide Number Placeholder 5">
            <a:extLst>
              <a:ext uri="{FF2B5EF4-FFF2-40B4-BE49-F238E27FC236}">
                <a16:creationId xmlns:a16="http://schemas.microsoft.com/office/drawing/2014/main" id="{4FDE4144-AE9C-764C-8F13-6FBD3DFFAD56}"/>
              </a:ext>
            </a:extLst>
          </p:cNvPr>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a:p>
        </p:txBody>
      </p:sp>
      <p:pic>
        <p:nvPicPr>
          <p:cNvPr id="9" name="图片 8">
            <a:extLst>
              <a:ext uri="{FF2B5EF4-FFF2-40B4-BE49-F238E27FC236}">
                <a16:creationId xmlns:a16="http://schemas.microsoft.com/office/drawing/2014/main" id="{B1084C39-6DF4-7241-B04A-86A43726B0F4}"/>
              </a:ext>
            </a:extLst>
          </p:cNvPr>
          <p:cNvPicPr>
            <a:picLocks noChangeAspect="1"/>
          </p:cNvPicPr>
          <p:nvPr userDrawn="1"/>
        </p:nvPicPr>
        <p:blipFill>
          <a:blip r:embed="rId2"/>
          <a:stretch>
            <a:fillRect/>
          </a:stretch>
        </p:blipFill>
        <p:spPr>
          <a:xfrm>
            <a:off x="10642879" y="687101"/>
            <a:ext cx="1015763" cy="1019553"/>
          </a:xfrm>
          <a:prstGeom prst="rect">
            <a:avLst/>
          </a:prstGeom>
        </p:spPr>
      </p:pic>
      <p:sp>
        <p:nvSpPr>
          <p:cNvPr id="11" name="Vertical Title 1">
            <a:extLst>
              <a:ext uri="{FF2B5EF4-FFF2-40B4-BE49-F238E27FC236}">
                <a16:creationId xmlns:a16="http://schemas.microsoft.com/office/drawing/2014/main" id="{9D3F700B-2D07-A448-9622-360F28D96C56}"/>
              </a:ext>
            </a:extLst>
          </p:cNvPr>
          <p:cNvSpPr>
            <a:spLocks noGrp="1"/>
          </p:cNvSpPr>
          <p:nvPr>
            <p:ph type="title" orient="vert"/>
          </p:nvPr>
        </p:nvSpPr>
        <p:spPr>
          <a:xfrm>
            <a:off x="8993673" y="675726"/>
            <a:ext cx="1849692" cy="5183073"/>
          </a:xfrm>
          <a:prstGeom prst="rect">
            <a:avLst/>
          </a:prstGeom>
        </p:spPr>
        <p:txBody>
          <a:bodyPr vert="eaVert" anchor="b"/>
          <a:lstStyle/>
          <a:p>
            <a:r>
              <a:rPr lang="zh-CN" altLang="en-US" dirty="0"/>
              <a:t>单击此处编辑母版标题样式</a:t>
            </a:r>
            <a:endParaRPr lang="en-US" dirty="0"/>
          </a:p>
        </p:txBody>
      </p:sp>
    </p:spTree>
    <p:extLst>
      <p:ext uri="{BB962C8B-B14F-4D97-AF65-F5344CB8AC3E}">
        <p14:creationId xmlns:p14="http://schemas.microsoft.com/office/powerpoint/2010/main" val="2794944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1DFE2"/>
            </a:gs>
            <a:gs pos="50000">
              <a:schemeClr val="bg1">
                <a:lumMod val="95000"/>
              </a:schemeClr>
            </a:gs>
            <a:gs pos="100000">
              <a:srgbClr val="E1DFE2"/>
            </a:gs>
          </a:gsLst>
          <a:lin ang="0" scaled="1"/>
          <a:tileRect/>
        </a:grad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D465EDF8-BCFD-134D-9B0D-9430B7390985}"/>
              </a:ext>
            </a:extLst>
          </p:cNvPr>
          <p:cNvSpPr>
            <a:spLocks noChangeAspect="1"/>
          </p:cNvSpPr>
          <p:nvPr userDrawn="1"/>
        </p:nvSpPr>
        <p:spPr>
          <a:xfrm>
            <a:off x="389467" y="347880"/>
            <a:ext cx="11413067"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8">
            <a:extLst>
              <a:ext uri="{FF2B5EF4-FFF2-40B4-BE49-F238E27FC236}">
                <a16:creationId xmlns:a16="http://schemas.microsoft.com/office/drawing/2014/main" id="{EB4E09BB-6BE0-EA44-AA53-9AE037BE7450}"/>
              </a:ext>
            </a:extLst>
          </p:cNvPr>
          <p:cNvSpPr/>
          <p:nvPr userDrawn="1"/>
        </p:nvSpPr>
        <p:spPr>
          <a:xfrm>
            <a:off x="8144933" y="1592181"/>
            <a:ext cx="3657601"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9">
            <a:extLst>
              <a:ext uri="{FF2B5EF4-FFF2-40B4-BE49-F238E27FC236}">
                <a16:creationId xmlns:a16="http://schemas.microsoft.com/office/drawing/2014/main" id="{4F762D50-DB36-754B-B4EC-1EBF590E4A4F}"/>
              </a:ext>
            </a:extLst>
          </p:cNvPr>
          <p:cNvSpPr/>
          <p:nvPr userDrawn="1"/>
        </p:nvSpPr>
        <p:spPr>
          <a:xfrm>
            <a:off x="389467" y="15921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2026/9/7</a:t>
            </a:fld>
            <a:endParaRPr kumimoji="1" lang="zh-CN" altLang="en-US"/>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pic>
        <p:nvPicPr>
          <p:cNvPr id="8" name="图片 7">
            <a:extLst>
              <a:ext uri="{FF2B5EF4-FFF2-40B4-BE49-F238E27FC236}">
                <a16:creationId xmlns:a16="http://schemas.microsoft.com/office/drawing/2014/main" id="{500B6F71-D332-634E-81E3-CCEA8339BAE7}"/>
              </a:ext>
            </a:extLst>
          </p:cNvPr>
          <p:cNvPicPr>
            <a:picLocks noChangeAspect="1"/>
          </p:cNvPicPr>
          <p:nvPr userDrawn="1"/>
        </p:nvPicPr>
        <p:blipFill>
          <a:blip r:embed="rId14"/>
          <a:stretch>
            <a:fillRect/>
          </a:stretch>
        </p:blipFill>
        <p:spPr>
          <a:xfrm>
            <a:off x="10700573" y="432751"/>
            <a:ext cx="1015763" cy="1019553"/>
          </a:xfrm>
          <a:prstGeom prst="rect">
            <a:avLst/>
          </a:prstGeom>
        </p:spPr>
      </p:pic>
      <p:sp>
        <p:nvSpPr>
          <p:cNvPr id="7" name="标题占位符 6">
            <a:extLst>
              <a:ext uri="{FF2B5EF4-FFF2-40B4-BE49-F238E27FC236}">
                <a16:creationId xmlns:a16="http://schemas.microsoft.com/office/drawing/2014/main" id="{386CB2C2-B0CA-6B4C-9D67-BC3A516A2E6A}"/>
              </a:ext>
            </a:extLst>
          </p:cNvPr>
          <p:cNvSpPr>
            <a:spLocks noGrp="1"/>
          </p:cNvSpPr>
          <p:nvPr>
            <p:ph type="title"/>
          </p:nvPr>
        </p:nvSpPr>
        <p:spPr>
          <a:xfrm>
            <a:off x="581192" y="434928"/>
            <a:ext cx="10119381" cy="1015200"/>
          </a:xfrm>
          <a:prstGeom prst="rect">
            <a:avLst/>
          </a:prstGeom>
        </p:spPr>
        <p:txBody>
          <a:bodyPr vert="horz" lIns="91440" tIns="45720" rIns="91440" bIns="45720" rtlCol="0" anchor="ctr">
            <a:normAutofit/>
          </a:bodyPr>
          <a:lstStyle/>
          <a:p>
            <a:r>
              <a:rPr kumimoji="1" lang="zh-CN" altLang="en-US" dirty="0"/>
              <a:t>单击此处编辑母版标题样式</a:t>
            </a:r>
          </a:p>
        </p:txBody>
      </p:sp>
    </p:spTree>
    <p:extLst>
      <p:ext uri="{BB962C8B-B14F-4D97-AF65-F5344CB8AC3E}">
        <p14:creationId xmlns:p14="http://schemas.microsoft.com/office/powerpoint/2010/main" val="144104772"/>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4" r:id="rId3"/>
    <p:sldLayoutId id="2147483865" r:id="rId4"/>
    <p:sldLayoutId id="2147483866" r:id="rId5"/>
    <p:sldLayoutId id="2147483868" r:id="rId6"/>
    <p:sldLayoutId id="2147483870" r:id="rId7"/>
    <p:sldLayoutId id="2147483871" r:id="rId8"/>
    <p:sldLayoutId id="2147483872" r:id="rId9"/>
    <p:sldLayoutId id="2147483873" r:id="rId10"/>
    <p:sldLayoutId id="2147483874" r:id="rId11"/>
    <p:sldLayoutId id="2147483875" r:id="rId12"/>
  </p:sldLayoutIdLst>
  <p:txStyles>
    <p:titleStyle>
      <a:lvl1pPr algn="l" defTabSz="457189" rtl="0" eaLnBrk="1" latinLnBrk="0" hangingPunct="1">
        <a:spcBef>
          <a:spcPct val="0"/>
        </a:spcBef>
        <a:buNone/>
        <a:defRPr sz="2800" b="0" kern="1200" cap="none"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5992"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  <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3" Type="http://schemas.openxmlformats.org/officeDocument/2006/relationships/image" Target="../media/image6.png" /><Relationship Id="rId1" Type="http://schemas.openxmlformats.org/officeDocument/2006/relationships/slideLayout" Target="../slideLayouts/slideLayout2.xml" /><Relationship Id="rId4" Type="http://schemas.openxmlformats.org/officeDocument/2006/relationships/image" Target="../media/image_4c473d5a7b09f9a5.png" />  <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3" Type="http://schemas.openxmlformats.org/officeDocument/2006/relationships/image" Target="../media/image3.png" /><Relationship Id="rId1" Type="http://schemas.openxmlformats.org/officeDocument/2006/relationships/slideLayout" Target="../slideLayouts/slideLayout2.xml" /><Relationship Id="rId5" Type="http://schemas.openxmlformats.org/officeDocument/2006/relationships/image" Target="../media/image5.gif" /><Relationship Id="rId4" Type="http://schemas.openxmlformats.org/officeDocument/2006/relationships/image" Target="../media/image4.png" /><Relationship Id="rId6" Type="http://schemas.openxmlformats.org/officeDocument/2006/relationships/image" Target="../media/image_cf10aea83eb6efc0.png" /><Relationship Id="rId7" Type="http://schemas.openxmlformats.org/officeDocument/2006/relationships/image" Target="../media/image_9546826d0f99465f.png" /><Relationship Id="rId8" Type="http://schemas.openxmlformats.org/officeDocument/2006/relationships/image" Target="../media/image_e0f85da444a31d2c.png" />  <Relationship Id="rId9" Type="http://schemas.openxmlformats.org/officeDocument/2006/relationships/notesSlide" Target="../notesSlides/notesSlide3.xml"/>
</Relationships>
</file>

<file path=ppt/slides/_rels/slide4.xml.rels><?xml version='1.0' encoding='utf-8'?>
<Relationships xmlns="http://schemas.openxmlformats.org/package/2006/relationships"><Relationship Id="rId3" Type="http://schemas.openxmlformats.org/officeDocument/2006/relationships/image" Target="../media/image8.gif" /><Relationship Id="rId1" Type="http://schemas.openxmlformats.org/officeDocument/2006/relationships/slideLayout" Target="../slideLayouts/slideLayout2.xml" /><Relationship Id="rId4" Type="http://schemas.openxmlformats.org/officeDocument/2006/relationships/image" Target="../media/image_cf10aea83eb6efc0.png" />  <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 Id="rId3" Type="http://schemas.openxmlformats.org/officeDocument/2006/relationships/image" Target="../media/image_34ab7b92a609f5a5.png" />  <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3" Type="http://schemas.openxmlformats.org/officeDocument/2006/relationships/image" Target="../media/image9.gif" /><Relationship Id="rId1" Type="http://schemas.openxmlformats.org/officeDocument/2006/relationships/slideLayout" Target="../slideLayouts/slideLayout2.xml" /><Relationship Id="rId4" Type="http://schemas.openxmlformats.org/officeDocument/2006/relationships/image" Target="../media/image10.png" /><Relationship Id="rId5" Type="http://schemas.openxmlformats.org/officeDocument/2006/relationships/image" Target="../media/image_9546826d0f99465f.png" /><Relationship Id="rId6" Type="http://schemas.openxmlformats.org/officeDocument/2006/relationships/image" Target="../media/image_fa56ba0941ccdf6c.png" />  <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3" Type="http://schemas.openxmlformats.org/officeDocument/2006/relationships/image" Target="../media/image14.png" /><Relationship Id="rId1" Type="http://schemas.openxmlformats.org/officeDocument/2006/relationships/slideLayout" Target="../slideLayouts/slideLayout2.xml" /><Relationship Id="rId4" Type="http://schemas.openxmlformats.org/officeDocument/2006/relationships/image" Target="../media/image_955b8ecb9e458ecd.png" />  <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3" Type="http://schemas.openxmlformats.org/officeDocument/2006/relationships/image" Target="../media/image11.gif" /><Relationship Id="rId1" Type="http://schemas.openxmlformats.org/officeDocument/2006/relationships/slideLayout" Target="../slideLayouts/slideLayout2.xml" /><Relationship Id="rId4" Type="http://schemas.openxmlformats.org/officeDocument/2006/relationships/image" Target="../media/image_e0f85da444a31d2c.png" />  <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3" Type="http://schemas.openxmlformats.org/officeDocument/2006/relationships/image" Target="../media/image15.png" /><Relationship Id="rId1" Type="http://schemas.openxmlformats.org/officeDocument/2006/relationships/slideLayout" Target="../slideLayouts/slideLayout2.xml" /><Relationship Id="rId4" Type="http://schemas.openxmlformats.org/officeDocument/2006/relationships/image" Target="../media/image_37140cc4fedaa734.png" />  <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  <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  <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标题 1"/>
          <p:cNvSpPr/>
          <p:nvPr/>
        </p:nvSpPr>
        <p:spPr>
          <a:xfrm>
            <a:off x="599218" y="1921574"/>
            <a:ext cx="10993564" cy="1961293"/>
          </a:xfrm>
          <a:prstGeom prst="rect">
            <a:avLst/>
          </a:prstGeom>
          <a:noFill/>
          <a:ln>
            <a:noFill/>
          </a:ln>
        </p:spPr>
        <p:txBody>
          <a:bodyPr wrap="none" lIns="0" tIns="157734" rIns="0" bIns="0" anchor="t" anchorCtr="0">
            <a:noAutofit/>
          </a:bodyPr>
          <a:lstStyle/>
          <a:p>
            <a:pPr algn="ctr">
              <a:lnSpc>
                <a:spcPts val="4320"/>
              </a:lnSpc>
            </a:pPr>
            <a:r>
              <a:rPr lang="en-US" sz="3600" dirty="0">
                <a:solidFill>
                  <a:srgbClr val="FFFFFF"/>
                </a:solidFill>
                <a:latin typeface="Gill Sans MT"/>
                <a:ea typeface="Gill Sans MT"/>
                <a:cs typeface="Gill Sans MT"/>
              </a:rPr>
              <a:t>Collective-Aware Router Microarchitecture</a:t>
            </a:r>
            <a:br/>
            <a:r>
              <a:rPr lang="en-US" sz="3600" dirty="0">
                <a:solidFill>
                  <a:srgbClr val="FFFFFF"/>
                </a:solidFill>
                <a:latin typeface="Gill Sans MT"/>
                <a:ea typeface="Gill Sans MT"/>
                <a:cs typeface="Gill Sans MT"/>
              </a:rPr>
              <a:t>in gem5 Garnet</a:t>
            </a:r>
            <a:br/>
            <a:r>
              <a:rPr lang="en-US" sz="2400" dirty="0">
                <a:solidFill>
                  <a:srgbClr val="FFFFFF"/>
                </a:solidFill>
                <a:latin typeface="Gill Sans MT"/>
                <a:ea typeface="Gill Sans MT"/>
                <a:cs typeface="Gill Sans MT"/>
              </a:rPr>
              <a:t>Multicast, Express-Link Bypass, and Tensor All-Reduce</a:t>
            </a:r>
          </a:p>
        </p:txBody>
      </p:sp>
      <p:sp>
        <p:nvSpPr>
          <p:cNvPr id="3" name="副标题 2"/>
          <p:cNvSpPr/>
          <p:nvPr>
            <p:ph type="subTitle" idx="1"/>
          </p:nvPr>
        </p:nvSpPr>
        <p:spPr>
          <a:xfrm>
            <a:off x="581216" y="4352354"/>
            <a:ext cx="10993564" cy="1341025"/>
          </a:xfrm>
          <a:prstGeom prst="rect">
            <a:avLst/>
          </a:prstGeom>
          <a:noFill/>
          <a:ln>
            <a:noFill/>
          </a:ln>
        </p:spPr>
        <p:txBody>
          <a:bodyPr wrap="none" lIns="0" tIns="45630" rIns="0" bIns="0" anchor="t" anchorCtr="0">
            <a:noAutofit/>
          </a:bodyPr>
          <a:lstStyle/>
          <a:p>
            <a:pPr algn="ctr">
              <a:lnSpc>
                <a:spcPts val="3000"/>
              </a:lnSpc>
            </a:pPr>
            <a:r>
              <a:rPr lang="en-US" sz="2000" dirty="0">
                <a:solidFill>
                  <a:srgbClr val="660874"/>
                </a:solidFill>
                <a:latin typeface="Segoe UI"/>
                <a:ea typeface="Segoe UI"/>
                <a:cs typeface="Segoe UI"/>
              </a:rPr>
              <a:t>Chunyu Liu and Boyan Pu</a:t>
            </a:r>
          </a:p>
          <a:p>
            <a:pPr algn="ctr">
              <a:lnSpc>
                <a:spcPts val="3000"/>
              </a:lnSpc>
            </a:pPr>
            <a:r>
              <a:rPr lang="en-US" sz="2000" dirty="0">
                <a:solidFill>
                  <a:srgbClr val="660874"/>
                </a:solidFill>
                <a:latin typeface="Segoe UI"/>
                <a:ea typeface="Segoe UI"/>
                <a:cs typeface="Segoe UI"/>
              </a:rPr>
              <a:t>September 7, 2026</a:t>
            </a:r>
          </a:p>
        </p:txBody>
      </p:sp>
    </p:spTree>
    <p:extLst>
      <p:ext uri="{BB962C8B-B14F-4D97-AF65-F5344CB8AC3E}">
        <p14:creationId val="1082544638"/>
      </p:ext>
    </p:extLst>
  </p:cSld>
  <p:clrMapOvr>
    <a:masterClrMapping/>
  </p:clrMapOvr>
</p:sld>
</file>

<file path=ppt/slides/slide2.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grpSp>
        <p:nvGrpSpPr>
          <p:cNvPr id="9" name="Group 9"/>
          <p:cNvGrpSpPr/>
          <p:nvPr/>
        </p:nvGrpSpPr>
        <p:grpSpPr>
          <a:xfrm>
            <a:off x="727996" y="1930432"/>
            <a:ext cx="11029569" cy="3815525"/>
            <a:chOff x="727996" y="1930432"/>
            <a:chExt cx="11029569" cy="3815525"/>
          </a:xfrm>
        </p:grpSpPr>
        <p:sp>
          <p:nvSpPr>
            <p:cNvPr id="5" name="Freeform 5"/>
            <p:cNvSpPr/>
            <p:nvPr/>
          </p:nvSpPr>
          <p:spPr>
            <a:xfrm>
              <a:off x="727996" y="1930432"/>
              <a:ext cx="11029569" cy="3815525"/>
            </a:xfrm>
            <a:custGeom>
              <a:avLst/>
              <a:gdLst/>
              <a:ahLst/>
              <a:cxnLst/>
              <a:rect l="l" t="t" r="r" b="b"/>
              <a:pathLst>
                <a:path w="11029569" h="3815525">
                  <a:moveTo>
                    <a:pt x="0" y="0"/>
                  </a:moveTo>
                  <a:lnTo>
                    <a:pt x="11029569" y="0"/>
                  </a:lnTo>
                  <a:lnTo>
                    <a:pt x="11029569" y="3815525"/>
                  </a:lnTo>
                  <a:lnTo>
                    <a:pt x="0" y="3815525"/>
                  </a:lnTo>
                  <a:close/>
                </a:path>
              </a:pathLst>
            </a:custGeom>
            <a:noFill/>
            <a:ln>
              <a:noFill/>
            </a:ln>
          </p:spPr>
        </p:sp>
        <p:sp>
          <p:nvSpPr>
            <p:cNvPr id="6" name="TextBox 6"/>
            <p:cNvSpPr txBox="1"/>
            <p:nvPr/>
          </p:nvSpPr>
          <p:spPr>
            <a:xfrm>
              <a:off x="810292" y="1976152"/>
              <a:ext cx="10436550"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GPU training repeatedly alternates computation with global collective communication.</a:t>
              </a:r>
            </a:p>
          </p:txBody>
        </p:sp>
        <p:sp>
          <p:nvSpPr>
            <p:cNvPr id="7" name="TextBox 7"/>
            <p:cNvSpPr txBox="1"/>
            <p:nvPr/>
          </p:nvSpPr>
          <p:spPr>
            <a:xfrm>
              <a:off x="810292" y="2326672"/>
              <a:ext cx="7368302"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Packetization usually discards group and tensor structure.</a:t>
              </a:r>
            </a:p>
          </p:txBody>
        </p:sp>
        <p:sp>
          <p:nvSpPr>
            <p:cNvPr id="8" name="TextBox 8"/>
            <p:cNvSpPr txBox="1"/>
            <p:nvPr/>
          </p:nvSpPr>
          <p:spPr>
            <a:xfrm>
              <a:off x="810292" y="2677192"/>
              <a:ext cx="7328207"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Can Router logic preserve it to reduce traffic and latency?</a:t>
              </a:r>
            </a:p>
          </p:txBody>
        </p:sp>
      </p:grpSp>
      <p:sp>
        <p:nvSpPr>
          <p:cNvPr id="3" name="标题 2"/>
          <p:cNvSpPr/>
          <p:nvPr/>
        </p:nvSpPr>
        <p:spPr>
          <a:xfrm>
            <a:off x="581216" y="434911"/>
            <a:ext cx="10119360" cy="1015174"/>
          </a:xfrm>
          <a:prstGeom prst="rect">
            <a:avLst/>
          </a:prstGeom>
          <a:noFill/>
          <a:ln>
            <a:noFill/>
          </a:ln>
        </p:spPr>
        <p:txBody>
          <a:bodyPr wrap="none" lIns="91440" tIns="294318" rIns="0" bIns="0" anchor="t" anchorCtr="0">
            <a:noAutofit/>
          </a:bodyPr>
          <a:lstStyle/>
          <a:p>
            <a:pPr algn="l"/>
            <a:r>
              <a:rPr lang="en-US" sz="2800" dirty="0">
                <a:solidFill>
                  <a:srgbClr val="FFFFFF"/>
                </a:solidFill>
                <a:latin typeface="Gill Sans MT"/>
                <a:ea typeface="Gill Sans MT"/>
                <a:cs typeface="Gill Sans MT"/>
              </a:rPr>
              <a:t>Why Collectives Matter to the Network</a:t>
            </a:r>
          </a:p>
        </p:txBody>
      </p:sp>
      <p:grpSp>
        <p:nvGrpSpPr>
          <p:cNvPr id="12" name="Group 12"/>
          <p:cNvGrpSpPr/>
          <p:nvPr/>
        </p:nvGrpSpPr>
        <p:grpSpPr>
          <a:xfrm>
            <a:off x="1476470" y="3463445"/>
            <a:ext cx="9238964" cy="2967109"/>
            <a:chOff x="1476470" y="3463445"/>
            <a:chExt cx="9238964" cy="2967109"/>
          </a:xfrm>
        </p:grpSpPr>
        <p:pic>
          <p:nvPicPr>
            <p:cNvPr id="11" name="Image 11"/>
            <p:cNvPicPr>
              <a:picLocks noChangeAspect="1"/>
            </p:cNvPicPr>
            <p:nvPr/>
          </p:nvPicPr>
          <p:blipFill>
            <a:blip r:embed="rId4"/>
            <a:stretch>
              <a:fillRect/>
            </a:stretch>
          </p:blipFill>
          <p:spPr>
            <a:xfrm>
              <a:off x="1476470" y="3463445"/>
              <a:ext cx="9238964" cy="2967109"/>
            </a:xfrm>
            <a:prstGeom prst="rect">
              <a:avLst/>
            </a:prstGeom>
          </p:spPr>
        </p:pic>
      </p:grpSp>
    </p:spTree>
    <p:extLst>
      <p:ext uri="{BB962C8B-B14F-4D97-AF65-F5344CB8AC3E}">
        <p14:creationId val="3005660022"/>
      </p:ext>
    </p:extLst>
  </p:cSld>
  <p:clrMapOvr>
    <a:masterClrMapping/>
  </p:clrMapOvr>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grpSp>
        <p:nvGrpSpPr>
          <p:cNvPr id="12" name="Group 12"/>
          <p:cNvGrpSpPr/>
          <p:nvPr/>
        </p:nvGrpSpPr>
        <p:grpSpPr>
          <a:xfrm>
            <a:off x="581216" y="1828800"/>
            <a:ext cx="11029569" cy="5042630"/>
            <a:chOff x="581216" y="1828800"/>
            <a:chExt cx="11029569" cy="5042630"/>
          </a:xfrm>
        </p:grpSpPr>
        <p:sp>
          <p:nvSpPr>
            <p:cNvPr id="6" name="Freeform 6"/>
            <p:cNvSpPr/>
            <p:nvPr/>
          </p:nvSpPr>
          <p:spPr>
            <a:xfrm>
              <a:off x="581216" y="1828800"/>
              <a:ext cx="11029569" cy="5042630"/>
            </a:xfrm>
            <a:custGeom>
              <a:avLst/>
              <a:gdLst/>
              <a:ahLst/>
              <a:cxnLst/>
              <a:rect l="l" t="t" r="r" b="b"/>
              <a:pathLst>
                <a:path w="11029569" h="5042630">
                  <a:moveTo>
                    <a:pt x="0" y="0"/>
                  </a:moveTo>
                  <a:lnTo>
                    <a:pt x="11029569" y="0"/>
                  </a:lnTo>
                  <a:lnTo>
                    <a:pt x="11029569" y="5042630"/>
                  </a:lnTo>
                  <a:lnTo>
                    <a:pt x="0" y="5042630"/>
                  </a:lnTo>
                  <a:close/>
                </a:path>
              </a:pathLst>
            </a:custGeom>
            <a:noFill/>
            <a:ln>
              <a:noFill/>
            </a:ln>
          </p:spPr>
        </p:sp>
        <p:sp>
          <p:nvSpPr>
            <p:cNvPr id="7" name="TextBox 7"/>
            <p:cNvSpPr txBox="1"/>
            <p:nvPr/>
          </p:nvSpPr>
          <p:spPr>
            <a:xfrm>
              <a:off x="662494" y="1874525"/>
              <a:ext cx="9142996" cy="391209"/>
            </a:xfrm>
            <a:prstGeom prst="rect">
              <a:avLst/>
            </a:prstGeom>
            <a:noFill/>
            <a:ln>
              <a:noFill/>
            </a:ln>
          </p:spPr>
          <p:txBody>
            <a:bodyPr wrap="none" lIns="0" tIns="0" rIns="0" bIns="0" anchor="t" anchorCtr="0">
              <a:spAutoFit/>
            </a:bodyPr>
            <a:lstStyle/>
            <a:p>
              <a:pPr algn="l"/>
              <a:r>
                <a:rPr lang="en-US" sz="2000" dirty="0">
                  <a:solidFill>
                    <a:srgbClr val="660874"/>
                  </a:solidFill>
                  <a:latin typeface="Gill Sans MT"/>
                  <a:ea typeface="Gill Sans MT"/>
                  <a:cs typeface="Gill Sans MT"/>
                </a:rPr>
                <a:t xml:space="preserve">  </a:t>
              </a:r>
              <a:r>
                <a:rPr lang="en-US" sz="2000" dirty="0">
                  <a:solidFill>
                    <a:srgbClr val="3D3D3D"/>
                  </a:solidFill>
                  <a:latin typeface="Gill Sans MT"/>
                  <a:ea typeface="Gill Sans MT"/>
                  <a:cs typeface="Gill Sans MT"/>
                </a:rPr>
                <a:t>Preserve communication structure at three complementary levels.</a:t>
              </a:r>
            </a:p>
          </p:txBody>
        </p:sp>
        <p:sp>
          <p:nvSpPr>
            <p:cNvPr id="8" name="TextBox 8"/>
            <p:cNvSpPr txBox="1"/>
            <p:nvPr/>
          </p:nvSpPr>
          <p:spPr>
            <a:xfrm>
              <a:off x="662494" y="2255525"/>
              <a:ext cx="9089254" cy="391209"/>
            </a:xfrm>
            <a:prstGeom prst="rect">
              <a:avLst/>
            </a:prstGeom>
            <a:noFill/>
            <a:ln>
              <a:noFill/>
            </a:ln>
          </p:spPr>
          <p:txBody>
            <a:bodyPr wrap="none" lIns="0" tIns="0" rIns="0" bIns="0" anchor="t" anchorCtr="0">
              <a:spAutoFit/>
            </a:bodyPr>
            <a:lstStyle/>
            <a:p>
              <a:pPr algn="l"/>
              <a:r>
                <a:rPr lang="en-US" sz="2000" dirty="0">
                  <a:solidFill>
                    <a:srgbClr val="660874"/>
                  </a:solidFill>
                  <a:latin typeface="Gill Sans MT"/>
                  <a:ea typeface="Gill Sans MT"/>
                  <a:cs typeface="Gill Sans MT"/>
                </a:rPr>
                <a:t xml:space="preserve">  </a:t>
              </a:r>
              <a:r>
                <a:rPr lang="en-US" sz="2000" dirty="0">
                  <a:solidFill>
                    <a:srgbClr val="3D3D3D"/>
                  </a:solidFill>
                  <a:latin typeface="Gill Sans MT"/>
                  <a:ea typeface="Gill Sans MT"/>
                  <a:cs typeface="Gill Sans MT"/>
                </a:rPr>
                <a:t>Each mechanism is evaluated against a workload-matched baseline.</a:t>
              </a:r>
            </a:p>
          </p:txBody>
        </p:sp>
        <p:sp>
          <p:nvSpPr>
            <p:cNvPr id="9" name="TextBox 9"/>
            <p:cNvSpPr txBox="1"/>
            <p:nvPr/>
          </p:nvSpPr>
          <p:spPr>
            <a:xfrm>
              <a:off x="1327309" y="4944142"/>
              <a:ext cx="2148462" cy="352044"/>
            </a:xfrm>
            <a:prstGeom prst="rect">
              <a:avLst/>
            </a:prstGeom>
            <a:noFill/>
            <a:ln>
              <a:noFill/>
            </a:ln>
          </p:spPr>
          <p:txBody>
            <a:bodyPr wrap="none" lIns="0" tIns="0" rIns="0" bIns="0" anchor="t" anchorCtr="0">
              <a:spAutoFit/>
            </a:bodyPr>
            <a:lstStyle/>
            <a:p>
              <a:pPr algn="l"/>
              <a:r>
                <a:rPr lang="en-US" sz="1800" b="1" dirty="0">
                  <a:solidFill>
                    <a:srgbClr val="660874"/>
                  </a:solidFill>
                  <a:latin typeface="Gill Sans MT"/>
                  <a:ea typeface="Gill Sans MT"/>
                  <a:cs typeface="Gill Sans MT"/>
                </a:rPr>
                <a:t xml:space="preserve">1  Tree Multicast</a:t>
              </a:r>
            </a:p>
          </p:txBody>
        </p:sp>
        <p:sp>
          <p:nvSpPr>
            <p:cNvPr id="10" name="TextBox 10"/>
            <p:cNvSpPr txBox="1"/>
            <p:nvPr/>
          </p:nvSpPr>
          <p:spPr>
            <a:xfrm>
              <a:off x="3696176" y="4944142"/>
              <a:ext cx="2225456" cy="352044"/>
            </a:xfrm>
            <a:prstGeom prst="rect">
              <a:avLst/>
            </a:prstGeom>
            <a:noFill/>
            <a:ln>
              <a:noFill/>
            </a:ln>
          </p:spPr>
          <p:txBody>
            <a:bodyPr wrap="none" lIns="0" tIns="0" rIns="0" bIns="0" anchor="t" anchorCtr="0">
              <a:spAutoFit/>
            </a:bodyPr>
            <a:lstStyle/>
            <a:p>
              <a:pPr algn="l"/>
              <a:r>
                <a:rPr lang="en-US" sz="1800" b="1" dirty="0">
                  <a:solidFill>
                    <a:srgbClr val="660874"/>
                  </a:solidFill>
                  <a:latin typeface="Gill Sans MT"/>
                  <a:ea typeface="Gill Sans MT"/>
                  <a:cs typeface="Gill Sans MT"/>
                </a:rPr>
                <a:t xml:space="preserve">2  Express Bypass</a:t>
              </a:r>
            </a:p>
          </p:txBody>
        </p:sp>
        <p:sp>
          <p:nvSpPr>
            <p:cNvPr id="11" name="TextBox 11"/>
            <p:cNvSpPr txBox="1"/>
            <p:nvPr/>
          </p:nvSpPr>
          <p:spPr>
            <a:xfrm>
              <a:off x="6454712" y="4944142"/>
              <a:ext cx="2492085" cy="352044"/>
            </a:xfrm>
            <a:prstGeom prst="rect">
              <a:avLst/>
            </a:prstGeom>
            <a:noFill/>
            <a:ln>
              <a:noFill/>
            </a:ln>
          </p:spPr>
          <p:txBody>
            <a:bodyPr wrap="none" lIns="0" tIns="0" rIns="0" bIns="0" anchor="t" anchorCtr="0">
              <a:spAutoFit/>
            </a:bodyPr>
            <a:lstStyle/>
            <a:p>
              <a:pPr algn="l"/>
              <a:r>
                <a:rPr lang="en-US" sz="1800" b="1" dirty="0">
                  <a:solidFill>
                    <a:srgbClr val="660874"/>
                  </a:solidFill>
                  <a:latin typeface="Gill Sans MT"/>
                  <a:ea typeface="Gill Sans MT"/>
                  <a:cs typeface="Gill Sans MT"/>
                </a:rPr>
                <a:t xml:space="preserve">3  Tensor Streaming</a:t>
              </a:r>
            </a:p>
          </p:txBody>
        </p:sp>
      </p:grpSp>
      <p:sp>
        <p:nvSpPr>
          <p:cNvPr id="3" name="标题 2"/>
          <p:cNvSpPr/>
          <p:nvPr/>
        </p:nvSpPr>
        <p:spPr>
          <a:xfrm>
            <a:off x="581216" y="434911"/>
            <a:ext cx="10119360" cy="1015174"/>
          </a:xfrm>
          <a:prstGeom prst="rect">
            <a:avLst/>
          </a:prstGeom>
          <a:noFill/>
          <a:ln>
            <a:noFill/>
          </a:ln>
        </p:spPr>
        <p:txBody>
          <a:bodyPr wrap="none" lIns="91440" tIns="294318" rIns="0" bIns="0" anchor="t" anchorCtr="0">
            <a:noAutofit/>
          </a:bodyPr>
          <a:lstStyle/>
          <a:p>
            <a:pPr algn="l"/>
            <a:r>
              <a:rPr lang="en-US" sz="2800" dirty="0">
                <a:solidFill>
                  <a:srgbClr val="FFFFFF"/>
                </a:solidFill>
                <a:latin typeface="Gill Sans MT"/>
                <a:ea typeface="Gill Sans MT"/>
                <a:cs typeface="Gill Sans MT"/>
              </a:rPr>
              <a:t>Three Structure-Aware Mechanisms</a:t>
            </a:r>
          </a:p>
        </p:txBody>
      </p:sp>
      <p:grpSp>
        <p:nvGrpSpPr>
          <p:cNvPr id="15" name="Group 15"/>
          <p:cNvGrpSpPr/>
          <p:nvPr/>
        </p:nvGrpSpPr>
        <p:grpSpPr>
          <a:xfrm>
            <a:off x="1336453" y="3224868"/>
            <a:ext cx="1773364" cy="1078729"/>
            <a:chOff x="1336453" y="3224868"/>
            <a:chExt cx="1773364" cy="1078729"/>
          </a:xfrm>
        </p:grpSpPr>
        <p:pic>
          <p:nvPicPr>
            <p:cNvPr id="14" name="Image 14"/>
            <p:cNvPicPr>
              <a:picLocks noChangeAspect="1"/>
            </p:cNvPicPr>
            <p:nvPr/>
          </p:nvPicPr>
          <p:blipFill>
            <a:blip r:embed="rId6"/>
            <a:stretch>
              <a:fillRect/>
            </a:stretch>
          </p:blipFill>
          <p:spPr>
            <a:xfrm>
              <a:off x="1336453" y="3224868"/>
              <a:ext cx="1773364" cy="1078729"/>
            </a:xfrm>
            <a:prstGeom prst="rect">
              <a:avLst/>
            </a:prstGeom>
          </p:spPr>
        </p:pic>
      </p:grpSp>
      <p:grpSp>
        <p:nvGrpSpPr>
          <p:cNvPr id="17" name="Group 17"/>
          <p:cNvGrpSpPr/>
          <p:nvPr/>
        </p:nvGrpSpPr>
        <p:grpSpPr>
          <a:xfrm>
            <a:off x="3370659" y="2730246"/>
            <a:ext cx="2067973" cy="2067973"/>
            <a:chOff x="3370659" y="2730246"/>
            <a:chExt cx="2067973" cy="2067973"/>
          </a:xfrm>
        </p:grpSpPr>
        <p:pic>
          <p:nvPicPr>
            <p:cNvPr id="16" name="Image 16"/>
            <p:cNvPicPr>
              <a:picLocks noChangeAspect="1"/>
            </p:cNvPicPr>
            <p:nvPr/>
          </p:nvPicPr>
          <p:blipFill>
            <a:blip r:embed="rId7"/>
            <a:stretch>
              <a:fillRect/>
            </a:stretch>
          </p:blipFill>
          <p:spPr>
            <a:xfrm>
              <a:off x="3370659" y="2730246"/>
              <a:ext cx="2067973" cy="2067973"/>
            </a:xfrm>
            <a:prstGeom prst="rect">
              <a:avLst/>
            </a:prstGeom>
          </p:spPr>
        </p:pic>
      </p:grpSp>
      <p:grpSp>
        <p:nvGrpSpPr>
          <p:cNvPr id="19" name="Group 19"/>
          <p:cNvGrpSpPr/>
          <p:nvPr/>
        </p:nvGrpSpPr>
        <p:grpSpPr>
          <a:xfrm>
            <a:off x="5893867" y="2730246"/>
            <a:ext cx="3158134" cy="2040064"/>
            <a:chOff x="5893867" y="2730246"/>
            <a:chExt cx="3158134" cy="2040064"/>
          </a:xfrm>
        </p:grpSpPr>
        <p:pic>
          <p:nvPicPr>
            <p:cNvPr id="18" name="Image 18"/>
            <p:cNvPicPr>
              <a:picLocks noChangeAspect="1"/>
            </p:cNvPicPr>
            <p:nvPr/>
          </p:nvPicPr>
          <p:blipFill>
            <a:blip r:embed="rId8"/>
            <a:stretch>
              <a:fillRect/>
            </a:stretch>
          </p:blipFill>
          <p:spPr>
            <a:xfrm>
              <a:off x="5893867" y="2730246"/>
              <a:ext cx="3158134" cy="2040064"/>
            </a:xfrm>
            <a:prstGeom prst="rect">
              <a:avLst/>
            </a:prstGeom>
          </p:spPr>
        </p:pic>
      </p:grpSp>
    </p:spTree>
    <p:extLst>
      <p:ext uri="{BB962C8B-B14F-4D97-AF65-F5344CB8AC3E}">
        <p14:creationId val="51886642"/>
      </p:ext>
    </p:extLst>
  </p:cSld>
  <p:clrMapOvr>
    <a:masterClrMapping/>
  </p:clrMapOvr>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grpSp>
        <p:nvGrpSpPr>
          <p:cNvPr id="13" name="Group 13"/>
          <p:cNvGrpSpPr/>
          <p:nvPr/>
        </p:nvGrpSpPr>
        <p:grpSpPr>
          <a:xfrm>
            <a:off x="475488" y="1937861"/>
            <a:ext cx="7261479" cy="4158139"/>
            <a:chOff x="475488" y="1937861"/>
            <a:chExt cx="7261479" cy="4158139"/>
          </a:xfrm>
        </p:grpSpPr>
        <p:sp>
          <p:nvSpPr>
            <p:cNvPr id="4" name="Freeform 4"/>
            <p:cNvSpPr/>
            <p:nvPr/>
          </p:nvSpPr>
          <p:spPr>
            <a:xfrm>
              <a:off x="475488" y="1937861"/>
              <a:ext cx="7261479" cy="4158139"/>
            </a:xfrm>
            <a:custGeom>
              <a:avLst/>
              <a:gdLst/>
              <a:ahLst/>
              <a:cxnLst/>
              <a:rect l="l" t="t" r="r" b="b"/>
              <a:pathLst>
                <a:path w="7261479" h="4158139">
                  <a:moveTo>
                    <a:pt x="0" y="0"/>
                  </a:moveTo>
                  <a:lnTo>
                    <a:pt x="7261479" y="0"/>
                  </a:lnTo>
                  <a:lnTo>
                    <a:pt x="7261479" y="4158139"/>
                  </a:lnTo>
                  <a:lnTo>
                    <a:pt x="0" y="4158139"/>
                  </a:lnTo>
                  <a:close/>
                </a:path>
              </a:pathLst>
            </a:custGeom>
            <a:noFill/>
            <a:ln>
              <a:noFill/>
            </a:ln>
          </p:spPr>
        </p:sp>
        <p:sp>
          <p:nvSpPr>
            <p:cNvPr id="5" name="TextBox 5"/>
            <p:cNvSpPr txBox="1"/>
            <p:nvPr/>
          </p:nvSpPr>
          <p:spPr>
            <a:xfrm>
              <a:off x="557784" y="1983581"/>
              <a:ext cx="6671210"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b="1" dirty="0">
                  <a:solidFill>
                    <a:srgbClr val="660874"/>
                  </a:solidFill>
                  <a:latin typeface="Gill Sans MT"/>
                  <a:ea typeface="Gill Sans MT"/>
                  <a:cs typeface="Gill Sans MT"/>
                </a:rPr>
                <a:t>Baseline:</a:t>
              </a:r>
              <a:r>
                <a:rPr lang="en-US" sz="1800" dirty="0">
                  <a:solidFill>
                    <a:srgbClr val="3D3D3D"/>
                  </a:solidFill>
                  <a:latin typeface="Gill Sans MT"/>
                  <a:ea typeface="Gill Sans MT"/>
                  <a:cs typeface="Gill Sans MT"/>
                </a:rPr>
                <a:t xml:space="preserve"> one unicast packet per remote destination.</a:t>
              </a:r>
            </a:p>
          </p:txBody>
        </p:sp>
        <p:sp>
          <p:nvSpPr>
            <p:cNvPr id="6" name="TextBox 6"/>
            <p:cNvSpPr txBox="1"/>
            <p:nvPr/>
          </p:nvSpPr>
          <p:spPr>
            <a:xfrm>
              <a:off x="557784" y="2608421"/>
              <a:ext cx="5617057"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b="1" dirty="0">
                  <a:solidFill>
                    <a:srgbClr val="660874"/>
                  </a:solidFill>
                  <a:latin typeface="Gill Sans MT"/>
                  <a:ea typeface="Gill Sans MT"/>
                  <a:cs typeface="Gill Sans MT"/>
                </a:rPr>
                <a:t>Tree packet:</a:t>
              </a:r>
              <a:r>
                <a:rPr lang="en-US" sz="1800" dirty="0">
                  <a:solidFill>
                    <a:srgbClr val="3D3D3D"/>
                  </a:solidFill>
                  <a:latin typeface="Gill Sans MT"/>
                  <a:ea typeface="Gill Sans MT"/>
                  <a:cs typeface="Gill Sans MT"/>
                </a:rPr>
                <a:t xml:space="preserve"> one 64-bit destination bitmap.</a:t>
              </a:r>
            </a:p>
          </p:txBody>
        </p:sp>
        <p:sp>
          <p:nvSpPr>
            <p:cNvPr id="8" name="TextBox 8"/>
            <p:cNvSpPr txBox="1"/>
            <p:nvPr/>
          </p:nvSpPr>
          <p:spPr>
            <a:xfrm>
              <a:off x="557784" y="3233261"/>
              <a:ext cx="6629535"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Routers replicate only at pruned-tree branch points.</a:t>
              </a:r>
            </a:p>
          </p:txBody>
        </p:sp>
        <p:sp>
          <p:nvSpPr>
            <p:cNvPr id="9" name="TextBox 9"/>
            <p:cNvSpPr txBox="1"/>
            <p:nvPr/>
          </p:nvSpPr>
          <p:spPr>
            <a:xfrm>
              <a:off x="557784" y="3858101"/>
              <a:ext cx="6114883"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Head, body, and tail retain per-branch VC state.</a:t>
              </a:r>
            </a:p>
          </p:txBody>
        </p:sp>
        <p:sp>
          <p:nvSpPr>
            <p:cNvPr id="10" name="TextBox 10"/>
            <p:cNvSpPr txBox="1"/>
            <p:nvPr/>
          </p:nvSpPr>
          <p:spPr>
            <a:xfrm>
              <a:off x="557784" y="4482941"/>
              <a:ext cx="5750673"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b="1" dirty="0">
                  <a:solidFill>
                    <a:srgbClr val="660874"/>
                  </a:solidFill>
                  <a:latin typeface="Gill Sans MT"/>
                  <a:ea typeface="Gill Sans MT"/>
                  <a:cs typeface="Gill Sans MT"/>
                </a:rPr>
                <a:t>Atomic fanout:</a:t>
              </a:r>
              <a:r>
                <a:rPr lang="en-US" sz="1800" dirty="0">
                  <a:solidFill>
                    <a:srgbClr val="3D3D3D"/>
                  </a:solidFill>
                  <a:latin typeface="Gill Sans MT"/>
                  <a:ea typeface="Gill Sans MT"/>
                  <a:cs typeface="Gill Sans MT"/>
                </a:rPr>
                <a:t xml:space="preserve"> all outputs must have credit.</a:t>
              </a:r>
            </a:p>
          </p:txBody>
        </p:sp>
        <p:sp>
          <p:nvSpPr>
            <p:cNvPr id="11" name="TextBox 11"/>
            <p:cNvSpPr txBox="1"/>
            <p:nvPr/>
          </p:nvSpPr>
          <p:spPr>
            <a:xfrm>
              <a:off x="557784" y="5107781"/>
              <a:ext cx="6592961"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Exact delivery, but blocked branches stall all copies.</a:t>
              </a:r>
            </a:p>
          </p:txBody>
        </p:sp>
        <p:sp>
          <p:nvSpPr>
            <p:cNvPr id="12" name="TextBox 12"/>
            <p:cNvSpPr txBox="1"/>
            <p:nvPr/>
          </p:nvSpPr>
          <p:spPr>
            <a:xfrm>
              <a:off x="558927" y="5551170"/>
              <a:ext cx="5594242" cy="308039"/>
            </a:xfrm>
            <a:prstGeom prst="rect">
              <a:avLst/>
            </a:prstGeom>
            <a:noFill/>
            <a:ln>
              <a:noFill/>
            </a:ln>
          </p:spPr>
          <p:txBody>
            <a:bodyPr wrap="none" lIns="0" tIns="0" rIns="0" bIns="0" anchor="t" anchorCtr="0">
              <a:spAutoFit/>
            </a:bodyPr>
            <a:lstStyle/>
            <a:p>
              <a:pPr algn="l"/>
              <a:r>
                <a:rPr lang="en-US" sz="1580" dirty="0">
                  <a:solidFill>
                    <a:srgbClr val="969FA7"/>
                  </a:solidFill>
                  <a:latin typeface="Gill Sans MT"/>
                  <a:ea typeface="Gill Sans MT"/>
                  <a:cs typeface="Gill Sans MT"/>
                </a:rPr>
                <a:t>Compared on the same 4×4 Mesh and destination sets.</a:t>
              </a:r>
            </a:p>
          </p:txBody>
        </p:sp>
      </p:grpSp>
      <p:sp>
        <p:nvSpPr>
          <p:cNvPr id="3" name="标题 2"/>
          <p:cNvSpPr/>
          <p:nvPr/>
        </p:nvSpPr>
        <p:spPr>
          <a:xfrm>
            <a:off x="581216" y="434911"/>
            <a:ext cx="10119360" cy="1015174"/>
          </a:xfrm>
          <a:prstGeom prst="rect">
            <a:avLst/>
          </a:prstGeom>
          <a:noFill/>
          <a:ln>
            <a:noFill/>
          </a:ln>
        </p:spPr>
        <p:txBody>
          <a:bodyPr wrap="none" lIns="91440" tIns="294318" rIns="0" bIns="0" anchor="t" anchorCtr="0">
            <a:noAutofit/>
          </a:bodyPr>
          <a:lstStyle/>
          <a:p>
            <a:pPr algn="l"/>
            <a:r>
              <a:rPr lang="en-US" sz="2800" dirty="0">
                <a:solidFill>
                  <a:srgbClr val="FFFFFF"/>
                </a:solidFill>
                <a:latin typeface="Gill Sans MT"/>
                <a:ea typeface="Gill Sans MT"/>
                <a:cs typeface="Gill Sans MT"/>
              </a:rPr>
              <a:t>Tree Multicast: Share Common Route Prefixes</a:t>
            </a:r>
          </a:p>
        </p:txBody>
      </p:sp>
      <p:grpSp>
        <p:nvGrpSpPr>
          <p:cNvPr id="16" name="Group 16"/>
          <p:cNvGrpSpPr/>
          <p:nvPr/>
        </p:nvGrpSpPr>
        <p:grpSpPr>
          <a:xfrm>
            <a:off x="7821454" y="2789644"/>
            <a:ext cx="4035171" cy="2454574"/>
            <a:chOff x="7821454" y="2789644"/>
            <a:chExt cx="4035171" cy="2454574"/>
          </a:xfrm>
        </p:grpSpPr>
        <p:pic>
          <p:nvPicPr>
            <p:cNvPr id="15" name="Image 15"/>
            <p:cNvPicPr>
              <a:picLocks noChangeAspect="1"/>
            </p:cNvPicPr>
            <p:nvPr/>
          </p:nvPicPr>
          <p:blipFill>
            <a:blip r:embed="rId4"/>
            <a:stretch>
              <a:fillRect/>
            </a:stretch>
          </p:blipFill>
          <p:spPr>
            <a:xfrm>
              <a:off x="7821454" y="2789644"/>
              <a:ext cx="4035171" cy="2454574"/>
            </a:xfrm>
            <a:prstGeom prst="rect">
              <a:avLst/>
            </a:prstGeom>
          </p:spPr>
        </p:pic>
      </p:grpSp>
    </p:spTree>
    <p:extLst>
      <p:ext uri="{BB962C8B-B14F-4D97-AF65-F5344CB8AC3E}">
        <p14:creationId val="3361913745"/>
      </p:ext>
    </p:extLst>
  </p:cSld>
  <p:clrMapOvr>
    <a:masterClrMapping/>
  </p:clrMapOvr>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grpSp>
        <p:nvGrpSpPr>
          <p:cNvPr id="12" name="Group 12"/>
          <p:cNvGrpSpPr/>
          <p:nvPr/>
        </p:nvGrpSpPr>
        <p:grpSpPr>
          <a:xfrm>
            <a:off x="581216" y="1917287"/>
            <a:ext cx="11029569" cy="3941540"/>
            <a:chOff x="581216" y="1917287"/>
            <a:chExt cx="11029569" cy="3941540"/>
          </a:xfrm>
        </p:grpSpPr>
        <p:sp>
          <p:nvSpPr>
            <p:cNvPr id="5" name="Freeform 5"/>
            <p:cNvSpPr/>
            <p:nvPr/>
          </p:nvSpPr>
          <p:spPr>
            <a:xfrm>
              <a:off x="581216" y="1917287"/>
              <a:ext cx="11029569" cy="3941540"/>
            </a:xfrm>
            <a:custGeom>
              <a:avLst/>
              <a:gdLst/>
              <a:ahLst/>
              <a:cxnLst/>
              <a:rect l="l" t="t" r="r" b="b"/>
              <a:pathLst>
                <a:path w="11029569" h="3941540">
                  <a:moveTo>
                    <a:pt x="0" y="0"/>
                  </a:moveTo>
                  <a:lnTo>
                    <a:pt x="11029569" y="0"/>
                  </a:lnTo>
                  <a:lnTo>
                    <a:pt x="11029569" y="3941540"/>
                  </a:lnTo>
                  <a:lnTo>
                    <a:pt x="0" y="3941540"/>
                  </a:lnTo>
                  <a:close/>
                </a:path>
              </a:pathLst>
            </a:custGeom>
            <a:noFill/>
            <a:ln>
              <a:noFill/>
            </a:ln>
          </p:spPr>
        </p:sp>
        <p:sp>
          <p:nvSpPr>
            <p:cNvPr id="6" name="TextBox 6"/>
            <p:cNvSpPr txBox="1"/>
            <p:nvPr/>
          </p:nvSpPr>
          <p:spPr>
            <a:xfrm>
              <a:off x="661226" y="2093500"/>
              <a:ext cx="1135999" cy="440055"/>
            </a:xfrm>
            <a:prstGeom prst="rect">
              <a:avLst/>
            </a:prstGeom>
            <a:noFill/>
            <a:ln>
              <a:noFill/>
            </a:ln>
          </p:spPr>
          <p:txBody>
            <a:bodyPr wrap="none" lIns="0" tIns="0" rIns="0" bIns="0" anchor="t" anchorCtr="0">
              <a:spAutoFit/>
            </a:bodyPr>
            <a:lstStyle/>
            <a:p>
              <a:pPr algn="l"/>
              <a:r>
                <a:rPr lang="en-US" sz="2250" b="1" dirty="0">
                  <a:solidFill>
                    <a:srgbClr val="660874"/>
                  </a:solidFill>
                  <a:latin typeface="Gill Sans MT"/>
                  <a:ea typeface="Gill Sans MT"/>
                  <a:cs typeface="Gill Sans MT"/>
                </a:rPr>
                <a:t>39.51%</a:t>
              </a:r>
            </a:p>
          </p:txBody>
        </p:sp>
        <p:sp>
          <p:nvSpPr>
            <p:cNvPr id="7" name="TextBox 7"/>
            <p:cNvSpPr txBox="1"/>
            <p:nvPr/>
          </p:nvSpPr>
          <p:spPr>
            <a:xfrm>
              <a:off x="663892" y="2493074"/>
              <a:ext cx="3687536" cy="337376"/>
            </a:xfrm>
            <a:prstGeom prst="rect">
              <a:avLst/>
            </a:prstGeom>
            <a:noFill/>
            <a:ln>
              <a:noFill/>
            </a:ln>
          </p:spPr>
          <p:txBody>
            <a:bodyPr wrap="none" lIns="0" tIns="0" rIns="0" bIns="0" anchor="t" anchorCtr="0">
              <a:spAutoFit/>
            </a:bodyPr>
            <a:lstStyle/>
            <a:p>
              <a:pPr algn="l"/>
              <a:r>
                <a:rPr lang="en-US" sz="1720" dirty="0">
                  <a:solidFill>
                    <a:srgbClr val="3D3D3D"/>
                  </a:solidFill>
                  <a:latin typeface="Gill Sans MT"/>
                  <a:ea typeface="Gill Sans MT"/>
                  <a:cs typeface="Gill Sans MT"/>
                </a:rPr>
                <a:t>mean internal-link flit reduction</a:t>
              </a:r>
            </a:p>
          </p:txBody>
        </p:sp>
        <p:sp>
          <p:nvSpPr>
            <p:cNvPr id="8" name="TextBox 8"/>
            <p:cNvSpPr txBox="1"/>
            <p:nvPr/>
          </p:nvSpPr>
          <p:spPr>
            <a:xfrm>
              <a:off x="661226" y="3234595"/>
              <a:ext cx="1072391" cy="440055"/>
            </a:xfrm>
            <a:prstGeom prst="rect">
              <a:avLst/>
            </a:prstGeom>
            <a:noFill/>
            <a:ln>
              <a:noFill/>
            </a:ln>
          </p:spPr>
          <p:txBody>
            <a:bodyPr wrap="none" lIns="0" tIns="0" rIns="0" bIns="0" anchor="t" anchorCtr="0">
              <a:spAutoFit/>
            </a:bodyPr>
            <a:lstStyle/>
            <a:p>
              <a:pPr algn="l"/>
              <a:r>
                <a:rPr lang="en-US" sz="2250" b="1" dirty="0">
                  <a:solidFill>
                    <a:srgbClr val="660874"/>
                  </a:solidFill>
                  <a:latin typeface="Gill Sans MT"/>
                  <a:ea typeface="Gill Sans MT"/>
                  <a:cs typeface="Gill Sans MT"/>
                </a:rPr>
                <a:t>3.638×</a:t>
              </a:r>
            </a:p>
          </p:txBody>
        </p:sp>
        <p:sp>
          <p:nvSpPr>
            <p:cNvPr id="9" name="TextBox 9"/>
            <p:cNvSpPr txBox="1"/>
            <p:nvPr/>
          </p:nvSpPr>
          <p:spPr>
            <a:xfrm>
              <a:off x="663892" y="3634168"/>
              <a:ext cx="3699114" cy="337376"/>
            </a:xfrm>
            <a:prstGeom prst="rect">
              <a:avLst/>
            </a:prstGeom>
            <a:noFill/>
            <a:ln>
              <a:noFill/>
            </a:ln>
          </p:spPr>
          <p:txBody>
            <a:bodyPr wrap="none" lIns="0" tIns="0" rIns="0" bIns="0" anchor="t" anchorCtr="0">
              <a:spAutoFit/>
            </a:bodyPr>
            <a:lstStyle/>
            <a:p>
              <a:pPr algn="l"/>
              <a:r>
                <a:rPr lang="en-US" sz="1720" dirty="0">
                  <a:solidFill>
                    <a:srgbClr val="3D3D3D"/>
                  </a:solidFill>
                  <a:latin typeface="Gill Sans MT"/>
                  <a:ea typeface="Gill Sans MT"/>
                  <a:cs typeface="Gill Sans MT"/>
                </a:rPr>
                <a:t>geometric-mean latency speedup</a:t>
              </a:r>
            </a:p>
          </p:txBody>
        </p:sp>
        <p:sp>
          <p:nvSpPr>
            <p:cNvPr id="10" name="TextBox 10"/>
            <p:cNvSpPr txBox="1"/>
            <p:nvPr/>
          </p:nvSpPr>
          <p:spPr>
            <a:xfrm>
              <a:off x="661226" y="4375690"/>
              <a:ext cx="3203258" cy="440055"/>
            </a:xfrm>
            <a:prstGeom prst="rect">
              <a:avLst/>
            </a:prstGeom>
            <a:noFill/>
            <a:ln>
              <a:noFill/>
            </a:ln>
          </p:spPr>
          <p:txBody>
            <a:bodyPr wrap="none" lIns="0" tIns="0" rIns="0" bIns="0" anchor="t" anchorCtr="0">
              <a:spAutoFit/>
            </a:bodyPr>
            <a:lstStyle/>
            <a:p>
              <a:pPr algn="l"/>
              <a:r>
                <a:rPr lang="en-US" sz="2250" b="1" dirty="0">
                  <a:solidFill>
                    <a:srgbClr val="660874"/>
                  </a:solidFill>
                  <a:latin typeface="Gill Sans MT"/>
                  <a:ea typeface="Gill Sans MT"/>
                  <a:cs typeface="Gill Sans MT"/>
                </a:rPr>
                <a:t>10 / 162 regressions</a:t>
              </a:r>
            </a:p>
          </p:txBody>
        </p:sp>
        <p:sp>
          <p:nvSpPr>
            <p:cNvPr id="11" name="TextBox 11"/>
            <p:cNvSpPr txBox="1"/>
            <p:nvPr/>
          </p:nvSpPr>
          <p:spPr>
            <a:xfrm>
              <a:off x="663892" y="4775264"/>
              <a:ext cx="4868423" cy="337376"/>
            </a:xfrm>
            <a:prstGeom prst="rect">
              <a:avLst/>
            </a:prstGeom>
            <a:noFill/>
            <a:ln>
              <a:noFill/>
            </a:ln>
          </p:spPr>
          <p:txBody>
            <a:bodyPr wrap="none" lIns="0" tIns="0" rIns="0" bIns="0" anchor="t" anchorCtr="0">
              <a:spAutoFit/>
            </a:bodyPr>
            <a:lstStyle/>
            <a:p>
              <a:pPr algn="l"/>
              <a:r>
                <a:rPr lang="en-US" sz="1720" dirty="0">
                  <a:solidFill>
                    <a:srgbClr val="3D3D3D"/>
                  </a:solidFill>
                  <a:latin typeface="Gill Sans MT"/>
                  <a:ea typeface="Gill Sans MT"/>
                  <a:cs typeface="Gill Sans MT"/>
                </a:rPr>
                <a:t>all at fanout 4; worst throughput −18.24%</a:t>
              </a:r>
            </a:p>
          </p:txBody>
        </p:sp>
      </p:grpSp>
      <p:sp>
        <p:nvSpPr>
          <p:cNvPr id="3" name="标题 2"/>
          <p:cNvSpPr/>
          <p:nvPr/>
        </p:nvSpPr>
        <p:spPr>
          <a:xfrm>
            <a:off x="581216" y="434911"/>
            <a:ext cx="10119360" cy="1015174"/>
          </a:xfrm>
          <a:prstGeom prst="rect">
            <a:avLst/>
          </a:prstGeom>
          <a:noFill/>
          <a:ln>
            <a:noFill/>
          </a:ln>
        </p:spPr>
        <p:txBody>
          <a:bodyPr wrap="none" lIns="91440" tIns="294318" rIns="0" bIns="0" anchor="t" anchorCtr="0">
            <a:noAutofit/>
          </a:bodyPr>
          <a:lstStyle/>
          <a:p>
            <a:pPr algn="l"/>
            <a:r>
              <a:rPr lang="en-US" sz="2800" dirty="0">
                <a:solidFill>
                  <a:srgbClr val="FFFFFF"/>
                </a:solidFill>
                <a:latin typeface="Gill Sans MT"/>
                <a:ea typeface="Gill Sans MT"/>
                <a:cs typeface="Gill Sans MT"/>
              </a:rPr>
              <a:t>Multicast Results: Less Traffic, One Tradeoff</a:t>
            </a:r>
          </a:p>
        </p:txBody>
      </p:sp>
      <p:grpSp>
        <p:nvGrpSpPr>
          <p:cNvPr id="15" name="Group 15"/>
          <p:cNvGrpSpPr/>
          <p:nvPr/>
        </p:nvGrpSpPr>
        <p:grpSpPr>
          <a:xfrm>
            <a:off x="6191250" y="2582120"/>
            <a:ext cx="5238750" cy="3122510"/>
            <a:chOff x="6191250" y="2582120"/>
            <a:chExt cx="5238750" cy="3122510"/>
          </a:xfrm>
        </p:grpSpPr>
        <p:pic>
          <p:nvPicPr>
            <p:cNvPr id="14" name="Image 14"/>
            <p:cNvPicPr>
              <a:picLocks noChangeAspect="1"/>
            </p:cNvPicPr>
            <p:nvPr/>
          </p:nvPicPr>
          <p:blipFill>
            <a:blip r:embed="rId3"/>
            <a:stretch>
              <a:fillRect/>
            </a:stretch>
          </p:blipFill>
          <p:spPr>
            <a:xfrm>
              <a:off x="6191250" y="2582120"/>
              <a:ext cx="5238750" cy="3122510"/>
            </a:xfrm>
            <a:prstGeom prst="rect">
              <a:avLst/>
            </a:prstGeom>
          </p:spPr>
        </p:pic>
      </p:grpSp>
    </p:spTree>
    <p:extLst>
      <p:ext uri="{BB962C8B-B14F-4D97-AF65-F5344CB8AC3E}">
        <p14:creationId val="2831777698"/>
      </p:ext>
    </p:extLst>
  </p:cSld>
  <p:clrMapOvr>
    <a:masterClrMapping/>
  </p:clrMapOvr>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grpSp>
        <p:nvGrpSpPr>
          <p:cNvPr id="15" name="Group 15"/>
          <p:cNvGrpSpPr/>
          <p:nvPr/>
        </p:nvGrpSpPr>
        <p:grpSpPr>
          <a:xfrm>
            <a:off x="398336" y="2131219"/>
            <a:ext cx="9800749" cy="4291870"/>
            <a:chOff x="398336" y="2131219"/>
            <a:chExt cx="9800749" cy="4291870"/>
          </a:xfrm>
        </p:grpSpPr>
        <p:sp>
          <p:nvSpPr>
            <p:cNvPr id="4" name="Freeform 4"/>
            <p:cNvSpPr/>
            <p:nvPr/>
          </p:nvSpPr>
          <p:spPr>
            <a:xfrm>
              <a:off x="398336" y="2131219"/>
              <a:ext cx="9800749" cy="4291870"/>
            </a:xfrm>
            <a:custGeom>
              <a:avLst/>
              <a:gdLst/>
              <a:ahLst/>
              <a:cxnLst/>
              <a:rect l="l" t="t" r="r" b="b"/>
              <a:pathLst>
                <a:path w="9800749" h="4291870">
                  <a:moveTo>
                    <a:pt x="0" y="0"/>
                  </a:moveTo>
                  <a:lnTo>
                    <a:pt x="9800749" y="0"/>
                  </a:lnTo>
                  <a:lnTo>
                    <a:pt x="9800749" y="4291870"/>
                  </a:lnTo>
                  <a:lnTo>
                    <a:pt x="0" y="4291870"/>
                  </a:lnTo>
                  <a:close/>
                </a:path>
              </a:pathLst>
            </a:custGeom>
            <a:noFill/>
            <a:ln>
              <a:noFill/>
            </a:ln>
          </p:spPr>
        </p:sp>
        <p:sp>
          <p:nvSpPr>
            <p:cNvPr id="6" name="TextBox 6"/>
            <p:cNvSpPr txBox="1"/>
            <p:nvPr/>
          </p:nvSpPr>
          <p:spPr>
            <a:xfrm>
              <a:off x="480632" y="2198465"/>
              <a:ext cx="5911393"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b="1" dirty="0">
                  <a:solidFill>
                    <a:srgbClr val="660874"/>
                  </a:solidFill>
                  <a:latin typeface="Gill Sans MT"/>
                  <a:ea typeface="Gill Sans MT"/>
                  <a:cs typeface="Gill Sans MT"/>
                </a:rPr>
                <a:t>Topology:</a:t>
              </a:r>
              <a:r>
                <a:rPr lang="en-US" sz="1800" dirty="0">
                  <a:solidFill>
                    <a:srgbClr val="3D3D3D"/>
                  </a:solidFill>
                  <a:latin typeface="Gill Sans MT"/>
                  <a:ea typeface="Gill Sans MT"/>
                  <a:cs typeface="Gill Sans MT"/>
                </a:rPr>
                <a:t xml:space="preserve"> bidirectional stride-2 physical links.</a:t>
              </a:r>
            </a:p>
          </p:txBody>
        </p:sp>
        <p:sp>
          <p:nvSpPr>
            <p:cNvPr id="7" name="TextBox 7"/>
            <p:cNvSpPr txBox="1"/>
            <p:nvPr/>
          </p:nvSpPr>
          <p:spPr>
            <a:xfrm>
              <a:off x="480632" y="2808065"/>
              <a:ext cx="5244501"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Wire latency scales with Manhattan span.</a:t>
              </a:r>
            </a:p>
          </p:txBody>
        </p:sp>
        <p:sp>
          <p:nvSpPr>
            <p:cNvPr id="9" name="TextBox 9"/>
            <p:cNvSpPr txBox="1"/>
            <p:nvPr/>
          </p:nvSpPr>
          <p:spPr>
            <a:xfrm>
              <a:off x="480632" y="3417665"/>
              <a:ext cx="5271127"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b="1" dirty="0">
                  <a:solidFill>
                    <a:srgbClr val="660874"/>
                  </a:solidFill>
                  <a:latin typeface="Gill Sans MT"/>
                  <a:ea typeface="Gill Sans MT"/>
                  <a:cs typeface="Gill Sans MT"/>
                </a:rPr>
                <a:t>Oracle:</a:t>
              </a:r>
              <a:r>
                <a:rPr lang="en-US" sz="1800" dirty="0">
                  <a:solidFill>
                    <a:srgbClr val="3D3D3D"/>
                  </a:solidFill>
                  <a:latin typeface="Gill Sans MT"/>
                  <a:ea typeface="Gill Sans MT"/>
                  <a:cs typeface="Gill Sans MT"/>
                </a:rPr>
                <a:t xml:space="preserve"> choose an express hop only if full</a:t>
              </a:r>
            </a:p>
          </p:txBody>
        </p:sp>
        <p:sp>
          <p:nvSpPr>
            <p:cNvPr id="10" name="TextBox 10"/>
            <p:cNvSpPr txBox="1"/>
            <p:nvPr/>
          </p:nvSpPr>
          <p:spPr>
            <a:xfrm>
              <a:off x="480632" y="3703415"/>
              <a:ext cx="3447059" cy="352044"/>
            </a:xfrm>
            <a:prstGeom prst="rect">
              <a:avLst/>
            </a:prstGeom>
            <a:noFill/>
            <a:ln>
              <a:noFill/>
            </a:ln>
          </p:spPr>
          <p:txBody>
            <a:bodyPr wrap="none" lIns="0" tIns="0" rIns="0" bIns="0" anchor="t" anchorCtr="0">
              <a:spAutoFit/>
            </a:bodyPr>
            <a:lstStyle/>
            <a:p>
              <a:pPr algn="l"/>
              <a:r>
                <a:rPr lang="en-US" sz="1800" dirty="0">
                  <a:solidFill>
                    <a:srgbClr val="3D3D3D"/>
                  </a:solidFill>
                  <a:latin typeface="Gill Sans MT"/>
                  <a:ea typeface="Gill Sans MT"/>
                  <a:cs typeface="Gill Sans MT"/>
                </a:rPr>
                <a:t>suffix cycle cost decreases.</a:t>
              </a:r>
            </a:p>
          </p:txBody>
        </p:sp>
        <p:sp>
          <p:nvSpPr>
            <p:cNvPr id="11" name="TextBox 11"/>
            <p:cNvSpPr txBox="1"/>
            <p:nvPr/>
          </p:nvSpPr>
          <p:spPr>
            <a:xfrm>
              <a:off x="480632" y="4313015"/>
              <a:ext cx="6832023"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Reconsult the table at every Router for multi-hop use.</a:t>
              </a:r>
            </a:p>
          </p:txBody>
        </p:sp>
        <p:sp>
          <p:nvSpPr>
            <p:cNvPr id="12" name="TextBox 12"/>
            <p:cNvSpPr txBox="1"/>
            <p:nvPr/>
          </p:nvSpPr>
          <p:spPr>
            <a:xfrm>
              <a:off x="480632" y="4922615"/>
              <a:ext cx="5985875"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b="1" dirty="0">
                  <a:solidFill>
                    <a:srgbClr val="660874"/>
                  </a:solidFill>
                  <a:latin typeface="Gill Sans MT"/>
                  <a:ea typeface="Gill Sans MT"/>
                  <a:cs typeface="Gill Sans MT"/>
                </a:rPr>
                <a:t>Runtime guard:</a:t>
              </a:r>
              <a:r>
                <a:rPr lang="en-US" sz="1800" dirty="0">
                  <a:solidFill>
                    <a:srgbClr val="3D3D3D"/>
                  </a:solidFill>
                  <a:latin typeface="Gill Sans MT"/>
                  <a:ea typeface="Gill Sans MT"/>
                  <a:cs typeface="Gill Sans MT"/>
                </a:rPr>
                <a:t xml:space="preserve"> fall back to XY under pressure.</a:t>
              </a:r>
            </a:p>
          </p:txBody>
        </p:sp>
        <p:sp>
          <p:nvSpPr>
            <p:cNvPr id="13" name="TextBox 13"/>
            <p:cNvSpPr txBox="1"/>
            <p:nvPr/>
          </p:nvSpPr>
          <p:spPr>
            <a:xfrm>
              <a:off x="481774" y="5556504"/>
              <a:ext cx="5415619" cy="308039"/>
            </a:xfrm>
            <a:prstGeom prst="rect">
              <a:avLst/>
            </a:prstGeom>
            <a:noFill/>
            <a:ln>
              <a:noFill/>
            </a:ln>
          </p:spPr>
          <p:txBody>
            <a:bodyPr wrap="none" lIns="0" tIns="0" rIns="0" bIns="0" anchor="t" anchorCtr="0">
              <a:spAutoFit/>
            </a:bodyPr>
            <a:lstStyle/>
            <a:p>
              <a:pPr algn="l"/>
              <a:r>
                <a:rPr lang="en-US" sz="1580" dirty="0">
                  <a:solidFill>
                    <a:srgbClr val="969FA7"/>
                  </a:solidFill>
                  <a:latin typeface="Gill Sans MT"/>
                  <a:ea typeface="Gill Sans MT"/>
                  <a:cs typeface="Gill Sans MT"/>
                </a:rPr>
                <a:t>Static routes pass a channel-dependency DAG audit.</a:t>
              </a:r>
            </a:p>
          </p:txBody>
        </p:sp>
        <p:sp>
          <p:nvSpPr>
            <p:cNvPr id="14" name="TextBox 14"/>
            <p:cNvSpPr txBox="1"/>
            <p:nvPr/>
          </p:nvSpPr>
          <p:spPr>
            <a:xfrm>
              <a:off x="481774" y="5861304"/>
              <a:ext cx="6131863" cy="308039"/>
            </a:xfrm>
            <a:prstGeom prst="rect">
              <a:avLst/>
            </a:prstGeom>
            <a:noFill/>
            <a:ln>
              <a:noFill/>
            </a:ln>
          </p:spPr>
          <p:txBody>
            <a:bodyPr wrap="none" lIns="0" tIns="0" rIns="0" bIns="0" anchor="t" anchorCtr="0">
              <a:spAutoFit/>
            </a:bodyPr>
            <a:lstStyle/>
            <a:p>
              <a:pPr algn="l"/>
              <a:r>
                <a:rPr lang="en-US" sz="1580" dirty="0">
                  <a:solidFill>
                    <a:srgbClr val="969FA7"/>
                  </a:solidFill>
                  <a:latin typeface="Gill Sans MT"/>
                  <a:ea typeface="Gill Sans MT"/>
                  <a:cs typeface="Gill Sans MT"/>
                </a:rPr>
                <a:t>Runtime choices preserve monotonic X-before-Y progress.</a:t>
              </a:r>
            </a:p>
          </p:txBody>
        </p:sp>
      </p:grpSp>
      <p:sp>
        <p:nvSpPr>
          <p:cNvPr id="3" name="标题 2"/>
          <p:cNvSpPr/>
          <p:nvPr/>
        </p:nvSpPr>
        <p:spPr>
          <a:xfrm>
            <a:off x="581216" y="434911"/>
            <a:ext cx="10119360" cy="1015174"/>
          </a:xfrm>
          <a:prstGeom prst="rect">
            <a:avLst/>
          </a:prstGeom>
          <a:noFill/>
          <a:ln>
            <a:noFill/>
          </a:ln>
        </p:spPr>
        <p:txBody>
          <a:bodyPr wrap="none" lIns="91440" tIns="294318" rIns="0" bIns="0" anchor="t" anchorCtr="0">
            <a:noAutofit/>
          </a:bodyPr>
          <a:lstStyle/>
          <a:p>
            <a:pPr algn="l"/>
            <a:r>
              <a:rPr lang="en-US" sz="2800" dirty="0">
                <a:solidFill>
                  <a:srgbClr val="FFFFFF"/>
                </a:solidFill>
                <a:latin typeface="Gill Sans MT"/>
                <a:ea typeface="Gill Sans MT"/>
                <a:cs typeface="Gill Sans MT"/>
              </a:rPr>
              <a:t>Express-Link Bypass: Shorter Paths with Guardrails</a:t>
            </a:r>
          </a:p>
        </p:txBody>
      </p:sp>
      <p:grpSp>
        <p:nvGrpSpPr>
          <p:cNvPr id="18" name="Group 18"/>
          <p:cNvGrpSpPr/>
          <p:nvPr/>
        </p:nvGrpSpPr>
        <p:grpSpPr>
          <a:xfrm>
            <a:off x="9280208" y="1748218"/>
            <a:ext cx="2513457" cy="2513457"/>
            <a:chOff x="9280208" y="1748218"/>
            <a:chExt cx="2513457" cy="2513457"/>
          </a:xfrm>
        </p:grpSpPr>
        <p:pic>
          <p:nvPicPr>
            <p:cNvPr id="17" name="Image 17"/>
            <p:cNvPicPr>
              <a:picLocks noChangeAspect="1"/>
            </p:cNvPicPr>
            <p:nvPr/>
          </p:nvPicPr>
          <p:blipFill>
            <a:blip r:embed="rId5"/>
            <a:stretch>
              <a:fillRect/>
            </a:stretch>
          </p:blipFill>
          <p:spPr>
            <a:xfrm>
              <a:off x="9280208" y="1748218"/>
              <a:ext cx="2513457" cy="2513457"/>
            </a:xfrm>
            <a:prstGeom prst="rect">
              <a:avLst/>
            </a:prstGeom>
          </p:spPr>
        </p:pic>
      </p:grpSp>
      <p:grpSp>
        <p:nvGrpSpPr>
          <p:cNvPr id="20" name="Group 20"/>
          <p:cNvGrpSpPr/>
          <p:nvPr/>
        </p:nvGrpSpPr>
        <p:grpSpPr>
          <a:xfrm>
            <a:off x="7837492" y="4353973"/>
            <a:ext cx="4239125" cy="2393347"/>
            <a:chOff x="7837492" y="4353973"/>
            <a:chExt cx="4239125" cy="2393347"/>
          </a:xfrm>
        </p:grpSpPr>
        <p:pic>
          <p:nvPicPr>
            <p:cNvPr id="19" name="Image 19"/>
            <p:cNvPicPr>
              <a:picLocks noChangeAspect="1"/>
            </p:cNvPicPr>
            <p:nvPr/>
          </p:nvPicPr>
          <p:blipFill>
            <a:blip r:embed="rId6"/>
            <a:stretch>
              <a:fillRect/>
            </a:stretch>
          </p:blipFill>
          <p:spPr>
            <a:xfrm>
              <a:off x="7837492" y="4353973"/>
              <a:ext cx="4239125" cy="2393347"/>
            </a:xfrm>
            <a:prstGeom prst="rect">
              <a:avLst/>
            </a:prstGeom>
          </p:spPr>
        </p:pic>
      </p:grpSp>
    </p:spTree>
    <p:extLst>
      <p:ext uri="{BB962C8B-B14F-4D97-AF65-F5344CB8AC3E}">
        <p14:creationId val="2111141893"/>
      </p:ext>
    </p:extLst>
  </p:cSld>
  <p:clrMapOvr>
    <a:masterClrMapping/>
  </p:clrMapOvr>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grpSp>
        <p:nvGrpSpPr>
          <p:cNvPr id="14" name="Group 14"/>
          <p:cNvGrpSpPr/>
          <p:nvPr/>
        </p:nvGrpSpPr>
        <p:grpSpPr>
          <a:xfrm>
            <a:off x="491585" y="1642300"/>
            <a:ext cx="11029664" cy="4677537"/>
            <a:chOff x="491585" y="1642300"/>
            <a:chExt cx="11029664" cy="4677537"/>
          </a:xfrm>
        </p:grpSpPr>
        <p:sp>
          <p:nvSpPr>
            <p:cNvPr id="5" name="Freeform 5"/>
            <p:cNvSpPr/>
            <p:nvPr/>
          </p:nvSpPr>
          <p:spPr>
            <a:xfrm>
              <a:off x="491585" y="1642300"/>
              <a:ext cx="11029664" cy="4677537"/>
            </a:xfrm>
            <a:custGeom>
              <a:avLst/>
              <a:gdLst/>
              <a:ahLst/>
              <a:cxnLst/>
              <a:rect l="l" t="t" r="r" b="b"/>
              <a:pathLst>
                <a:path w="11029664" h="4677537">
                  <a:moveTo>
                    <a:pt x="0" y="0"/>
                  </a:moveTo>
                  <a:lnTo>
                    <a:pt x="11029664" y="0"/>
                  </a:lnTo>
                  <a:lnTo>
                    <a:pt x="11029664" y="4677537"/>
                  </a:lnTo>
                  <a:lnTo>
                    <a:pt x="0" y="4677537"/>
                  </a:lnTo>
                  <a:close/>
                </a:path>
              </a:pathLst>
            </a:custGeom>
            <a:noFill/>
            <a:ln>
              <a:noFill/>
            </a:ln>
          </p:spPr>
        </p:sp>
        <p:sp>
          <p:nvSpPr>
            <p:cNvPr id="6" name="TextBox 6"/>
            <p:cNvSpPr txBox="1"/>
            <p:nvPr/>
          </p:nvSpPr>
          <p:spPr>
            <a:xfrm>
              <a:off x="571214" y="1905667"/>
              <a:ext cx="1105805" cy="454724"/>
            </a:xfrm>
            <a:prstGeom prst="rect">
              <a:avLst/>
            </a:prstGeom>
            <a:noFill/>
            <a:ln>
              <a:noFill/>
            </a:ln>
          </p:spPr>
          <p:txBody>
            <a:bodyPr wrap="none" lIns="0" tIns="0" rIns="0" bIns="0" anchor="t" anchorCtr="0">
              <a:spAutoFit/>
            </a:bodyPr>
            <a:lstStyle/>
            <a:p>
              <a:pPr algn="l"/>
              <a:r>
                <a:rPr lang="en-US" sz="2320" b="1" dirty="0">
                  <a:solidFill>
                    <a:srgbClr val="660874"/>
                  </a:solidFill>
                  <a:latin typeface="Gill Sans MT"/>
                  <a:ea typeface="Gill Sans MT"/>
                  <a:cs typeface="Gill Sans MT"/>
                </a:rPr>
                <a:t>1.430×</a:t>
              </a:r>
            </a:p>
          </p:txBody>
        </p:sp>
        <p:sp>
          <p:nvSpPr>
            <p:cNvPr id="7" name="TextBox 7"/>
            <p:cNvSpPr txBox="1"/>
            <p:nvPr/>
          </p:nvSpPr>
          <p:spPr>
            <a:xfrm>
              <a:off x="574262" y="2332387"/>
              <a:ext cx="3699114" cy="337376"/>
            </a:xfrm>
            <a:prstGeom prst="rect">
              <a:avLst/>
            </a:prstGeom>
            <a:noFill/>
            <a:ln>
              <a:noFill/>
            </a:ln>
          </p:spPr>
          <p:txBody>
            <a:bodyPr wrap="none" lIns="0" tIns="0" rIns="0" bIns="0" anchor="t" anchorCtr="0">
              <a:spAutoFit/>
            </a:bodyPr>
            <a:lstStyle/>
            <a:p>
              <a:pPr algn="l"/>
              <a:r>
                <a:rPr lang="en-US" sz="1720" dirty="0">
                  <a:solidFill>
                    <a:srgbClr val="3D3D3D"/>
                  </a:solidFill>
                  <a:latin typeface="Gill Sans MT"/>
                  <a:ea typeface="Gill Sans MT"/>
                  <a:cs typeface="Gill Sans MT"/>
                </a:rPr>
                <a:t>geometric-mean latency speedup</a:t>
              </a:r>
            </a:p>
          </p:txBody>
        </p:sp>
        <p:sp>
          <p:nvSpPr>
            <p:cNvPr id="8" name="TextBox 8"/>
            <p:cNvSpPr txBox="1"/>
            <p:nvPr/>
          </p:nvSpPr>
          <p:spPr>
            <a:xfrm>
              <a:off x="571214" y="3090577"/>
              <a:ext cx="1351756" cy="454724"/>
            </a:xfrm>
            <a:prstGeom prst="rect">
              <a:avLst/>
            </a:prstGeom>
            <a:noFill/>
            <a:ln>
              <a:noFill/>
            </a:ln>
          </p:spPr>
          <p:txBody>
            <a:bodyPr wrap="none" lIns="0" tIns="0" rIns="0" bIns="0" anchor="t" anchorCtr="0">
              <a:spAutoFit/>
            </a:bodyPr>
            <a:lstStyle/>
            <a:p>
              <a:pPr algn="l"/>
              <a:r>
                <a:rPr lang="en-US" sz="2320" b="1" dirty="0">
                  <a:solidFill>
                    <a:srgbClr val="660874"/>
                  </a:solidFill>
                  <a:latin typeface="Gill Sans MT"/>
                  <a:ea typeface="Gill Sans MT"/>
                  <a:cs typeface="Gill Sans MT"/>
                </a:rPr>
                <a:t>+21.87%</a:t>
              </a:r>
            </a:p>
          </p:txBody>
        </p:sp>
        <p:sp>
          <p:nvSpPr>
            <p:cNvPr id="9" name="TextBox 9"/>
            <p:cNvSpPr txBox="1"/>
            <p:nvPr/>
          </p:nvSpPr>
          <p:spPr>
            <a:xfrm>
              <a:off x="574262" y="3517297"/>
              <a:ext cx="4104320" cy="337376"/>
            </a:xfrm>
            <a:prstGeom prst="rect">
              <a:avLst/>
            </a:prstGeom>
            <a:noFill/>
            <a:ln>
              <a:noFill/>
            </a:ln>
          </p:spPr>
          <p:txBody>
            <a:bodyPr wrap="none" lIns="0" tIns="0" rIns="0" bIns="0" anchor="t" anchorCtr="0">
              <a:spAutoFit/>
            </a:bodyPr>
            <a:lstStyle/>
            <a:p>
              <a:pPr algn="l"/>
              <a:r>
                <a:rPr lang="en-US" sz="1720" dirty="0">
                  <a:solidFill>
                    <a:srgbClr val="3D3D3D"/>
                  </a:solidFill>
                  <a:latin typeface="Gill Sans MT"/>
                  <a:ea typeface="Gill Sans MT"/>
                  <a:cs typeface="Gill Sans MT"/>
                </a:rPr>
                <a:t>mean throughput across 1,536 pairs</a:t>
              </a:r>
            </a:p>
          </p:txBody>
        </p:sp>
        <p:sp>
          <p:nvSpPr>
            <p:cNvPr id="10" name="TextBox 10"/>
            <p:cNvSpPr txBox="1"/>
            <p:nvPr/>
          </p:nvSpPr>
          <p:spPr>
            <a:xfrm>
              <a:off x="571214" y="4275487"/>
              <a:ext cx="2991428" cy="454724"/>
            </a:xfrm>
            <a:prstGeom prst="rect">
              <a:avLst/>
            </a:prstGeom>
            <a:noFill/>
            <a:ln>
              <a:noFill/>
            </a:ln>
          </p:spPr>
          <p:txBody>
            <a:bodyPr wrap="none" lIns="0" tIns="0" rIns="0" bIns="0" anchor="t" anchorCtr="0">
              <a:spAutoFit/>
            </a:bodyPr>
            <a:lstStyle/>
            <a:p>
              <a:pPr algn="l"/>
              <a:r>
                <a:rPr lang="en-US" sz="2320" b="1" dirty="0">
                  <a:solidFill>
                    <a:srgbClr val="660874"/>
                  </a:solidFill>
                  <a:latin typeface="Gill Sans MT"/>
                  <a:ea typeface="Gill Sans MT"/>
                  <a:cs typeface="Gill Sans MT"/>
                </a:rPr>
                <a:t>0.909× worst case</a:t>
              </a:r>
            </a:p>
          </p:txBody>
        </p:sp>
        <p:sp>
          <p:nvSpPr>
            <p:cNvPr id="11" name="TextBox 11"/>
            <p:cNvSpPr txBox="1"/>
            <p:nvPr/>
          </p:nvSpPr>
          <p:spPr>
            <a:xfrm>
              <a:off x="574262" y="4702207"/>
              <a:ext cx="3930660" cy="337376"/>
            </a:xfrm>
            <a:prstGeom prst="rect">
              <a:avLst/>
            </a:prstGeom>
            <a:noFill/>
            <a:ln>
              <a:noFill/>
            </a:ln>
          </p:spPr>
          <p:txBody>
            <a:bodyPr wrap="none" lIns="0" tIns="0" rIns="0" bIns="0" anchor="t" anchorCtr="0">
              <a:spAutoFit/>
            </a:bodyPr>
            <a:lstStyle/>
            <a:p>
              <a:pPr algn="l"/>
              <a:r>
                <a:rPr lang="en-US" sz="1720" dirty="0">
                  <a:solidFill>
                    <a:srgbClr val="3D3D3D"/>
                  </a:solidFill>
                  <a:latin typeface="Gill Sans MT"/>
                  <a:ea typeface="Gill Sans MT"/>
                  <a:cs typeface="Gill Sans MT"/>
                </a:rPr>
                <a:t>only one regression larger than 5%</a:t>
              </a:r>
            </a:p>
          </p:txBody>
        </p:sp>
        <p:sp>
          <p:nvSpPr>
            <p:cNvPr id="12" name="TextBox 12"/>
            <p:cNvSpPr txBox="1"/>
            <p:nvPr/>
          </p:nvSpPr>
          <p:spPr>
            <a:xfrm>
              <a:off x="574262" y="5525167"/>
              <a:ext cx="4209545" cy="337376"/>
            </a:xfrm>
            <a:prstGeom prst="rect">
              <a:avLst/>
            </a:prstGeom>
            <a:noFill/>
            <a:ln>
              <a:noFill/>
            </a:ln>
          </p:spPr>
          <p:txBody>
            <a:bodyPr wrap="none" lIns="0" tIns="0" rIns="0" bIns="0" anchor="t" anchorCtr="0">
              <a:spAutoFit/>
            </a:bodyPr>
            <a:lstStyle/>
            <a:p>
              <a:pPr algn="l"/>
              <a:r>
                <a:rPr lang="en-US" sz="1720" b="1" dirty="0">
                  <a:solidFill>
                    <a:srgbClr val="660874"/>
                  </a:solidFill>
                  <a:latin typeface="Gill Sans MT"/>
                  <a:ea typeface="Gill Sans MT"/>
                  <a:cs typeface="Gill Sans MT"/>
                </a:rPr>
                <a:t>Source-only stride routing: 0.999×</a:t>
              </a:r>
            </a:p>
          </p:txBody>
        </p:sp>
        <p:sp>
          <p:nvSpPr>
            <p:cNvPr id="13" name="TextBox 13"/>
            <p:cNvSpPr txBox="1"/>
            <p:nvPr/>
          </p:nvSpPr>
          <p:spPr>
            <a:xfrm>
              <a:off x="575405" y="5947600"/>
              <a:ext cx="6625680" cy="293370"/>
            </a:xfrm>
            <a:prstGeom prst="rect">
              <a:avLst/>
            </a:prstGeom>
            <a:noFill/>
            <a:ln>
              <a:noFill/>
            </a:ln>
          </p:spPr>
          <p:txBody>
            <a:bodyPr wrap="none" lIns="0" tIns="0" rIns="0" bIns="0" anchor="t" anchorCtr="0">
              <a:spAutoFit/>
            </a:bodyPr>
            <a:lstStyle/>
            <a:p>
              <a:pPr algn="l"/>
              <a:r>
                <a:rPr lang="en-US" sz="1500" dirty="0">
                  <a:solidFill>
                    <a:srgbClr val="969FA7"/>
                  </a:solidFill>
                  <a:latin typeface="Gill Sans MT"/>
                  <a:ea typeface="Gill Sans MT"/>
                  <a:cs typeface="Gill Sans MT"/>
                </a:rPr>
                <a:t>Added links, ports, and buffers — not an iso-resource comparison.</a:t>
              </a:r>
            </a:p>
          </p:txBody>
        </p:sp>
      </p:grpSp>
      <p:sp>
        <p:nvSpPr>
          <p:cNvPr id="3" name="标题 2"/>
          <p:cNvSpPr/>
          <p:nvPr/>
        </p:nvSpPr>
        <p:spPr>
          <a:xfrm>
            <a:off x="581216" y="434911"/>
            <a:ext cx="10119360" cy="1015174"/>
          </a:xfrm>
          <a:prstGeom prst="rect">
            <a:avLst/>
          </a:prstGeom>
          <a:noFill/>
          <a:ln>
            <a:noFill/>
          </a:ln>
        </p:spPr>
        <p:txBody>
          <a:bodyPr wrap="none" lIns="91440" tIns="294318" rIns="0" bIns="0" anchor="t" anchorCtr="0">
            <a:noAutofit/>
          </a:bodyPr>
          <a:lstStyle/>
          <a:p>
            <a:pPr algn="l"/>
            <a:r>
              <a:rPr lang="en-US" sz="2800" dirty="0">
                <a:solidFill>
                  <a:srgbClr val="FFFFFF"/>
                </a:solidFill>
                <a:latin typeface="Gill Sans MT"/>
                <a:ea typeface="Gill Sans MT"/>
                <a:cs typeface="Gill Sans MT"/>
              </a:rPr>
              <a:t>Bypass Results: Multi-Hop Routing Matters</a:t>
            </a:r>
          </a:p>
        </p:txBody>
      </p:sp>
      <p:grpSp>
        <p:nvGrpSpPr>
          <p:cNvPr id="17" name="Group 17"/>
          <p:cNvGrpSpPr/>
          <p:nvPr/>
        </p:nvGrpSpPr>
        <p:grpSpPr>
          <a:xfrm>
            <a:off x="5905500" y="2981972"/>
            <a:ext cx="5619750" cy="2132307"/>
            <a:chOff x="5905500" y="2981972"/>
            <a:chExt cx="5619750" cy="2132307"/>
          </a:xfrm>
        </p:grpSpPr>
        <p:pic>
          <p:nvPicPr>
            <p:cNvPr id="16" name="Image 16"/>
            <p:cNvPicPr>
              <a:picLocks noChangeAspect="1"/>
            </p:cNvPicPr>
            <p:nvPr/>
          </p:nvPicPr>
          <p:blipFill>
            <a:blip r:embed="rId4"/>
            <a:stretch>
              <a:fillRect/>
            </a:stretch>
          </p:blipFill>
          <p:spPr>
            <a:xfrm>
              <a:off x="5905500" y="2981972"/>
              <a:ext cx="5619750" cy="2132307"/>
            </a:xfrm>
            <a:prstGeom prst="rect">
              <a:avLst/>
            </a:prstGeom>
          </p:spPr>
        </p:pic>
      </p:grpSp>
    </p:spTree>
    <p:extLst>
      <p:ext uri="{BB962C8B-B14F-4D97-AF65-F5344CB8AC3E}">
        <p14:creationId val="1175147363"/>
      </p:ext>
    </p:extLst>
  </p:cSld>
  <p:clrMapOvr>
    <a:masterClrMapping/>
  </p:clrMapOvr>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grpSp>
        <p:nvGrpSpPr>
          <p:cNvPr id="10" name="Group 10"/>
          <p:cNvGrpSpPr/>
          <p:nvPr/>
        </p:nvGrpSpPr>
        <p:grpSpPr>
          <a:xfrm>
            <a:off x="581216" y="1940433"/>
            <a:ext cx="11029569" cy="3918395"/>
            <a:chOff x="581216" y="1940433"/>
            <a:chExt cx="11029569" cy="3918395"/>
          </a:xfrm>
        </p:grpSpPr>
        <p:sp>
          <p:nvSpPr>
            <p:cNvPr id="4" name="Freeform 4"/>
            <p:cNvSpPr/>
            <p:nvPr/>
          </p:nvSpPr>
          <p:spPr>
            <a:xfrm>
              <a:off x="581216" y="2180463"/>
              <a:ext cx="11029569" cy="3678365"/>
            </a:xfrm>
            <a:custGeom>
              <a:avLst/>
              <a:gdLst/>
              <a:ahLst/>
              <a:cxnLst/>
              <a:rect l="l" t="t" r="r" b="b"/>
              <a:pathLst>
                <a:path w="11029569" h="3678365">
                  <a:moveTo>
                    <a:pt x="0" y="0"/>
                  </a:moveTo>
                  <a:lnTo>
                    <a:pt x="11029569" y="0"/>
                  </a:lnTo>
                  <a:lnTo>
                    <a:pt x="11029569" y="3678365"/>
                  </a:lnTo>
                  <a:lnTo>
                    <a:pt x="0" y="3678365"/>
                  </a:lnTo>
                  <a:close/>
                </a:path>
              </a:pathLst>
            </a:custGeom>
            <a:noFill/>
            <a:ln>
              <a:noFill/>
            </a:ln>
          </p:spPr>
        </p:sp>
        <p:sp>
          <p:nvSpPr>
            <p:cNvPr id="6" name="TextBox 6"/>
            <p:cNvSpPr txBox="1"/>
            <p:nvPr/>
          </p:nvSpPr>
          <p:spPr>
            <a:xfrm>
              <a:off x="663512" y="1940433"/>
              <a:ext cx="7709337"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15 measured eight-H100 all-reduce events at 1, 4, and 16 MiB.</a:t>
              </a:r>
            </a:p>
          </p:txBody>
        </p:sp>
        <p:sp>
          <p:nvSpPr>
            <p:cNvPr id="7" name="TextBox 7"/>
            <p:cNvSpPr txBox="1"/>
            <p:nvPr/>
          </p:nvSpPr>
          <p:spPr>
            <a:xfrm>
              <a:off x="663512" y="2290953"/>
              <a:ext cx="8241968"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Bytes and release times are scaled by 1/1024 for tractable replay.</a:t>
              </a:r>
            </a:p>
          </p:txBody>
        </p:sp>
        <p:sp>
          <p:nvSpPr>
            <p:cNvPr id="8" name="TextBox 8"/>
            <p:cNvSpPr txBox="1"/>
            <p:nvPr/>
          </p:nvSpPr>
          <p:spPr>
            <a:xfrm>
              <a:off x="663512" y="2641473"/>
              <a:ext cx="3983949"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b="1" dirty="0">
                  <a:solidFill>
                    <a:srgbClr val="660874"/>
                  </a:solidFill>
                  <a:latin typeface="Gill Sans MT"/>
                  <a:ea typeface="Gill Sans MT"/>
                  <a:cs typeface="Gill Sans MT"/>
                </a:rPr>
                <a:t>Scalar:</a:t>
              </a:r>
              <a:r>
                <a:rPr lang="en-US" sz="1800" dirty="0">
                  <a:solidFill>
                    <a:srgbClr val="3D3D3D"/>
                  </a:solidFill>
                  <a:latin typeface="Gill Sans MT"/>
                  <a:ea typeface="Gill Sans MT"/>
                  <a:cs typeface="Gill Sans MT"/>
                </a:rPr>
                <a:t xml:space="preserve"> 6,720 one-flit rounds.</a:t>
              </a:r>
            </a:p>
          </p:txBody>
        </p:sp>
        <p:sp>
          <p:nvSpPr>
            <p:cNvPr id="9" name="TextBox 9"/>
            <p:cNvSpPr txBox="1"/>
            <p:nvPr/>
          </p:nvSpPr>
          <p:spPr>
            <a:xfrm>
              <a:off x="6182106" y="2641473"/>
              <a:ext cx="4108736"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b="1" dirty="0">
                  <a:solidFill>
                    <a:srgbClr val="660874"/>
                  </a:solidFill>
                  <a:latin typeface="Gill Sans MT"/>
                  <a:ea typeface="Gill Sans MT"/>
                  <a:cs typeface="Gill Sans MT"/>
                </a:rPr>
                <a:t>Tensor:</a:t>
              </a:r>
              <a:r>
                <a:rPr lang="en-US" sz="1800" dirty="0">
                  <a:solidFill>
                    <a:srgbClr val="3D3D3D"/>
                  </a:solidFill>
                  <a:latin typeface="Gill Sans MT"/>
                  <a:ea typeface="Gill Sans MT"/>
                  <a:cs typeface="Gill Sans MT"/>
                </a:rPr>
                <a:t xml:space="preserve"> 15 multi-flit requests.</a:t>
              </a:r>
            </a:p>
          </p:txBody>
        </p:sp>
      </p:grpSp>
      <p:sp>
        <p:nvSpPr>
          <p:cNvPr id="3" name="标题 2"/>
          <p:cNvSpPr/>
          <p:nvPr/>
        </p:nvSpPr>
        <p:spPr>
          <a:xfrm>
            <a:off x="581216" y="434911"/>
            <a:ext cx="10119360" cy="1015174"/>
          </a:xfrm>
          <a:prstGeom prst="rect">
            <a:avLst/>
          </a:prstGeom>
          <a:noFill/>
          <a:ln>
            <a:noFill/>
          </a:ln>
        </p:spPr>
        <p:txBody>
          <a:bodyPr wrap="none" lIns="91440" tIns="294318" rIns="0" bIns="0" anchor="t" anchorCtr="0">
            <a:noAutofit/>
          </a:bodyPr>
          <a:lstStyle/>
          <a:p>
            <a:pPr algn="l"/>
            <a:r>
              <a:rPr lang="en-US" sz="2800" dirty="0">
                <a:solidFill>
                  <a:srgbClr val="FFFFFF"/>
                </a:solidFill>
                <a:latin typeface="Gill Sans MT"/>
                <a:ea typeface="Gill Sans MT"/>
                <a:cs typeface="Gill Sans MT"/>
              </a:rPr>
              <a:t>H100 Trace: Preserve the Event, Not Scalar Lanes</a:t>
            </a:r>
          </a:p>
        </p:txBody>
      </p:sp>
      <p:grpSp>
        <p:nvGrpSpPr>
          <p:cNvPr id="13" name="Group 13"/>
          <p:cNvGrpSpPr/>
          <p:nvPr/>
        </p:nvGrpSpPr>
        <p:grpSpPr>
          <a:xfrm>
            <a:off x="3368132" y="3048000"/>
            <a:ext cx="5455736" cy="3524250"/>
            <a:chOff x="3368132" y="3048000"/>
            <a:chExt cx="5455736" cy="3524250"/>
          </a:xfrm>
        </p:grpSpPr>
        <p:pic>
          <p:nvPicPr>
            <p:cNvPr id="12" name="Image 12"/>
            <p:cNvPicPr>
              <a:picLocks noChangeAspect="1"/>
            </p:cNvPicPr>
            <p:nvPr/>
          </p:nvPicPr>
          <p:blipFill>
            <a:blip r:embed="rId4"/>
            <a:stretch>
              <a:fillRect/>
            </a:stretch>
          </p:blipFill>
          <p:spPr>
            <a:xfrm>
              <a:off x="3368132" y="3048000"/>
              <a:ext cx="5455736" cy="3524250"/>
            </a:xfrm>
            <a:prstGeom prst="rect">
              <a:avLst/>
            </a:prstGeom>
          </p:spPr>
        </p:pic>
      </p:grpSp>
    </p:spTree>
    <p:extLst>
      <p:ext uri="{BB962C8B-B14F-4D97-AF65-F5344CB8AC3E}">
        <p14:creationId val="369041131"/>
      </p:ext>
    </p:extLst>
  </p:cSld>
  <p:clrMapOvr>
    <a:masterClrMapping/>
  </p:clrMapOvr>
</p:sld>
</file>

<file path=ppt/slides/slide9.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grpSp>
        <p:nvGrpSpPr>
          <p:cNvPr id="10" name="Group 10"/>
          <p:cNvGrpSpPr/>
          <p:nvPr/>
        </p:nvGrpSpPr>
        <p:grpSpPr>
          <a:xfrm>
            <a:off x="581216" y="1800606"/>
            <a:ext cx="11029569" cy="4882420"/>
            <a:chOff x="581216" y="1800606"/>
            <a:chExt cx="11029569" cy="4882420"/>
          </a:xfrm>
        </p:grpSpPr>
        <p:sp>
          <p:nvSpPr>
            <p:cNvPr id="5" name="Freeform 5"/>
            <p:cNvSpPr/>
            <p:nvPr/>
          </p:nvSpPr>
          <p:spPr>
            <a:xfrm>
              <a:off x="581216" y="1800606"/>
              <a:ext cx="11029569" cy="4882420"/>
            </a:xfrm>
            <a:custGeom>
              <a:avLst/>
              <a:gdLst/>
              <a:ahLst/>
              <a:cxnLst/>
              <a:rect l="l" t="t" r="r" b="b"/>
              <a:pathLst>
                <a:path w="11029569" h="4882420">
                  <a:moveTo>
                    <a:pt x="0" y="0"/>
                  </a:moveTo>
                  <a:lnTo>
                    <a:pt x="11029569" y="0"/>
                  </a:lnTo>
                  <a:lnTo>
                    <a:pt x="11029569" y="4882420"/>
                  </a:lnTo>
                  <a:lnTo>
                    <a:pt x="0" y="4882420"/>
                  </a:lnTo>
                  <a:close/>
                </a:path>
              </a:pathLst>
            </a:custGeom>
            <a:noFill/>
            <a:ln>
              <a:noFill/>
            </a:ln>
          </p:spPr>
        </p:sp>
        <p:sp>
          <p:nvSpPr>
            <p:cNvPr id="6" name="TextBox 6"/>
            <p:cNvSpPr txBox="1"/>
            <p:nvPr/>
          </p:nvSpPr>
          <p:spPr>
            <a:xfrm>
              <a:off x="663512" y="1846326"/>
              <a:ext cx="6510985"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Replay window falls from 80.638M to 17.055M ticks.</a:t>
              </a:r>
            </a:p>
          </p:txBody>
        </p:sp>
        <p:sp>
          <p:nvSpPr>
            <p:cNvPr id="7" name="TextBox 7"/>
            <p:cNvSpPr txBox="1"/>
            <p:nvPr/>
          </p:nvSpPr>
          <p:spPr>
            <a:xfrm>
              <a:off x="663512" y="2196846"/>
              <a:ext cx="6364544"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b="1" dirty="0">
                  <a:solidFill>
                    <a:srgbClr val="660874"/>
                  </a:solidFill>
                  <a:latin typeface="Gill Sans MT"/>
                  <a:ea typeface="Gill Sans MT"/>
                  <a:cs typeface="Gill Sans MT"/>
                </a:rPr>
                <a:t>4.728× improvement</a:t>
              </a:r>
              <a:r>
                <a:rPr lang="en-US" sz="1800" dirty="0">
                  <a:solidFill>
                    <a:srgbClr val="3D3D3D"/>
                  </a:solidFill>
                  <a:latin typeface="Gill Sans MT"/>
                  <a:ea typeface="Gill Sans MT"/>
                  <a:cs typeface="Gill Sans MT"/>
                </a:rPr>
                <a:t xml:space="preserve"> on both evaluated topologies.</a:t>
              </a:r>
            </a:p>
          </p:txBody>
        </p:sp>
        <p:sp>
          <p:nvSpPr>
            <p:cNvPr id="8" name="TextBox 8"/>
            <p:cNvSpPr txBox="1"/>
            <p:nvPr/>
          </p:nvSpPr>
          <p:spPr>
            <a:xfrm>
              <a:off x="663512" y="2547366"/>
              <a:ext cx="7129390" cy="352044"/>
            </a:xfrm>
            <a:prstGeom prst="rect">
              <a:avLst/>
            </a:prstGeom>
            <a:noFill/>
            <a:ln>
              <a:noFill/>
            </a:ln>
          </p:spPr>
          <p:txBody>
            <a:bodyPr wrap="none" lIns="0" tIns="0" rIns="0" bIns="0" anchor="t" anchorCtr="0">
              <a:spAutoFit/>
            </a:bodyPr>
            <a:lstStyle/>
            <a:p>
              <a:pPr algn="l"/>
              <a:r>
                <a:rPr lang="en-US" sz="1800" dirty="0">
                  <a:solidFill>
                    <a:srgbClr val="660874"/>
                  </a:solidFill>
                  <a:latin typeface="Gill Sans MT"/>
                  <a:ea typeface="Gill Sans MT"/>
                  <a:cs typeface="Gill Sans MT"/>
                </a:rPr>
                <a:t xml:space="preserve">  </a:t>
              </a:r>
              <a:r>
                <a:rPr lang="en-US" sz="1800" dirty="0">
                  <a:solidFill>
                    <a:srgbClr val="3D3D3D"/>
                  </a:solidFill>
                  <a:latin typeface="Gill Sans MT"/>
                  <a:ea typeface="Gill Sans MT"/>
                  <a:cs typeface="Gill Sans MT"/>
                </a:rPr>
                <a:t>Same 53,760 source and 147,840 Router-forwarded flits.</a:t>
              </a:r>
            </a:p>
          </p:txBody>
        </p:sp>
        <p:sp>
          <p:nvSpPr>
            <p:cNvPr id="9" name="TextBox 9"/>
            <p:cNvSpPr txBox="1"/>
            <p:nvPr/>
          </p:nvSpPr>
          <p:spPr>
            <a:xfrm>
              <a:off x="664274" y="6156388"/>
              <a:ext cx="8520725" cy="322707"/>
            </a:xfrm>
            <a:prstGeom prst="rect">
              <a:avLst/>
            </a:prstGeom>
            <a:noFill/>
            <a:ln>
              <a:noFill/>
            </a:ln>
          </p:spPr>
          <p:txBody>
            <a:bodyPr wrap="none" lIns="0" tIns="0" rIns="0" bIns="0" anchor="t" anchorCtr="0">
              <a:spAutoFit/>
            </a:bodyPr>
            <a:lstStyle/>
            <a:p>
              <a:pPr algn="l"/>
              <a:r>
                <a:rPr lang="en-US" sz="1650" dirty="0">
                  <a:solidFill>
                    <a:srgbClr val="3D3D3D"/>
                  </a:solidFill>
                  <a:latin typeface="Gill Sans MT"/>
                  <a:ea typeface="Gill Sans MT"/>
                  <a:cs typeface="Gill Sans MT"/>
                </a:rPr>
                <a:t>The gain comes from request representation, not less counted network work.</a:t>
              </a:r>
            </a:p>
          </p:txBody>
        </p:sp>
      </p:grpSp>
      <p:sp>
        <p:nvSpPr>
          <p:cNvPr id="3" name="标题 2"/>
          <p:cNvSpPr/>
          <p:nvPr/>
        </p:nvSpPr>
        <p:spPr>
          <a:xfrm>
            <a:off x="581216" y="434911"/>
            <a:ext cx="10119360" cy="1015174"/>
          </a:xfrm>
          <a:prstGeom prst="rect">
            <a:avLst/>
          </a:prstGeom>
          <a:noFill/>
          <a:ln>
            <a:noFill/>
          </a:ln>
        </p:spPr>
        <p:txBody>
          <a:bodyPr wrap="none" lIns="91440" tIns="294318" rIns="0" bIns="0" anchor="t" anchorCtr="0">
            <a:noAutofit/>
          </a:bodyPr>
          <a:lstStyle/>
          <a:p>
            <a:pPr algn="l"/>
            <a:r>
              <a:rPr lang="en-US" sz="2800" dirty="0">
                <a:solidFill>
                  <a:srgbClr val="FFFFFF"/>
                </a:solidFill>
                <a:latin typeface="Gill Sans MT"/>
                <a:ea typeface="Gill Sans MT"/>
                <a:cs typeface="Gill Sans MT"/>
              </a:rPr>
              <a:t>Tensor Replay: Same Work, 4.728× Shorter Window</a:t>
            </a:r>
          </a:p>
        </p:txBody>
      </p:sp>
      <p:grpSp>
        <p:nvGrpSpPr>
          <p:cNvPr id="13" name="Group 13"/>
          <p:cNvGrpSpPr/>
          <p:nvPr/>
        </p:nvGrpSpPr>
        <p:grpSpPr>
          <a:xfrm>
            <a:off x="3419014" y="2905125"/>
            <a:ext cx="5353972" cy="3238500"/>
            <a:chOff x="3419014" y="2905125"/>
            <a:chExt cx="5353972" cy="3238500"/>
          </a:xfrm>
        </p:grpSpPr>
        <p:pic>
          <p:nvPicPr>
            <p:cNvPr id="12" name="Image 12"/>
            <p:cNvPicPr>
              <a:picLocks noChangeAspect="1"/>
            </p:cNvPicPr>
            <p:nvPr/>
          </p:nvPicPr>
          <p:blipFill>
            <a:blip r:embed="rId4"/>
            <a:stretch>
              <a:fillRect/>
            </a:stretch>
          </p:blipFill>
          <p:spPr>
            <a:xfrm>
              <a:off x="3419014" y="2905125"/>
              <a:ext cx="5353972" cy="3238500"/>
            </a:xfrm>
            <a:prstGeom prst="rect">
              <a:avLst/>
            </a:prstGeom>
          </p:spPr>
        </p:pic>
      </p:grpSp>
    </p:spTree>
    <p:extLst>
      <p:ext uri="{BB962C8B-B14F-4D97-AF65-F5344CB8AC3E}">
        <p14:creationId val="3867482963"/>
      </p:ext>
    </p:extLst>
  </p:cSld>
  <p:clrMapOvr>
    <a:masterClrMapping/>
  </p:clrMapOvr>
</p:sld>
</file>

<file path=ppt/slides/slide10.xml><?xml version="1.0" encoding="utf-8"?>
<p:sld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grpSp>
        <p:nvGrpSpPr>
          <p:cNvPr id="9" name="Group 9"/>
          <p:cNvGrpSpPr/>
          <p:nvPr/>
        </p:nvGrpSpPr>
        <p:grpSpPr>
          <a:xfrm>
            <a:off x="581216" y="2452688"/>
            <a:ext cx="11223787" cy="3832002"/>
            <a:chOff x="581216" y="2452688"/>
            <a:chExt cx="11223787" cy="3832002"/>
          </a:xfrm>
        </p:grpSpPr>
        <p:sp>
          <p:nvSpPr>
            <p:cNvPr id="4" name="Freeform 4"/>
            <p:cNvSpPr/>
            <p:nvPr/>
          </p:nvSpPr>
          <p:spPr>
            <a:xfrm>
              <a:off x="581216" y="2606421"/>
              <a:ext cx="11029569" cy="3678269"/>
            </a:xfrm>
            <a:custGeom>
              <a:avLst/>
              <a:gdLst/>
              <a:ahLst/>
              <a:cxnLst/>
              <a:rect l="l" t="t" r="r" b="b"/>
              <a:pathLst>
                <a:path w="11029569" h="3678269">
                  <a:moveTo>
                    <a:pt x="0" y="0"/>
                  </a:moveTo>
                  <a:lnTo>
                    <a:pt x="11029569" y="0"/>
                  </a:lnTo>
                  <a:lnTo>
                    <a:pt x="11029569" y="3678269"/>
                  </a:lnTo>
                  <a:lnTo>
                    <a:pt x="0" y="3678269"/>
                  </a:lnTo>
                  <a:close/>
                </a:path>
              </a:pathLst>
            </a:custGeom>
            <a:noFill/>
            <a:ln>
              <a:noFill/>
            </a:ln>
          </p:spPr>
        </p:sp>
        <p:sp>
          <p:nvSpPr>
            <p:cNvPr id="5" name="TextBox 5"/>
            <p:cNvSpPr txBox="1"/>
            <p:nvPr/>
          </p:nvSpPr>
          <p:spPr>
            <a:xfrm>
              <a:off x="660464" y="2452688"/>
              <a:ext cx="8878688" cy="469392"/>
            </a:xfrm>
            <a:prstGeom prst="rect">
              <a:avLst/>
            </a:prstGeom>
            <a:noFill/>
            <a:ln>
              <a:noFill/>
            </a:ln>
          </p:spPr>
          <p:txBody>
            <a:bodyPr wrap="none" lIns="0" tIns="0" rIns="0" bIns="0" anchor="t" anchorCtr="0">
              <a:spAutoFit/>
            </a:bodyPr>
            <a:lstStyle/>
            <a:p>
              <a:pPr algn="l"/>
              <a:r>
                <a:rPr lang="en-US" sz="2400" dirty="0">
                  <a:solidFill>
                    <a:srgbClr val="660874"/>
                  </a:solidFill>
                  <a:latin typeface="Gill Sans MT"/>
                  <a:ea typeface="Gill Sans MT"/>
                  <a:cs typeface="Gill Sans MT"/>
                </a:rPr>
                <a:t xml:space="preserve"> </a:t>
              </a:r>
              <a:r>
                <a:rPr lang="en-US" sz="2400" b="1" dirty="0">
                  <a:solidFill>
                    <a:srgbClr val="660874"/>
                  </a:solidFill>
                  <a:latin typeface="Gill Sans MT"/>
                  <a:ea typeface="Gill Sans MT"/>
                  <a:cs typeface="Gill Sans MT"/>
                </a:rPr>
                <a:t>Share paths:</a:t>
              </a:r>
              <a:r>
                <a:rPr lang="en-US" sz="2400" dirty="0">
                  <a:solidFill>
                    <a:srgbClr val="3D3D3D"/>
                  </a:solidFill>
                  <a:latin typeface="Gill Sans MT"/>
                  <a:ea typeface="Gill Sans MT"/>
                  <a:cs typeface="Gill Sans MT"/>
                </a:rPr>
                <a:t xml:space="preserve"> remove duplicated multicast transport.</a:t>
              </a:r>
            </a:p>
          </p:txBody>
        </p:sp>
        <p:sp>
          <p:nvSpPr>
            <p:cNvPr id="6" name="TextBox 6"/>
            <p:cNvSpPr txBox="1"/>
            <p:nvPr/>
          </p:nvSpPr>
          <p:spPr>
            <a:xfrm>
              <a:off x="660464" y="3500438"/>
              <a:ext cx="10883177" cy="469392"/>
            </a:xfrm>
            <a:prstGeom prst="rect">
              <a:avLst/>
            </a:prstGeom>
            <a:noFill/>
            <a:ln>
              <a:noFill/>
            </a:ln>
          </p:spPr>
          <p:txBody>
            <a:bodyPr wrap="none" lIns="0" tIns="0" rIns="0" bIns="0" anchor="t" anchorCtr="0">
              <a:spAutoFit/>
            </a:bodyPr>
            <a:lstStyle/>
            <a:p>
              <a:pPr algn="l"/>
              <a:r>
                <a:rPr lang="en-US" sz="2400" dirty="0">
                  <a:solidFill>
                    <a:srgbClr val="660874"/>
                  </a:solidFill>
                  <a:latin typeface="Gill Sans MT"/>
                  <a:ea typeface="Gill Sans MT"/>
                  <a:cs typeface="Gill Sans MT"/>
                </a:rPr>
                <a:t xml:space="preserve"> </a:t>
              </a:r>
              <a:r>
                <a:rPr lang="en-US" sz="2400" b="1" dirty="0">
                  <a:solidFill>
                    <a:srgbClr val="660874"/>
                  </a:solidFill>
                  <a:latin typeface="Gill Sans MT"/>
                  <a:ea typeface="Gill Sans MT"/>
                  <a:cs typeface="Gill Sans MT"/>
                </a:rPr>
                <a:t>Shorten paths:</a:t>
              </a:r>
              <a:r>
                <a:rPr lang="en-US" sz="2400" dirty="0">
                  <a:solidFill>
                    <a:srgbClr val="3D3D3D"/>
                  </a:solidFill>
                  <a:latin typeface="Gill Sans MT"/>
                  <a:ea typeface="Gill Sans MT"/>
                  <a:cs typeface="Gill Sans MT"/>
                </a:rPr>
                <a:t xml:space="preserve"> pressure-aware stride links help most under load.</a:t>
              </a:r>
            </a:p>
          </p:txBody>
        </p:sp>
        <p:sp>
          <p:nvSpPr>
            <p:cNvPr id="7" name="TextBox 7"/>
            <p:cNvSpPr txBox="1"/>
            <p:nvPr/>
          </p:nvSpPr>
          <p:spPr>
            <a:xfrm>
              <a:off x="660464" y="4548188"/>
              <a:ext cx="11144539" cy="469392"/>
            </a:xfrm>
            <a:prstGeom prst="rect">
              <a:avLst/>
            </a:prstGeom>
            <a:noFill/>
            <a:ln>
              <a:noFill/>
            </a:ln>
          </p:spPr>
          <p:txBody>
            <a:bodyPr wrap="none" lIns="0" tIns="0" rIns="0" bIns="0" anchor="t" anchorCtr="0">
              <a:spAutoFit/>
            </a:bodyPr>
            <a:lstStyle/>
            <a:p>
              <a:pPr algn="l"/>
              <a:r>
                <a:rPr lang="en-US" sz="2400" dirty="0">
                  <a:solidFill>
                    <a:srgbClr val="660874"/>
                  </a:solidFill>
                  <a:latin typeface="Gill Sans MT"/>
                  <a:ea typeface="Gill Sans MT"/>
                  <a:cs typeface="Gill Sans MT"/>
                </a:rPr>
                <a:t xml:space="preserve"> </a:t>
              </a:r>
              <a:r>
                <a:rPr lang="en-US" sz="2400" b="1" dirty="0">
                  <a:solidFill>
                    <a:srgbClr val="660874"/>
                  </a:solidFill>
                  <a:latin typeface="Gill Sans MT"/>
                  <a:ea typeface="Gill Sans MT"/>
                  <a:cs typeface="Gill Sans MT"/>
                </a:rPr>
                <a:t>Preserve requests:</a:t>
              </a:r>
              <a:r>
                <a:rPr lang="en-US" sz="2400" dirty="0">
                  <a:solidFill>
                    <a:srgbClr val="3D3D3D"/>
                  </a:solidFill>
                  <a:latin typeface="Gill Sans MT"/>
                  <a:ea typeface="Gill Sans MT"/>
                  <a:cs typeface="Gill Sans MT"/>
                </a:rPr>
                <a:t xml:space="preserve"> tensor packets avoid scalar-lane serialization.</a:t>
              </a:r>
            </a:p>
          </p:txBody>
        </p:sp>
        <p:sp>
          <p:nvSpPr>
            <p:cNvPr id="8" name="TextBox 8"/>
            <p:cNvSpPr txBox="1"/>
            <p:nvPr/>
          </p:nvSpPr>
          <p:spPr>
            <a:xfrm>
              <a:off x="971931" y="5108258"/>
              <a:ext cx="9558980" cy="352044"/>
            </a:xfrm>
            <a:prstGeom prst="rect">
              <a:avLst/>
            </a:prstGeom>
            <a:noFill/>
            <a:ln>
              <a:noFill/>
            </a:ln>
          </p:spPr>
          <p:txBody>
            <a:bodyPr wrap="none" lIns="0" tIns="0" rIns="0" bIns="0" anchor="t" anchorCtr="0">
              <a:spAutoFit/>
            </a:bodyPr>
            <a:lstStyle/>
            <a:p>
              <a:pPr algn="l"/>
              <a:r>
                <a:rPr lang="en-US" sz="1800" dirty="0">
                  <a:solidFill>
                    <a:srgbClr val="969FA7"/>
                  </a:solidFill>
                  <a:latin typeface="Gill Sans MT"/>
                  <a:ea typeface="Gill Sans MT"/>
                  <a:cs typeface="Gill Sans MT"/>
                </a:rPr>
                <a:t>Limits: added bypass resources, scaled H100 trace, and atomic fanout coupling.</a:t>
              </a:r>
            </a:p>
          </p:txBody>
        </p:sp>
      </p:grpSp>
      <p:sp>
        <p:nvSpPr>
          <p:cNvPr id="3" name="标题 2"/>
          <p:cNvSpPr/>
          <p:nvPr/>
        </p:nvSpPr>
        <p:spPr>
          <a:xfrm>
            <a:off x="581216" y="434911"/>
            <a:ext cx="10119360" cy="1015174"/>
          </a:xfrm>
          <a:prstGeom prst="rect">
            <a:avLst/>
          </a:prstGeom>
          <a:noFill/>
          <a:ln>
            <a:noFill/>
          </a:ln>
        </p:spPr>
        <p:txBody>
          <a:bodyPr wrap="none" lIns="91440" tIns="294318" rIns="0" bIns="0" anchor="t" anchorCtr="0">
            <a:noAutofit/>
          </a:bodyPr>
          <a:lstStyle/>
          <a:p>
            <a:pPr algn="l"/>
            <a:r>
              <a:rPr lang="en-US" sz="2800" dirty="0">
                <a:solidFill>
                  <a:srgbClr val="FFFFFF"/>
                </a:solidFill>
                <a:latin typeface="Gill Sans MT"/>
                <a:ea typeface="Gill Sans MT"/>
                <a:cs typeface="Gill Sans MT"/>
              </a:rPr>
              <a:t>Takeaway: Expose Collective Structure</a:t>
            </a:r>
          </a:p>
        </p:txBody>
      </p:sp>
    </p:spTree>
    <p:extLst>
      <p:ext uri="{BB962C8B-B14F-4D97-AF65-F5344CB8AC3E}">
        <p14:creationId val="3904319216"/>
      </p:ext>
    </p:extLst>
  </p:cSld>
  <p:clrMapOvr>
    <a:masterClrMapping/>
  </p:clrMapOvr>
</p:sld>
</file>

<file path=ppt/slides/slide11.xml><?xml version="1.0" encoding="utf-8"?>
<p:sld xmlns:a="http://schemas.openxmlformats.org/drawingml/2006/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标题 1"/>
          <p:cNvSpPr/>
          <p:nvPr/>
        </p:nvSpPr>
        <p:spPr>
          <a:xfrm>
            <a:off x="599218" y="1921574"/>
            <a:ext cx="10993564" cy="1961293"/>
          </a:xfrm>
          <a:prstGeom prst="rect">
            <a:avLst/>
          </a:prstGeom>
          <a:noFill/>
          <a:ln>
            <a:noFill/>
          </a:ln>
        </p:spPr>
        <p:txBody>
          <a:bodyPr wrap="none" lIns="0" tIns="706374" rIns="0" bIns="0" anchor="t" anchorCtr="0">
            <a:noAutofit/>
          </a:bodyPr>
          <a:lstStyle/>
          <a:p>
            <a:pPr algn="ctr"/>
            <a:r>
              <a:rPr lang="en-US" sz="3600" dirty="0">
                <a:solidFill>
                  <a:srgbClr val="FFFFFF"/>
                </a:solidFill>
                <a:latin typeface="Gill Sans MT"/>
                <a:ea typeface="Gill Sans MT"/>
                <a:cs typeface="Gill Sans MT"/>
              </a:rPr>
              <a:t>Thank You — Questions?</a:t>
            </a:r>
          </a:p>
        </p:txBody>
      </p:sp>
      <p:sp>
        <p:nvSpPr>
          <p:cNvPr id="3" name="副标题 2"/>
          <p:cNvSpPr/>
          <p:nvPr>
            <p:ph type="subTitle" idx="1"/>
          </p:nvPr>
        </p:nvSpPr>
        <p:spPr>
          <a:xfrm>
            <a:off x="581216" y="4352354"/>
            <a:ext cx="10993564" cy="1341025"/>
          </a:xfrm>
          <a:prstGeom prst="rect">
            <a:avLst/>
          </a:prstGeom>
          <a:noFill/>
          <a:ln>
            <a:noFill/>
          </a:ln>
        </p:spPr>
        <p:txBody>
          <a:bodyPr wrap="none" lIns="0" tIns="45630" rIns="0" bIns="0" anchor="t" anchorCtr="0">
            <a:noAutofit/>
          </a:bodyPr>
          <a:lstStyle/>
          <a:p>
            <a:pPr algn="ctr">
              <a:lnSpc>
                <a:spcPts val="3000"/>
              </a:lnSpc>
            </a:pPr>
            <a:r>
              <a:rPr lang="en-US" sz="2000" dirty="0">
                <a:solidFill>
                  <a:srgbClr val="660874"/>
                </a:solidFill>
                <a:latin typeface="Segoe UI"/>
                <a:ea typeface="Segoe UI"/>
                <a:cs typeface="Segoe UI"/>
              </a:rPr>
              <a:t>Chunyu Liu and Boyan Pu</a:t>
            </a:r>
          </a:p>
          <a:p>
            <a:pPr algn="ctr">
              <a:lnSpc>
                <a:spcPts val="3000"/>
              </a:lnSpc>
            </a:pPr>
            <a:r>
              <a:rPr lang="en-US" sz="2000" dirty="0">
                <a:solidFill>
                  <a:srgbClr val="660874"/>
                </a:solidFill>
                <a:latin typeface="Segoe UI"/>
                <a:ea typeface="Segoe UI"/>
                <a:cs typeface="Segoe UI"/>
              </a:rPr>
              <a:t>Collective-Aware Router Microarchitecture</a:t>
            </a:r>
          </a:p>
        </p:txBody>
      </p:sp>
    </p:spTree>
    <p:extLst>
      <p:ext uri="{BB962C8B-B14F-4D97-AF65-F5344CB8AC3E}">
        <p14:creationId val="1433308298"/>
      </p:ext>
    </p:extLst>
  </p:cSld>
  <p:clrMapOvr>
    <a:masterClrMapping/>
  </p:clrMapOvr>
</p:sld>
</file>

<file path=ppt/theme/theme1.xml><?xml version="1.0" encoding="utf-8"?>
<a:theme xmlns:a="http://schemas.openxmlformats.org/drawingml/2006/main" name="清华简约主题-留边-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5D8C9649-FBE1-4B5B-8258-8A170F9843A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ns1="http://schemas.openxmlformats.org/officeDocument/2006/docPropsVTypes">
  <ns0:Template/>
  <ns0:TotalTime>4706</ns0:TotalTime>
  <ns0:Words>2919</ns0:Words>
  <ns0:Application>Microsoft Macintosh PowerPoint</ns0:Application>
  <ns0:PresentationFormat>宽屏</ns0:PresentationFormat>
  <ns0:Paragraphs>242</ns0:Paragraphs>
  <ns0:Slides>11</ns0:Slides>
  <ns0:Notes>19</ns0:Notes>
  <ns0:HiddenSlides>0</ns0:HiddenSlides>
  <ns0:MMClips>0</ns0:MMClips>
  <ns0:ScaleCrop>false</ns0:ScaleCrop>
  <ns0:HeadingPairs>
    <ns1:vector size="6" baseType="variant">
      <ns1:variant>
        <ns1:lpstr>已用的字体</ns1:lpstr>
      </ns1:variant>
      <ns1:variant>
        <ns1:i4>7</ns1:i4>
      </ns1:variant>
      <ns1:variant>
        <ns1:lpstr>主题</ns1:lpstr>
      </ns1:variant>
      <ns1:variant>
        <ns1:i4>1</ns1:i4>
      </ns1:variant>
      <ns1:variant>
        <ns1:lpstr>幻灯片标题</ns1:lpstr>
      </ns1:variant>
      <ns1:variant>
        <ns1:i4>23</ns1:i4>
      </ns1:variant>
    </ns1:vector>
  </ns0:HeadingPairs>
  <ns0:TitlesOfParts>
    <ns1:vector size="31" baseType="lpstr">
      <ns1:lpstr>-apple-system</ns1:lpstr>
      <ns1:lpstr>等线</ns1:lpstr>
      <ns1:lpstr>微软雅黑</ns1:lpstr>
      <ns1:lpstr>inherit</ns1:lpstr>
      <ns1:lpstr>Arial</ns1:lpstr>
      <ns1:lpstr>Gill Sans MT</ns1:lpstr>
      <ns1:lpstr>Wingdings 2</ns1:lpstr>
      <ns1:lpstr>清华简约主题-留边-16:9</ns1:lpstr>
      <ns1:lpstr>SwingBot: Learning Physical Features from In-hand Tactile Exploration for Dynamic Swing-up Manipulation</ns1:lpstr>
      <ns1:lpstr>目录</ns1:lpstr>
      <ns1:lpstr>Motivation</ns1:lpstr>
      <ns1:lpstr>The Importance and Challenge of Dynamic Manipulation</ns1:lpstr>
      <ns1:lpstr>GOAL: Building a similar tactile-based physical intuition like humans</ns1:lpstr>
      <ns1:lpstr>Why SwingBot? – Comparison with Previous Approaches</ns1:lpstr>
      <ns1:lpstr>Methodology</ns1:lpstr>
      <ns1:lpstr> Overview</ns1:lpstr>
      <ns1:lpstr>Stage1——Sensing: Gelsight sensor</ns1:lpstr>
      <ns1:lpstr>Stage2Part1——Tilting Exploration Actions</ns1:lpstr>
      <ns1:lpstr>Stage2Part2——Shaking Exploration Actions</ns1:lpstr>
      <ns1:lpstr>Stage3——Fusion and Prediction</ns1:lpstr>
      <ns1:lpstr>Data, Training and Inference</ns1:lpstr>
      <ns1:lpstr>Results</ns1:lpstr>
      <ns1:lpstr>Significant performance improvement</ns1:lpstr>
      <ns1:lpstr>Physical Features Distanglement</ns1:lpstr>
      <ns1:lpstr>Task-Oriented Embedding</ns1:lpstr>
      <ns1:lpstr>Breakthroughs Compared with Prior Work</ns1:lpstr>
      <ns1:lpstr>Limitations &amp; Future Work</ns1:lpstr>
      <ns1:lpstr>Limitations</ns1:lpstr>
      <ns1:lpstr> Future Directions</ns1:lpstr>
      <ns1:lpstr>Contribution</ns1:lpstr>
      <ns1:lpstr>Thanks！</ns1:lpstr>
    </ns1:vector>
  </ns0:TitlesOfParts>
  <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MacBook</cp:lastModifiedBy>
  <cp:revision>1203</cp:revision>
  <cp:lastPrinted>2020-04-04T02:50:47Z</cp:lastPrinted>
  <dcterms:created xsi:type="dcterms:W3CDTF">2020-01-04T07:43:38Z</dcterms:created>
  <dcterms:modified xsi:type="dcterms:W3CDTF">2026-09-07T06:00:35Z</dcterms:modified>
</cp:coreProperties>
</file>