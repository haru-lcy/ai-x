
<file path=[Content_Types].xml><?xml version="1.0" encoding="utf-8"?>
<Types xmlns="http://schemas.openxmlformats.org/package/2006/content-types">
  <Default Extension="emf" ContentType="image/x-emf"/>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858" r:id="rId1"/>
  </p:sldMasterIdLst>
  <p:notesMasterIdLst>
    <p:notesMasterId r:id="rId25"/>
  </p:notesMasterIdLst>
  <p:sldIdLst>
    <p:sldId id="256" r:id="rId2"/>
    <p:sldId id="258" r:id="rId3"/>
    <p:sldId id="279" r:id="rId4"/>
    <p:sldId id="273" r:id="rId5"/>
    <p:sldId id="280" r:id="rId6"/>
    <p:sldId id="282" r:id="rId7"/>
    <p:sldId id="281" r:id="rId8"/>
    <p:sldId id="274" r:id="rId9"/>
    <p:sldId id="283" r:id="rId10"/>
    <p:sldId id="275" r:id="rId11"/>
    <p:sldId id="284" r:id="rId12"/>
    <p:sldId id="276" r:id="rId13"/>
    <p:sldId id="277" r:id="rId14"/>
    <p:sldId id="285" r:id="rId15"/>
    <p:sldId id="296" r:id="rId16"/>
    <p:sldId id="297" r:id="rId17"/>
    <p:sldId id="287" r:id="rId18"/>
    <p:sldId id="295" r:id="rId19"/>
    <p:sldId id="290" r:id="rId20"/>
    <p:sldId id="293" r:id="rId21"/>
    <p:sldId id="294" r:id="rId22"/>
    <p:sldId id="278" r:id="rId23"/>
    <p:sldId id="264" r:id="rId2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660874"/>
    <a:srgbClr val="5C307D"/>
    <a:srgbClr val="FEFDFF"/>
    <a:srgbClr val="E1DFE2"/>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0A15C55-8517-42AA-B614-E9B94910E393}" styleName="中度样式 2 - 强调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6E25E649-3F16-4E02-A733-19D2CDBF48F0}" styleName="中度样式 3 - 强调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B301B821-A1FF-4177-AEE7-76D212191A09}" styleName="中度样式 1 - 强调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395"/>
    <p:restoredTop sz="74422"/>
  </p:normalViewPr>
  <p:slideViewPr>
    <p:cSldViewPr snapToGrid="0" snapToObjects="1">
      <p:cViewPr varScale="1">
        <p:scale>
          <a:sx n="93" d="100"/>
          <a:sy n="93" d="100"/>
        </p:scale>
        <p:origin x="1288" y="208"/>
      </p:cViewPr>
      <p:guideLst/>
    </p:cSldViewPr>
  </p:slideViewPr>
  <p:outlineViewPr>
    <p:cViewPr>
      <p:scale>
        <a:sx n="33" d="100"/>
        <a:sy n="33" d="100"/>
      </p:scale>
      <p:origin x="0" y="-11400"/>
    </p:cViewPr>
  </p:outlineViewPr>
  <p:notesTextViewPr>
    <p:cViewPr>
      <p:scale>
        <a:sx n="1" d="1"/>
        <a:sy n="1" d="1"/>
      </p:scale>
      <p:origin x="0" y="0"/>
    </p:cViewPr>
  </p:notesTextViewPr>
  <p:sorterViewPr>
    <p:cViewPr>
      <p:scale>
        <a:sx n="66" d="100"/>
        <a:sy n="66"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DA51940-DB52-3B48-AABB-9C7938529E4E}" type="datetimeFigureOut">
              <a:rPr kumimoji="1" lang="zh-CN" altLang="en-US" smtClean="0"/>
              <a:t>2026/9/7</a:t>
            </a:fld>
            <a:endParaRPr kumimoji="1"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D18717E-F74C-4246-A795-6577BEDC8382}" type="slidenum">
              <a:rPr kumimoji="1" lang="zh-CN" altLang="en-US" smtClean="0"/>
              <a:t>‹#›</a:t>
            </a:fld>
            <a:endParaRPr kumimoji="1" lang="zh-CN" altLang="en-US"/>
          </a:p>
        </p:txBody>
      </p:sp>
    </p:spTree>
    <p:extLst>
      <p:ext uri="{BB962C8B-B14F-4D97-AF65-F5344CB8AC3E}">
        <p14:creationId xmlns:p14="http://schemas.microsoft.com/office/powerpoint/2010/main" val="201529829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dirty="0"/>
          </a:p>
          <a:p>
            <a:pPr marL="0" marR="0" algn="just">
              <a:spcBef>
                <a:spcPts val="300"/>
              </a:spcBef>
              <a:spcAft>
                <a:spcPts val="300"/>
              </a:spcAft>
            </a:pPr>
            <a:r>
              <a:rPr lang="en-US" altLang="zh-CN" sz="1800" b="0" i="0" spc="0" dirty="0">
                <a:solidFill>
                  <a:srgbClr val="333333"/>
                </a:solidFill>
                <a:effectLst/>
                <a:latin typeface="微软雅黑" panose="020B0503020204020204" pitchFamily="34" charset="-122"/>
                <a:ea typeface="微软雅黑" panose="020B0503020204020204" pitchFamily="34" charset="-122"/>
              </a:rPr>
              <a:t>Hello everyone, the paper we introduce today is </a:t>
            </a:r>
            <a:r>
              <a:rPr lang="en-US" altLang="zh-CN" sz="1800" b="0" i="0" spc="0" dirty="0" err="1">
                <a:solidFill>
                  <a:srgbClr val="333333"/>
                </a:solidFill>
                <a:effectLst/>
                <a:latin typeface="微软雅黑" panose="020B0503020204020204" pitchFamily="34" charset="-122"/>
                <a:ea typeface="微软雅黑" panose="020B0503020204020204" pitchFamily="34" charset="-122"/>
              </a:rPr>
              <a:t>SwingBot</a:t>
            </a:r>
            <a:r>
              <a:rPr lang="en-US" altLang="zh-CN" sz="1800" b="0" i="0" spc="0" dirty="0">
                <a:solidFill>
                  <a:srgbClr val="333333"/>
                </a:solidFill>
                <a:effectLst/>
                <a:latin typeface="微软雅黑" panose="020B0503020204020204" pitchFamily="34" charset="-122"/>
                <a:ea typeface="微软雅黑" panose="020B0503020204020204" pitchFamily="34" charset="-122"/>
              </a:rPr>
              <a:t>. </a:t>
            </a:r>
            <a:r>
              <a:rPr lang="en-US" altLang="zh-CN" sz="1800" b="0" i="0" spc="0" dirty="0" err="1">
                <a:solidFill>
                  <a:srgbClr val="333333"/>
                </a:solidFill>
                <a:effectLst/>
                <a:latin typeface="微软雅黑" panose="020B0503020204020204" pitchFamily="34" charset="-122"/>
                <a:ea typeface="微软雅黑" panose="020B0503020204020204" pitchFamily="34" charset="-122"/>
              </a:rPr>
              <a:t>SwingBot</a:t>
            </a:r>
            <a:r>
              <a:rPr lang="en-US" altLang="zh-CN" sz="1800" b="0" i="0" spc="0" dirty="0">
                <a:solidFill>
                  <a:srgbClr val="333333"/>
                </a:solidFill>
                <a:effectLst/>
                <a:latin typeface="微软雅黑" panose="020B0503020204020204" pitchFamily="34" charset="-122"/>
                <a:ea typeface="微软雅黑" panose="020B0503020204020204" pitchFamily="34" charset="-122"/>
              </a:rPr>
              <a:t> can learn physical features from in-hand tactile exploration and do a dynamic swing-up task. </a:t>
            </a:r>
            <a:endParaRPr lang="en-US" altLang="zh-CN" dirty="0">
              <a:effectLst/>
            </a:endParaRPr>
          </a:p>
          <a:p>
            <a:endParaRPr lang="zh-CN" altLang="en-US" dirty="0"/>
          </a:p>
        </p:txBody>
      </p:sp>
      <p:sp>
        <p:nvSpPr>
          <p:cNvPr id="4" name="灯片编号占位符 3"/>
          <p:cNvSpPr>
            <a:spLocks noGrp="1"/>
          </p:cNvSpPr>
          <p:nvPr>
            <p:ph type="sldNum" sz="quarter" idx="5"/>
          </p:nvPr>
        </p:nvSpPr>
        <p:spPr/>
        <p:txBody>
          <a:bodyPr/>
          <a:lstStyle/>
          <a:p>
            <a:fld id="{6D18717E-F74C-4246-A795-6577BEDC8382}" type="slidenum">
              <a:rPr kumimoji="1" lang="zh-CN" altLang="en-US" smtClean="0"/>
              <a:t>1</a:t>
            </a:fld>
            <a:endParaRPr kumimoji="1" lang="zh-CN" altLang="en-US"/>
          </a:p>
        </p:txBody>
      </p:sp>
    </p:spTree>
    <p:extLst>
      <p:ext uri="{BB962C8B-B14F-4D97-AF65-F5344CB8AC3E}">
        <p14:creationId xmlns:p14="http://schemas.microsoft.com/office/powerpoint/2010/main" val="2741964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dirty="0"/>
          </a:p>
          <a:p>
            <a:pPr marL="0" marR="0" algn="just">
              <a:spcBef>
                <a:spcPts val="300"/>
              </a:spcBef>
              <a:spcAft>
                <a:spcPts val="300"/>
              </a:spcAft>
            </a:pPr>
            <a:r>
              <a:rPr lang="en-US" altLang="zh-CN" sz="1800" b="0" i="0" spc="0" dirty="0">
                <a:solidFill>
                  <a:srgbClr val="333333"/>
                </a:solidFill>
                <a:effectLst/>
                <a:latin typeface="微软雅黑" panose="020B0503020204020204" pitchFamily="34" charset="-122"/>
                <a:ea typeface="微软雅黑" panose="020B0503020204020204" pitchFamily="34" charset="-122"/>
              </a:rPr>
              <a:t>We will introduce this work in detail in the four sections as follow.</a:t>
            </a:r>
            <a:endParaRPr lang="en-US" altLang="zh-CN" dirty="0">
              <a:effectLst/>
            </a:endParaRPr>
          </a:p>
          <a:p>
            <a:endParaRPr lang="zh-CN" altLang="en-US" dirty="0"/>
          </a:p>
        </p:txBody>
      </p:sp>
      <p:sp>
        <p:nvSpPr>
          <p:cNvPr id="4" name="灯片编号占位符 3"/>
          <p:cNvSpPr>
            <a:spLocks noGrp="1"/>
          </p:cNvSpPr>
          <p:nvPr>
            <p:ph type="sldNum" sz="quarter" idx="5"/>
          </p:nvPr>
        </p:nvSpPr>
        <p:spPr/>
        <p:txBody>
          <a:bodyPr/>
          <a:lstStyle/>
          <a:p>
            <a:fld id="{6D18717E-F74C-4246-A795-6577BEDC8382}" type="slidenum">
              <a:rPr kumimoji="1" lang="zh-CN" altLang="en-US" smtClean="0"/>
              <a:t>2</a:t>
            </a:fld>
            <a:endParaRPr kumimoji="1" lang="zh-CN" altLang="en-US"/>
          </a:p>
        </p:txBody>
      </p:sp>
    </p:spTree>
    <p:extLst>
      <p:ext uri="{BB962C8B-B14F-4D97-AF65-F5344CB8AC3E}">
        <p14:creationId xmlns:p14="http://schemas.microsoft.com/office/powerpoint/2010/main" val="251713556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en-US" dirty="0"/>
              <a:t>翻页</a:t>
            </a:r>
          </a:p>
        </p:txBody>
      </p:sp>
      <p:sp>
        <p:nvSpPr>
          <p:cNvPr id="4" name="灯片编号占位符 3"/>
          <p:cNvSpPr>
            <a:spLocks noGrp="1"/>
          </p:cNvSpPr>
          <p:nvPr>
            <p:ph type="sldNum" sz="quarter" idx="5"/>
          </p:nvPr>
        </p:nvSpPr>
        <p:spPr/>
        <p:txBody>
          <a:bodyPr/>
          <a:lstStyle/>
          <a:p>
            <a:fld id="{6D18717E-F74C-4246-A795-6577BEDC8382}" type="slidenum">
              <a:rPr kumimoji="1" lang="zh-CN" altLang="en-US" smtClean="0"/>
              <a:t>3</a:t>
            </a:fld>
            <a:endParaRPr kumimoji="1" lang="zh-CN" altLang="en-US"/>
          </a:p>
        </p:txBody>
      </p:sp>
    </p:spTree>
    <p:extLst>
      <p:ext uri="{BB962C8B-B14F-4D97-AF65-F5344CB8AC3E}">
        <p14:creationId xmlns:p14="http://schemas.microsoft.com/office/powerpoint/2010/main" val="228285823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 altLang="zh-CN" sz="1200" b="0" i="0" kern="1200" dirty="0">
                <a:solidFill>
                  <a:schemeClr val="tx1"/>
                </a:solidFill>
                <a:effectLst/>
                <a:latin typeface="+mn-lt"/>
                <a:ea typeface="+mn-ea"/>
                <a:cs typeface="+mn-cs"/>
              </a:rPr>
              <a:t>So, why do we focus on the swinging-up dynamic task? Dynamic task is very common in our daily life. Many of you may spent time spinning pen when you are in middle school. Actually, this is a pretty hard dynamic task. To do a dynamic task successfully, we need to estimate some key physical factors including mass ,center of mass, friction, and moment of inertia. The estimation needs to be accurate, otherwise, a small estimation error may lead to (catastrophic) large differences in results.</a:t>
            </a:r>
            <a:endParaRPr lang="en" altLang="zh-CN" dirty="0">
              <a:effectLst/>
            </a:endParaRPr>
          </a:p>
          <a:p>
            <a:r>
              <a:rPr lang="en" altLang="zh-CN" sz="1200" b="0" i="0" kern="1200" dirty="0">
                <a:solidFill>
                  <a:schemeClr val="tx1"/>
                </a:solidFill>
                <a:effectLst/>
                <a:latin typeface="+mn-lt"/>
                <a:ea typeface="+mn-ea"/>
                <a:cs typeface="+mn-cs"/>
              </a:rPr>
              <a:t>So the problem that we want to solve is : How can robots develop an accurate estimation of these mechanical properties? </a:t>
            </a:r>
            <a:endParaRPr lang="en" altLang="zh-CN" dirty="0">
              <a:effectLst/>
            </a:endParaRPr>
          </a:p>
          <a:p>
            <a:endParaRPr lang="zh-CN" altLang="en-US" dirty="0"/>
          </a:p>
        </p:txBody>
      </p:sp>
      <p:sp>
        <p:nvSpPr>
          <p:cNvPr id="4" name="灯片编号占位符 3"/>
          <p:cNvSpPr>
            <a:spLocks noGrp="1"/>
          </p:cNvSpPr>
          <p:nvPr>
            <p:ph type="sldNum" sz="quarter" idx="5"/>
          </p:nvPr>
        </p:nvSpPr>
        <p:spPr/>
        <p:txBody>
          <a:bodyPr/>
          <a:lstStyle/>
          <a:p>
            <a:fld id="{6D18717E-F74C-4246-A795-6577BEDC8382}" type="slidenum">
              <a:rPr kumimoji="1" lang="zh-CN" altLang="en-US" smtClean="0"/>
              <a:t>4</a:t>
            </a:fld>
            <a:endParaRPr kumimoji="1" lang="zh-CN" altLang="en-US"/>
          </a:p>
        </p:txBody>
      </p:sp>
    </p:spTree>
    <p:extLst>
      <p:ext uri="{BB962C8B-B14F-4D97-AF65-F5344CB8AC3E}">
        <p14:creationId xmlns:p14="http://schemas.microsoft.com/office/powerpoint/2010/main" val="321742968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 altLang="zh-CN" sz="1200" b="0" i="0" kern="1200" dirty="0">
                <a:solidFill>
                  <a:schemeClr val="tx1"/>
                </a:solidFill>
                <a:effectLst/>
                <a:latin typeface="+mn-lt"/>
                <a:ea typeface="+mn-ea"/>
                <a:cs typeface="+mn-cs"/>
              </a:rPr>
              <a:t>To answer this </a:t>
            </a:r>
            <a:r>
              <a:rPr lang="en" altLang="zh-CN" sz="1200" b="0" i="0" kern="1200" dirty="0" err="1">
                <a:solidFill>
                  <a:schemeClr val="tx1"/>
                </a:solidFill>
                <a:effectLst/>
                <a:latin typeface="+mn-lt"/>
                <a:ea typeface="+mn-ea"/>
                <a:cs typeface="+mn-cs"/>
              </a:rPr>
              <a:t>question,let's</a:t>
            </a:r>
            <a:r>
              <a:rPr lang="en" altLang="zh-CN" sz="1200" b="0" i="0" kern="1200" dirty="0">
                <a:solidFill>
                  <a:schemeClr val="tx1"/>
                </a:solidFill>
                <a:effectLst/>
                <a:latin typeface="+mn-lt"/>
                <a:ea typeface="+mn-ea"/>
                <a:cs typeface="+mn-cs"/>
              </a:rPr>
              <a:t> think about how we humans understand the physical world. We intuitively understand how objects behave—not through exact physics equations, but through implicit learning by interacting with the environment. </a:t>
            </a:r>
            <a:endParaRPr lang="en" altLang="zh-CN" dirty="0">
              <a:effectLst/>
            </a:endParaRPr>
          </a:p>
          <a:p>
            <a:r>
              <a:rPr lang="en" altLang="zh-CN" sz="1200" b="0" i="0" kern="1200" dirty="0">
                <a:solidFill>
                  <a:schemeClr val="tx1"/>
                </a:solidFill>
                <a:effectLst/>
                <a:latin typeface="+mn-lt"/>
                <a:ea typeface="+mn-ea"/>
                <a:cs typeface="+mn-cs"/>
              </a:rPr>
              <a:t>For example, we naturally use more effort to toss a small lead ball than a large volleyball—without calculating mass, density or computing complex formulas.</a:t>
            </a:r>
            <a:endParaRPr lang="en" altLang="zh-CN" dirty="0">
              <a:effectLst/>
            </a:endParaRPr>
          </a:p>
          <a:p>
            <a:r>
              <a:rPr lang="en" altLang="zh-CN" sz="1200" b="0" i="0" kern="1200" dirty="0">
                <a:solidFill>
                  <a:schemeClr val="tx1"/>
                </a:solidFill>
                <a:effectLst/>
                <a:latin typeface="+mn-lt"/>
                <a:ea typeface="+mn-ea"/>
                <a:cs typeface="+mn-cs"/>
              </a:rPr>
              <a:t>Our physical understanding comes from multiple senses: vision, sound, and touch. Among them, tactile experience provides one of the richest physical information, like when a </a:t>
            </a:r>
            <a:r>
              <a:rPr lang="en" altLang="zh-CN" sz="1200" b="0" i="0" kern="1200" dirty="0" err="1">
                <a:solidFill>
                  <a:schemeClr val="tx1"/>
                </a:solidFill>
                <a:effectLst/>
                <a:latin typeface="+mn-lt"/>
                <a:ea typeface="+mn-ea"/>
                <a:cs typeface="+mn-cs"/>
              </a:rPr>
              <a:t>kungfu</a:t>
            </a:r>
            <a:r>
              <a:rPr lang="en" altLang="zh-CN" sz="1200" b="0" i="0" kern="1200" dirty="0">
                <a:solidFill>
                  <a:schemeClr val="tx1"/>
                </a:solidFill>
                <a:effectLst/>
                <a:latin typeface="+mn-lt"/>
                <a:ea typeface="+mn-ea"/>
                <a:cs typeface="+mn-cs"/>
              </a:rPr>
              <a:t> master try to adapt to a new weapon, they do not perform a series of measurements on it. Instead, by using it, they develop an estimation of its characteristics. </a:t>
            </a:r>
            <a:endParaRPr lang="en" altLang="zh-CN" dirty="0">
              <a:effectLst/>
            </a:endParaRPr>
          </a:p>
          <a:p>
            <a:r>
              <a:rPr lang="en" altLang="zh-CN" sz="1200" b="0" i="0" kern="1200" dirty="0">
                <a:solidFill>
                  <a:schemeClr val="tx1"/>
                </a:solidFill>
                <a:effectLst/>
                <a:latin typeface="+mn-lt"/>
                <a:ea typeface="+mn-ea"/>
                <a:cs typeface="+mn-cs"/>
              </a:rPr>
              <a:t>So this inspires us to build a similar tactile-based “physical intuition” embedding.</a:t>
            </a:r>
            <a:endParaRPr lang="en" altLang="zh-CN" dirty="0">
              <a:effectLst/>
            </a:endParaRPr>
          </a:p>
          <a:p>
            <a:endParaRPr kumimoji="1" lang="zh-CN" altLang="en-US" dirty="0"/>
          </a:p>
        </p:txBody>
      </p:sp>
      <p:sp>
        <p:nvSpPr>
          <p:cNvPr id="4" name="灯片编号占位符 3"/>
          <p:cNvSpPr>
            <a:spLocks noGrp="1"/>
          </p:cNvSpPr>
          <p:nvPr>
            <p:ph type="sldNum" sz="quarter" idx="5"/>
          </p:nvPr>
        </p:nvSpPr>
        <p:spPr/>
        <p:txBody>
          <a:bodyPr/>
          <a:lstStyle/>
          <a:p>
            <a:fld id="{6D18717E-F74C-4246-A795-6577BEDC8382}" type="slidenum">
              <a:rPr kumimoji="1" lang="zh-CN" altLang="en-US" smtClean="0"/>
              <a:t>5</a:t>
            </a:fld>
            <a:endParaRPr kumimoji="1" lang="zh-CN" altLang="en-US"/>
          </a:p>
        </p:txBody>
      </p:sp>
    </p:spTree>
    <p:extLst>
      <p:ext uri="{BB962C8B-B14F-4D97-AF65-F5344CB8AC3E}">
        <p14:creationId xmlns:p14="http://schemas.microsoft.com/office/powerpoint/2010/main" val="362516691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 altLang="zh-CN" sz="1200" b="0" i="0" kern="1200" dirty="0">
                <a:solidFill>
                  <a:schemeClr val="tx1"/>
                </a:solidFill>
                <a:effectLst/>
                <a:latin typeface="+mn-lt"/>
                <a:ea typeface="+mn-ea"/>
                <a:cs typeface="+mn-cs"/>
              </a:rPr>
              <a:t>This table shows the related works and their limitations: as I said before, many previous work only considers Static/Quasi-Static case, like fetching or holding an object.</a:t>
            </a:r>
            <a:endParaRPr lang="en" altLang="zh-CN" dirty="0">
              <a:effectLst/>
            </a:endParaRPr>
          </a:p>
          <a:p>
            <a:r>
              <a:rPr lang="en" altLang="zh-CN" sz="1200" b="0" i="0" kern="1200" dirty="0">
                <a:solidFill>
                  <a:schemeClr val="tx1"/>
                </a:solidFill>
                <a:effectLst/>
                <a:latin typeface="+mn-lt"/>
                <a:ea typeface="+mn-ea"/>
                <a:cs typeface="+mn-cs"/>
              </a:rPr>
              <a:t>Manually engineered models are not ML-based, and they do not utilize tactile information. So they are lack of generalization.</a:t>
            </a:r>
            <a:endParaRPr lang="en" altLang="zh-CN" dirty="0">
              <a:effectLst/>
            </a:endParaRPr>
          </a:p>
          <a:p>
            <a:r>
              <a:rPr lang="en" altLang="zh-CN" sz="1200" b="0" i="0" kern="1200" dirty="0">
                <a:solidFill>
                  <a:schemeClr val="tx1"/>
                </a:solidFill>
                <a:effectLst/>
                <a:latin typeface="+mn-lt"/>
                <a:ea typeface="+mn-ea"/>
                <a:cs typeface="+mn-cs"/>
              </a:rPr>
              <a:t>There are also some previous works on intuition physics, but they are restricted to vision modal. Also some key factors are very hard to measure by vision, like friction and forces, because the noise is too large for those factors. For example, the resolution is too low to precisely tell what is happening on the contact surfaces. </a:t>
            </a:r>
            <a:endParaRPr lang="en" altLang="zh-CN" dirty="0">
              <a:effectLst/>
            </a:endParaRPr>
          </a:p>
          <a:p>
            <a:r>
              <a:rPr lang="en" altLang="zh-CN" sz="1200" b="0" i="0" kern="1200" dirty="0">
                <a:solidFill>
                  <a:schemeClr val="tx1"/>
                </a:solidFill>
                <a:effectLst/>
                <a:latin typeface="+mn-lt"/>
                <a:ea typeface="+mn-ea"/>
                <a:cs typeface="+mn-cs"/>
              </a:rPr>
              <a:t>So it is hard to measure the forces and the physical properties of the surfaces by only vision. In contrast, in-hand manipulation with tactile sensing provides richer and more direct feedback about contact interactions. This enables accurate estimation of these physical parameters.</a:t>
            </a:r>
            <a:endParaRPr lang="en" altLang="zh-CN" dirty="0">
              <a:effectLst/>
            </a:endParaRPr>
          </a:p>
          <a:p>
            <a:endParaRPr kumimoji="1" lang="zh-CN" altLang="en-US" dirty="0"/>
          </a:p>
        </p:txBody>
      </p:sp>
      <p:sp>
        <p:nvSpPr>
          <p:cNvPr id="4" name="灯片编号占位符 3"/>
          <p:cNvSpPr>
            <a:spLocks noGrp="1"/>
          </p:cNvSpPr>
          <p:nvPr>
            <p:ph type="sldNum" sz="quarter" idx="5"/>
          </p:nvPr>
        </p:nvSpPr>
        <p:spPr/>
        <p:txBody>
          <a:bodyPr/>
          <a:lstStyle/>
          <a:p>
            <a:fld id="{6D18717E-F74C-4246-A795-6577BEDC8382}" type="slidenum">
              <a:rPr kumimoji="1" lang="zh-CN" altLang="en-US" smtClean="0"/>
              <a:t>6</a:t>
            </a:fld>
            <a:endParaRPr kumimoji="1" lang="zh-CN" altLang="en-US"/>
          </a:p>
        </p:txBody>
      </p:sp>
    </p:spTree>
    <p:extLst>
      <p:ext uri="{BB962C8B-B14F-4D97-AF65-F5344CB8AC3E}">
        <p14:creationId xmlns:p14="http://schemas.microsoft.com/office/powerpoint/2010/main" val="167429675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6D18717E-F74C-4246-A795-6577BEDC8382}" type="slidenum">
              <a:rPr kumimoji="1" lang="zh-CN" altLang="en-US" smtClean="0"/>
              <a:t>7</a:t>
            </a:fld>
            <a:endParaRPr kumimoji="1" lang="zh-CN" altLang="en-US"/>
          </a:p>
        </p:txBody>
      </p:sp>
    </p:spTree>
    <p:extLst>
      <p:ext uri="{BB962C8B-B14F-4D97-AF65-F5344CB8AC3E}">
        <p14:creationId xmlns:p14="http://schemas.microsoft.com/office/powerpoint/2010/main" val="405989969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 altLang="zh-CN" sz="1200" b="0" i="0" kern="1200" dirty="0">
                <a:solidFill>
                  <a:schemeClr val="tx1"/>
                </a:solidFill>
                <a:effectLst/>
                <a:latin typeface="+mn-lt"/>
                <a:ea typeface="+mn-ea"/>
                <a:cs typeface="+mn-cs"/>
              </a:rPr>
              <a:t>Here is an overview of the workflow of </a:t>
            </a:r>
            <a:r>
              <a:rPr lang="en" altLang="zh-CN" sz="1200" b="0" i="0" kern="1200" dirty="0" err="1">
                <a:solidFill>
                  <a:schemeClr val="tx1"/>
                </a:solidFill>
                <a:effectLst/>
                <a:latin typeface="+mn-lt"/>
                <a:ea typeface="+mn-ea"/>
                <a:cs typeface="+mn-cs"/>
              </a:rPr>
              <a:t>Swingbot</a:t>
            </a:r>
            <a:r>
              <a:rPr lang="en" altLang="zh-CN" sz="1200" b="0" i="0" kern="1200" dirty="0">
                <a:solidFill>
                  <a:schemeClr val="tx1"/>
                </a:solidFill>
                <a:effectLst/>
                <a:latin typeface="+mn-lt"/>
                <a:ea typeface="+mn-ea"/>
                <a:cs typeface="+mn-cs"/>
              </a:rPr>
              <a:t>. </a:t>
            </a:r>
            <a:endParaRPr lang="en" altLang="zh-CN" dirty="0">
              <a:effectLst/>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 altLang="zh-CN" sz="1200" b="0" i="0" kern="1200" dirty="0">
                <a:solidFill>
                  <a:schemeClr val="tx1"/>
                </a:solidFill>
                <a:effectLst/>
                <a:latin typeface="+mn-lt"/>
                <a:ea typeface="+mn-ea"/>
                <a:cs typeface="+mn-cs"/>
              </a:rPr>
              <a:t>The key of this method is two types of manually designed </a:t>
            </a:r>
            <a:r>
              <a:rPr lang="en" altLang="zh-CN" sz="1200" b="0" i="0" kern="1200" dirty="0" err="1">
                <a:solidFill>
                  <a:schemeClr val="tx1"/>
                </a:solidFill>
                <a:effectLst/>
                <a:latin typeface="+mn-lt"/>
                <a:ea typeface="+mn-ea"/>
                <a:cs typeface="+mn-cs"/>
              </a:rPr>
              <a:t>exploraion</a:t>
            </a:r>
            <a:r>
              <a:rPr lang="en" altLang="zh-CN" sz="1200" b="0" i="0" kern="1200" dirty="0">
                <a:solidFill>
                  <a:schemeClr val="tx1"/>
                </a:solidFill>
                <a:effectLst/>
                <a:latin typeface="+mn-lt"/>
                <a:ea typeface="+mn-ea"/>
                <a:cs typeface="+mn-cs"/>
              </a:rPr>
              <a:t> actions, that is, tilting and shaking.</a:t>
            </a:r>
            <a:endParaRPr lang="en" altLang="zh-CN" dirty="0">
              <a:effectLst/>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 altLang="zh-CN" sz="1200" b="0" i="0" kern="1200" dirty="0" err="1">
                <a:solidFill>
                  <a:schemeClr val="tx1"/>
                </a:solidFill>
                <a:effectLst/>
                <a:latin typeface="+mn-lt"/>
                <a:ea typeface="+mn-ea"/>
                <a:cs typeface="+mn-cs"/>
              </a:rPr>
              <a:t>Gelsight</a:t>
            </a:r>
            <a:r>
              <a:rPr lang="en" altLang="zh-CN" sz="1200" b="0" i="0" kern="1200" dirty="0">
                <a:solidFill>
                  <a:schemeClr val="tx1"/>
                </a:solidFill>
                <a:effectLst/>
                <a:latin typeface="+mn-lt"/>
                <a:ea typeface="+mn-ea"/>
                <a:cs typeface="+mn-cs"/>
              </a:rPr>
              <a:t> is the fundamental sensor to capture tactile information in this model. When facing a new </a:t>
            </a:r>
            <a:r>
              <a:rPr lang="en" altLang="zh-CN" sz="1200" b="0" i="0" kern="1200" dirty="0" err="1">
                <a:solidFill>
                  <a:schemeClr val="tx1"/>
                </a:solidFill>
                <a:effectLst/>
                <a:latin typeface="+mn-lt"/>
                <a:ea typeface="+mn-ea"/>
                <a:cs typeface="+mn-cs"/>
              </a:rPr>
              <a:t>object,we</a:t>
            </a:r>
            <a:r>
              <a:rPr lang="en" altLang="zh-CN" sz="1200" b="0" i="0" kern="1200" dirty="0">
                <a:solidFill>
                  <a:schemeClr val="tx1"/>
                </a:solidFill>
                <a:effectLst/>
                <a:latin typeface="+mn-lt"/>
                <a:ea typeface="+mn-ea"/>
                <a:cs typeface="+mn-cs"/>
              </a:rPr>
              <a:t> tilt and shake the object, and learns a physical embedding </a:t>
            </a:r>
            <a:r>
              <a:rPr lang="en" altLang="zh-CN" sz="1200" b="0" i="0" kern="1200" dirty="0" err="1">
                <a:solidFill>
                  <a:schemeClr val="tx1"/>
                </a:solidFill>
                <a:effectLst/>
                <a:latin typeface="+mn-lt"/>
                <a:ea typeface="+mn-ea"/>
                <a:cs typeface="+mn-cs"/>
              </a:rPr>
              <a:t>repsectively</a:t>
            </a:r>
            <a:r>
              <a:rPr lang="en" altLang="zh-CN" sz="1200" b="0" i="0" kern="1200" dirty="0">
                <a:solidFill>
                  <a:schemeClr val="tx1"/>
                </a:solidFill>
                <a:effectLst/>
                <a:latin typeface="+mn-lt"/>
                <a:ea typeface="+mn-ea"/>
                <a:cs typeface="+mn-cs"/>
              </a:rPr>
              <a:t>. Then the model fuse them into a joint physical feature embedding, which is used by a forward dynamics model to select the action that achieves the desired pose.</a:t>
            </a:r>
            <a:endParaRPr lang="en" altLang="zh-CN" dirty="0">
              <a:effectLst/>
            </a:endParaRPr>
          </a:p>
          <a:p>
            <a:endParaRPr kumimoji="1" lang="zh-CN" altLang="en-US" dirty="0"/>
          </a:p>
        </p:txBody>
      </p:sp>
      <p:sp>
        <p:nvSpPr>
          <p:cNvPr id="4" name="灯片编号占位符 3"/>
          <p:cNvSpPr>
            <a:spLocks noGrp="1"/>
          </p:cNvSpPr>
          <p:nvPr>
            <p:ph type="sldNum" sz="quarter" idx="5"/>
          </p:nvPr>
        </p:nvSpPr>
        <p:spPr/>
        <p:txBody>
          <a:bodyPr/>
          <a:lstStyle/>
          <a:p>
            <a:fld id="{6D18717E-F74C-4246-A795-6577BEDC8382}" type="slidenum">
              <a:rPr kumimoji="1" lang="zh-CN" altLang="en-US" smtClean="0"/>
              <a:t>8</a:t>
            </a:fld>
            <a:endParaRPr kumimoji="1" lang="zh-CN" altLang="en-US"/>
          </a:p>
        </p:txBody>
      </p:sp>
    </p:spTree>
    <p:extLst>
      <p:ext uri="{BB962C8B-B14F-4D97-AF65-F5344CB8AC3E}">
        <p14:creationId xmlns:p14="http://schemas.microsoft.com/office/powerpoint/2010/main" val="339760500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 altLang="zh-CN" sz="1200" b="0" i="0" kern="1200" dirty="0">
                <a:solidFill>
                  <a:schemeClr val="tx1"/>
                </a:solidFill>
                <a:effectLst/>
                <a:latin typeface="+mn-lt"/>
                <a:ea typeface="+mn-ea"/>
                <a:cs typeface="+mn-cs"/>
              </a:rPr>
              <a:t>A key component is the </a:t>
            </a:r>
            <a:r>
              <a:rPr lang="en" altLang="zh-CN" sz="1200" b="0" i="0" kern="1200" dirty="0" err="1">
                <a:solidFill>
                  <a:schemeClr val="tx1"/>
                </a:solidFill>
                <a:effectLst/>
                <a:latin typeface="+mn-lt"/>
                <a:ea typeface="+mn-ea"/>
                <a:cs typeface="+mn-cs"/>
              </a:rPr>
              <a:t>Gelsight</a:t>
            </a:r>
            <a:r>
              <a:rPr lang="en" altLang="zh-CN" sz="1200" b="0" i="0" kern="1200" dirty="0">
                <a:solidFill>
                  <a:schemeClr val="tx1"/>
                </a:solidFill>
                <a:effectLst/>
                <a:latin typeface="+mn-lt"/>
                <a:ea typeface="+mn-ea"/>
                <a:cs typeface="+mn-cs"/>
              </a:rPr>
              <a:t> sensor, playing a role like the hands of humans.</a:t>
            </a:r>
            <a:endParaRPr lang="en" altLang="zh-CN" dirty="0">
              <a:effectLst/>
            </a:endParaRPr>
          </a:p>
          <a:p>
            <a:pPr marL="0" marR="0" indent="0" algn="l" defTabSz="914400" rtl="0" eaLnBrk="1" fontAlgn="auto" latinLnBrk="0" hangingPunct="1">
              <a:lnSpc>
                <a:spcPct val="100000"/>
              </a:lnSpc>
              <a:spcBef>
                <a:spcPts val="0"/>
              </a:spcBef>
              <a:spcAft>
                <a:spcPts val="0"/>
              </a:spcAft>
              <a:buClrTx/>
              <a:buSzTx/>
              <a:buFontTx/>
              <a:buNone/>
              <a:tabLst/>
              <a:defRPr/>
            </a:pPr>
            <a:r>
              <a:rPr lang="en" altLang="zh-CN" sz="1200" b="0" i="0" kern="1200" dirty="0">
                <a:solidFill>
                  <a:schemeClr val="tx1"/>
                </a:solidFill>
                <a:effectLst/>
                <a:latin typeface="+mn-lt"/>
                <a:ea typeface="+mn-ea"/>
                <a:cs typeface="+mn-cs"/>
              </a:rPr>
              <a:t>This sensor uses an internal camera to capture the deformation of a gel pad, providing detailed information about the contacted surface all at very high resolution—including normal and shear forces, as well as torques, which cannot be directly measured by traditional sensors. As shown in the graph, the captured images visually encode the shear forces and torques, which are visualized by displacements of markers as arrows. Unlike previous approaches, this work directly uses the raw information as input, that is, the displacement of the marks. This allows the model to learn and embed the gel’s dynamics and better interpret the physical information. Thus, it avoids the error in directly regressing the mechanical parameters caused by nonlinearity of the gel. </a:t>
            </a:r>
            <a:endParaRPr lang="en" altLang="zh-CN" dirty="0">
              <a:effectLst/>
            </a:endParaRPr>
          </a:p>
          <a:p>
            <a:endParaRPr lang="zh-CN" altLang="en-US" dirty="0"/>
          </a:p>
        </p:txBody>
      </p:sp>
      <p:sp>
        <p:nvSpPr>
          <p:cNvPr id="4" name="灯片编号占位符 3"/>
          <p:cNvSpPr>
            <a:spLocks noGrp="1"/>
          </p:cNvSpPr>
          <p:nvPr>
            <p:ph type="sldNum" sz="quarter" idx="5"/>
          </p:nvPr>
        </p:nvSpPr>
        <p:spPr/>
        <p:txBody>
          <a:bodyPr/>
          <a:lstStyle/>
          <a:p>
            <a:fld id="{6D18717E-F74C-4246-A795-6577BEDC8382}" type="slidenum">
              <a:rPr kumimoji="1" lang="zh-CN" altLang="en-US" smtClean="0"/>
              <a:t>9</a:t>
            </a:fld>
            <a:endParaRPr kumimoji="1" lang="zh-CN" altLang="en-US"/>
          </a:p>
        </p:txBody>
      </p:sp>
    </p:spTree>
    <p:extLst>
      <p:ext uri="{BB962C8B-B14F-4D97-AF65-F5344CB8AC3E}">
        <p14:creationId xmlns:p14="http://schemas.microsoft.com/office/powerpoint/2010/main" val="177158091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 altLang="zh-CN" sz="1200" b="0" i="0" kern="1200" dirty="0">
                <a:solidFill>
                  <a:schemeClr val="tx1"/>
                </a:solidFill>
                <a:effectLst/>
                <a:latin typeface="+mn-lt"/>
                <a:ea typeface="+mn-ea"/>
                <a:cs typeface="+mn-cs"/>
              </a:rPr>
              <a:t>The first part to interact is the tilting exploration actions. In this part, tilting will generate static patterns which embeds force and torque distribution. In this work we tilt the object at two angles: 20 degree and 45 degree. An intuition is that the smaller angle emphasizes parallel displacement, which reveals the mass of the object. The larger angle magnifies the effect of the torque, providing information about the center of mass. In this stage, stable contact provides clean, low-noise signals, making the measurements for mass and </a:t>
            </a:r>
            <a:r>
              <a:rPr lang="en" altLang="zh-CN" sz="1200" b="0" i="0" kern="1200" dirty="0" err="1">
                <a:solidFill>
                  <a:schemeClr val="tx1"/>
                </a:solidFill>
                <a:effectLst/>
                <a:latin typeface="+mn-lt"/>
                <a:ea typeface="+mn-ea"/>
                <a:cs typeface="+mn-cs"/>
              </a:rPr>
              <a:t>CoM</a:t>
            </a:r>
            <a:r>
              <a:rPr lang="en" altLang="zh-CN" sz="1200" b="0" i="0" kern="1200" dirty="0">
                <a:solidFill>
                  <a:schemeClr val="tx1"/>
                </a:solidFill>
                <a:effectLst/>
                <a:latin typeface="+mn-lt"/>
                <a:ea typeface="+mn-ea"/>
                <a:cs typeface="+mn-cs"/>
              </a:rPr>
              <a:t> more robust. Finally, we use a CNN and MLP network to extract the information from the input and returns an embedding representing information about mass and </a:t>
            </a:r>
            <a:r>
              <a:rPr lang="en" altLang="zh-CN" sz="1200" b="0" i="0" kern="1200" dirty="0" err="1">
                <a:solidFill>
                  <a:schemeClr val="tx1"/>
                </a:solidFill>
                <a:effectLst/>
                <a:latin typeface="+mn-lt"/>
                <a:ea typeface="+mn-ea"/>
                <a:cs typeface="+mn-cs"/>
              </a:rPr>
              <a:t>CoM.</a:t>
            </a:r>
            <a:endParaRPr lang="en" altLang="zh-CN" dirty="0">
              <a:effectLst/>
            </a:endParaRPr>
          </a:p>
          <a:p>
            <a:endParaRPr kumimoji="1" lang="zh-CN" altLang="en-US" dirty="0"/>
          </a:p>
          <a:p>
            <a:endParaRPr kumimoji="1" lang="zh-CN" altLang="en-US" dirty="0"/>
          </a:p>
        </p:txBody>
      </p:sp>
      <p:sp>
        <p:nvSpPr>
          <p:cNvPr id="4" name="灯片编号占位符 3"/>
          <p:cNvSpPr>
            <a:spLocks noGrp="1"/>
          </p:cNvSpPr>
          <p:nvPr>
            <p:ph type="sldNum" sz="quarter" idx="5"/>
          </p:nvPr>
        </p:nvSpPr>
        <p:spPr/>
        <p:txBody>
          <a:bodyPr/>
          <a:lstStyle/>
          <a:p>
            <a:fld id="{6D18717E-F74C-4246-A795-6577BEDC8382}" type="slidenum">
              <a:rPr kumimoji="1" lang="zh-CN" altLang="en-US" smtClean="0"/>
              <a:t>10</a:t>
            </a:fld>
            <a:endParaRPr kumimoji="1" lang="zh-CN" altLang="en-US"/>
          </a:p>
        </p:txBody>
      </p:sp>
    </p:spTree>
    <p:extLst>
      <p:ext uri="{BB962C8B-B14F-4D97-AF65-F5344CB8AC3E}">
        <p14:creationId xmlns:p14="http://schemas.microsoft.com/office/powerpoint/2010/main" val="53567787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 altLang="zh-CN" sz="1200" b="0" i="0" kern="1200" dirty="0">
                <a:solidFill>
                  <a:schemeClr val="tx1"/>
                </a:solidFill>
                <a:effectLst/>
                <a:latin typeface="+mn-lt"/>
                <a:ea typeface="+mn-ea"/>
                <a:cs typeface="+mn-cs"/>
              </a:rPr>
              <a:t>The second part---the shaking exploration actions utilize the information we get while carrying out simple dynamic process, which is useful for more complex dynamic manipulation tasks. In this stage, the input is a sequence of tactile frames captured during in-hand shaking, encoding information like friction and momentum of inertia: an intuitive observation is that the mark displacement intensity infers the moment of inertia, and the vibration patterns carry rich information about friction, as demonstrated by a simple analogy: the distinct features like tone and frequency of sound of scratching a blackboard versus sliding a wet finger over glass directly correlate with the frictional properties of the contact surface, just like the picture shows us. To learn the features in this stage, since time is involved, a per-frame CNN is used to extract the information from each frame, and then use LSTM to gather the information, returning an (80-dim) embedding encoding friction and momentum of inertia.</a:t>
            </a:r>
            <a:endParaRPr lang="en" altLang="zh-CN" dirty="0">
              <a:effectLst/>
            </a:endParaRPr>
          </a:p>
          <a:p>
            <a:endParaRPr kumimoji="1" lang="zh-CN" altLang="en-US" dirty="0"/>
          </a:p>
          <a:p>
            <a:endParaRPr kumimoji="1" lang="zh-CN" altLang="en-US" dirty="0"/>
          </a:p>
        </p:txBody>
      </p:sp>
      <p:sp>
        <p:nvSpPr>
          <p:cNvPr id="4" name="灯片编号占位符 3"/>
          <p:cNvSpPr>
            <a:spLocks noGrp="1"/>
          </p:cNvSpPr>
          <p:nvPr>
            <p:ph type="sldNum" sz="quarter" idx="5"/>
          </p:nvPr>
        </p:nvSpPr>
        <p:spPr/>
        <p:txBody>
          <a:bodyPr/>
          <a:lstStyle/>
          <a:p>
            <a:fld id="{6D18717E-F74C-4246-A795-6577BEDC8382}" type="slidenum">
              <a:rPr kumimoji="1" lang="zh-CN" altLang="en-US" smtClean="0"/>
              <a:t>11</a:t>
            </a:fld>
            <a:endParaRPr kumimoji="1" lang="zh-CN" altLang="en-US"/>
          </a:p>
        </p:txBody>
      </p:sp>
    </p:spTree>
    <p:extLst>
      <p:ext uri="{BB962C8B-B14F-4D97-AF65-F5344CB8AC3E}">
        <p14:creationId xmlns:p14="http://schemas.microsoft.com/office/powerpoint/2010/main" val="171047243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 altLang="zh-CN" sz="1200" b="0" i="0" kern="1200" dirty="0">
                <a:solidFill>
                  <a:schemeClr val="tx1"/>
                </a:solidFill>
                <a:effectLst/>
                <a:latin typeface="+mn-lt"/>
                <a:ea typeface="+mn-ea"/>
                <a:cs typeface="+mn-cs"/>
              </a:rPr>
              <a:t>With the information we gather in the two parts---the tilting embedding and the shaking embedding, a fusion network is used to concatenate and process these embeddings to produce a joint physical embedding, and use the joint embedding along with control parameters. to predict final swing angle.</a:t>
            </a:r>
            <a:endParaRPr lang="en" altLang="zh-CN" dirty="0">
              <a:effectLst/>
            </a:endParaRPr>
          </a:p>
          <a:p>
            <a:endParaRPr kumimoji="1" lang="zh-CN" altLang="en-US" dirty="0"/>
          </a:p>
          <a:p>
            <a:endParaRPr kumimoji="1" lang="zh-CN" altLang="en-US" dirty="0"/>
          </a:p>
        </p:txBody>
      </p:sp>
      <p:sp>
        <p:nvSpPr>
          <p:cNvPr id="4" name="灯片编号占位符 3"/>
          <p:cNvSpPr>
            <a:spLocks noGrp="1"/>
          </p:cNvSpPr>
          <p:nvPr>
            <p:ph type="sldNum" sz="quarter" idx="5"/>
          </p:nvPr>
        </p:nvSpPr>
        <p:spPr/>
        <p:txBody>
          <a:bodyPr/>
          <a:lstStyle/>
          <a:p>
            <a:fld id="{6D18717E-F74C-4246-A795-6577BEDC8382}" type="slidenum">
              <a:rPr kumimoji="1" lang="zh-CN" altLang="en-US" smtClean="0"/>
              <a:t>12</a:t>
            </a:fld>
            <a:endParaRPr kumimoji="1" lang="zh-CN" altLang="en-US"/>
          </a:p>
        </p:txBody>
      </p:sp>
    </p:spTree>
    <p:extLst>
      <p:ext uri="{BB962C8B-B14F-4D97-AF65-F5344CB8AC3E}">
        <p14:creationId xmlns:p14="http://schemas.microsoft.com/office/powerpoint/2010/main" val="133591292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 altLang="zh-CN" sz="1200" b="0" i="0" kern="1200" dirty="0">
                <a:solidFill>
                  <a:schemeClr val="tx1"/>
                </a:solidFill>
                <a:effectLst/>
                <a:latin typeface="+mn-lt"/>
                <a:ea typeface="+mn-ea"/>
                <a:cs typeface="+mn-cs"/>
              </a:rPr>
              <a:t>To increase the model generalization, the diversity of training constraints is significant. There are 3 major components: handle, rack, and weight, to change the mass, </a:t>
            </a:r>
            <a:r>
              <a:rPr lang="en" altLang="zh-CN" sz="1200" b="0" i="0" kern="1200" dirty="0" err="1">
                <a:solidFill>
                  <a:schemeClr val="tx1"/>
                </a:solidFill>
                <a:effectLst/>
                <a:latin typeface="+mn-lt"/>
                <a:ea typeface="+mn-ea"/>
                <a:cs typeface="+mn-cs"/>
              </a:rPr>
              <a:t>CoM</a:t>
            </a:r>
            <a:r>
              <a:rPr lang="en" altLang="zh-CN" sz="1200" b="0" i="0" kern="1200" dirty="0">
                <a:solidFill>
                  <a:schemeClr val="tx1"/>
                </a:solidFill>
                <a:effectLst/>
                <a:latin typeface="+mn-lt"/>
                <a:ea typeface="+mn-ea"/>
                <a:cs typeface="+mn-cs"/>
              </a:rPr>
              <a:t>, friction, and inertia of the system. The author collects a dataset of 33 modular objects built from combinations of these 3 components. To collect the training data, for each object the robot does about 50 swing-up trials, in total about 1650 trials, each consisting of exploration actions, action execution, and result recording.</a:t>
            </a:r>
            <a:endParaRPr lang="en" altLang="zh-CN" b="0" dirty="0">
              <a:effectLst/>
            </a:endParaRPr>
          </a:p>
          <a:p>
            <a:r>
              <a:rPr lang="en" altLang="zh-CN" b="0" dirty="0"/>
              <a:t>For training, the authors adopted an end-to-end self-supervised learning approach.</a:t>
            </a:r>
          </a:p>
          <a:p>
            <a:r>
              <a:rPr lang="en" altLang="zh-CN" b="0" dirty="0"/>
              <a:t>The final swing-up angle serves as the supervision signal, and the loss function measures the prediction error between the model’s predicted angle and the actual measured result.</a:t>
            </a:r>
          </a:p>
          <a:p>
            <a:r>
              <a:rPr lang="en" altLang="zh-CN" b="0" dirty="0"/>
              <a:t>During inference, the robot samples a range of control parameters and selects the one whose predicted swing-up angle is closest to the desired target.</a:t>
            </a:r>
          </a:p>
          <a:p>
            <a:endParaRPr kumimoji="1" lang="zh-CN" altLang="en-US" dirty="0"/>
          </a:p>
        </p:txBody>
      </p:sp>
      <p:sp>
        <p:nvSpPr>
          <p:cNvPr id="4" name="灯片编号占位符 3"/>
          <p:cNvSpPr>
            <a:spLocks noGrp="1"/>
          </p:cNvSpPr>
          <p:nvPr>
            <p:ph type="sldNum" sz="quarter" idx="5"/>
          </p:nvPr>
        </p:nvSpPr>
        <p:spPr/>
        <p:txBody>
          <a:bodyPr/>
          <a:lstStyle/>
          <a:p>
            <a:fld id="{6D18717E-F74C-4246-A795-6577BEDC8382}" type="slidenum">
              <a:rPr kumimoji="1" lang="zh-CN" altLang="en-US" smtClean="0"/>
              <a:t>13</a:t>
            </a:fld>
            <a:endParaRPr kumimoji="1" lang="zh-CN" altLang="en-US"/>
          </a:p>
        </p:txBody>
      </p:sp>
    </p:spTree>
    <p:extLst>
      <p:ext uri="{BB962C8B-B14F-4D97-AF65-F5344CB8AC3E}">
        <p14:creationId xmlns:p14="http://schemas.microsoft.com/office/powerpoint/2010/main" val="117757147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 altLang="zh-CN" dirty="0"/>
              <a:t>This table highlights how our model </a:t>
            </a:r>
            <a:r>
              <a:rPr lang="en" altLang="zh-CN" b="1" dirty="0"/>
              <a:t>disentangles physical features</a:t>
            </a:r>
            <a:r>
              <a:rPr lang="en" altLang="zh-CN" dirty="0"/>
              <a:t> and learns distinct physical understanding from different actions.</a:t>
            </a:r>
            <a:endParaRPr lang="en" altLang="zh-CN" sz="1200" b="1" i="0" kern="1200" dirty="0">
              <a:solidFill>
                <a:schemeClr val="tx1"/>
              </a:solidFill>
              <a:effectLst/>
              <a:latin typeface="+mn-lt"/>
              <a:ea typeface="+mn-ea"/>
              <a:cs typeface="+mn-cs"/>
            </a:endParaRPr>
          </a:p>
          <a:p>
            <a:r>
              <a:rPr lang="en" altLang="zh-CN" sz="1200" b="1" i="0" kern="1200" dirty="0">
                <a:solidFill>
                  <a:schemeClr val="tx1"/>
                </a:solidFill>
                <a:effectLst/>
                <a:latin typeface="+mn-lt"/>
                <a:ea typeface="+mn-ea"/>
                <a:cs typeface="+mn-cs"/>
              </a:rPr>
              <a:t>Tilting</a:t>
            </a:r>
            <a:r>
              <a:rPr lang="en" altLang="zh-CN" sz="1200" b="0" i="0" kern="1200" dirty="0">
                <a:solidFill>
                  <a:schemeClr val="tx1"/>
                </a:solidFill>
                <a:effectLst/>
                <a:latin typeface="+mn-lt"/>
                <a:ea typeface="+mn-ea"/>
                <a:cs typeface="+mn-cs"/>
              </a:rPr>
              <a:t> is the expert in </a:t>
            </a:r>
            <a:r>
              <a:rPr lang="en" altLang="zh-CN" sz="1200" b="1" i="0" kern="1200" dirty="0">
                <a:solidFill>
                  <a:schemeClr val="tx1"/>
                </a:solidFill>
                <a:effectLst/>
                <a:latin typeface="+mn-lt"/>
                <a:ea typeface="+mn-ea"/>
                <a:cs typeface="+mn-cs"/>
              </a:rPr>
              <a:t>mass and center of mass</a:t>
            </a:r>
            <a:r>
              <a:rPr lang="en" altLang="zh-CN" sz="1200" b="0" i="0" kern="1200" dirty="0">
                <a:solidFill>
                  <a:schemeClr val="tx1"/>
                </a:solidFill>
                <a:effectLst/>
                <a:latin typeface="+mn-lt"/>
                <a:ea typeface="+mn-ea"/>
                <a:cs typeface="+mn-cs"/>
              </a:rPr>
              <a:t>, with very low error, as it directly measures gravitational torque.</a:t>
            </a:r>
          </a:p>
          <a:p>
            <a:r>
              <a:rPr lang="en" altLang="zh-CN" sz="1200" b="1" i="0" kern="1200" dirty="0">
                <a:solidFill>
                  <a:schemeClr val="tx1"/>
                </a:solidFill>
                <a:effectLst/>
                <a:latin typeface="+mn-lt"/>
                <a:ea typeface="+mn-ea"/>
                <a:cs typeface="+mn-cs"/>
              </a:rPr>
              <a:t>Shaking</a:t>
            </a:r>
            <a:r>
              <a:rPr lang="en" altLang="zh-CN" sz="1200" b="0" i="0" kern="1200" dirty="0">
                <a:solidFill>
                  <a:schemeClr val="tx1"/>
                </a:solidFill>
                <a:effectLst/>
                <a:latin typeface="+mn-lt"/>
                <a:ea typeface="+mn-ea"/>
                <a:cs typeface="+mn-cs"/>
              </a:rPr>
              <a:t> is the </a:t>
            </a:r>
            <a:r>
              <a:rPr lang="en" altLang="zh-CN" sz="1200" b="1" i="0" kern="1200" dirty="0">
                <a:solidFill>
                  <a:schemeClr val="tx1"/>
                </a:solidFill>
                <a:effectLst/>
                <a:latin typeface="+mn-lt"/>
                <a:ea typeface="+mn-ea"/>
                <a:cs typeface="+mn-cs"/>
              </a:rPr>
              <a:t>friction expert</a:t>
            </a:r>
            <a:r>
              <a:rPr lang="en" altLang="zh-CN" sz="1200" b="0" i="0" kern="1200" dirty="0">
                <a:solidFill>
                  <a:schemeClr val="tx1"/>
                </a:solidFill>
                <a:effectLst/>
                <a:latin typeface="+mn-lt"/>
                <a:ea typeface="+mn-ea"/>
                <a:cs typeface="+mn-cs"/>
              </a:rPr>
              <a:t>, with over 90% accuracy, because it directly induces and senses slip.</a:t>
            </a:r>
          </a:p>
          <a:p>
            <a:r>
              <a:rPr lang="en" altLang="zh-CN" sz="1200" b="1" i="0" kern="1200" dirty="0">
                <a:solidFill>
                  <a:schemeClr val="tx1"/>
                </a:solidFill>
                <a:effectLst/>
                <a:latin typeface="+mn-lt"/>
                <a:ea typeface="+mn-ea"/>
                <a:cs typeface="+mn-cs"/>
              </a:rPr>
              <a:t>Second, fusion creates the most robust model.</a:t>
            </a:r>
            <a:br>
              <a:rPr lang="en" altLang="zh-CN" sz="1200" b="0" i="0" kern="1200" dirty="0">
                <a:solidFill>
                  <a:schemeClr val="tx1"/>
                </a:solidFill>
                <a:effectLst/>
                <a:latin typeface="+mn-lt"/>
                <a:ea typeface="+mn-ea"/>
                <a:cs typeface="+mn-cs"/>
              </a:rPr>
            </a:br>
            <a:r>
              <a:rPr lang="en" altLang="zh-CN" sz="1200" b="0" i="0" kern="1200" dirty="0">
                <a:solidFill>
                  <a:schemeClr val="tx1"/>
                </a:solidFill>
                <a:effectLst/>
                <a:latin typeface="+mn-lt"/>
                <a:ea typeface="+mn-ea"/>
                <a:cs typeface="+mn-cs"/>
              </a:rPr>
              <a:t>Our </a:t>
            </a:r>
            <a:r>
              <a:rPr lang="en" altLang="zh-CN" sz="1200" b="1" i="0" kern="1200" dirty="0">
                <a:solidFill>
                  <a:schemeClr val="tx1"/>
                </a:solidFill>
                <a:effectLst/>
                <a:latin typeface="+mn-lt"/>
                <a:ea typeface="+mn-ea"/>
                <a:cs typeface="+mn-cs"/>
              </a:rPr>
              <a:t>Combined</a:t>
            </a:r>
            <a:r>
              <a:rPr lang="en" altLang="zh-CN" sz="1200" b="0" i="0" kern="1200" dirty="0">
                <a:solidFill>
                  <a:schemeClr val="tx1"/>
                </a:solidFill>
                <a:effectLst/>
                <a:latin typeface="+mn-lt"/>
                <a:ea typeface="+mn-ea"/>
                <a:cs typeface="+mn-cs"/>
              </a:rPr>
              <a:t> method delivers the best performance on friction and moment of inertia, and remains highly competitive on all others. This synergy proves that fusion provides a </a:t>
            </a:r>
            <a:r>
              <a:rPr lang="en" altLang="zh-CN" sz="1200" b="1" i="0" kern="1200" dirty="0">
                <a:solidFill>
                  <a:schemeClr val="tx1"/>
                </a:solidFill>
                <a:effectLst/>
                <a:latin typeface="+mn-lt"/>
                <a:ea typeface="+mn-ea"/>
                <a:cs typeface="+mn-cs"/>
              </a:rPr>
              <a:t>more complete physical understanding</a:t>
            </a:r>
            <a:r>
              <a:rPr lang="en" altLang="zh-CN" sz="1200" b="0" i="0" kern="1200" dirty="0">
                <a:solidFill>
                  <a:schemeClr val="tx1"/>
                </a:solidFill>
                <a:effectLst/>
                <a:latin typeface="+mn-lt"/>
                <a:ea typeface="+mn-ea"/>
                <a:cs typeface="+mn-cs"/>
              </a:rPr>
              <a:t> than any single action.</a:t>
            </a:r>
          </a:p>
          <a:p>
            <a:r>
              <a:rPr lang="en" altLang="zh-CN" sz="1200" b="1" i="0" kern="1200" dirty="0">
                <a:solidFill>
                  <a:schemeClr val="tx1"/>
                </a:solidFill>
                <a:effectLst/>
                <a:latin typeface="+mn-lt"/>
                <a:ea typeface="+mn-ea"/>
                <a:cs typeface="+mn-cs"/>
              </a:rPr>
              <a:t>Third, and most importantly, this knowledge is self-taught.</a:t>
            </a:r>
            <a:br>
              <a:rPr lang="en" altLang="zh-CN" sz="1200" b="0" i="0" kern="1200" dirty="0">
                <a:solidFill>
                  <a:schemeClr val="tx1"/>
                </a:solidFill>
                <a:effectLst/>
                <a:latin typeface="+mn-lt"/>
                <a:ea typeface="+mn-ea"/>
                <a:cs typeface="+mn-cs"/>
              </a:rPr>
            </a:br>
            <a:r>
              <a:rPr lang="en" altLang="zh-CN" sz="1200" b="0" i="0" kern="1200" dirty="0">
                <a:solidFill>
                  <a:schemeClr val="tx1"/>
                </a:solidFill>
                <a:effectLst/>
                <a:latin typeface="+mn-lt"/>
                <a:ea typeface="+mn-ea"/>
                <a:cs typeface="+mn-cs"/>
              </a:rPr>
              <a:t>Our model was </a:t>
            </a:r>
            <a:r>
              <a:rPr lang="en" altLang="zh-CN" sz="1200" b="1" i="0" kern="1200" dirty="0">
                <a:solidFill>
                  <a:schemeClr val="tx1"/>
                </a:solidFill>
                <a:effectLst/>
                <a:latin typeface="+mn-lt"/>
                <a:ea typeface="+mn-ea"/>
                <a:cs typeface="+mn-cs"/>
              </a:rPr>
              <a:t>never directly trained</a:t>
            </a:r>
            <a:r>
              <a:rPr lang="en" altLang="zh-CN" sz="1200" b="0" i="0" kern="1200" dirty="0">
                <a:solidFill>
                  <a:schemeClr val="tx1"/>
                </a:solidFill>
                <a:effectLst/>
                <a:latin typeface="+mn-lt"/>
                <a:ea typeface="+mn-ea"/>
                <a:cs typeface="+mn-cs"/>
              </a:rPr>
              <a:t> on the true values of these physical properties. It learned these concepts </a:t>
            </a:r>
            <a:r>
              <a:rPr lang="en" altLang="zh-CN" sz="1200" b="1" i="0" kern="1200" dirty="0">
                <a:solidFill>
                  <a:schemeClr val="tx1"/>
                </a:solidFill>
                <a:effectLst/>
                <a:latin typeface="+mn-lt"/>
                <a:ea typeface="+mn-ea"/>
                <a:cs typeface="+mn-cs"/>
              </a:rPr>
              <a:t>unsupervised</a:t>
            </a:r>
            <a:r>
              <a:rPr lang="en" altLang="zh-CN" sz="1200" b="0" i="0" kern="1200" dirty="0">
                <a:solidFill>
                  <a:schemeClr val="tx1"/>
                </a:solidFill>
                <a:effectLst/>
                <a:latin typeface="+mn-lt"/>
                <a:ea typeface="+mn-ea"/>
                <a:cs typeface="+mn-cs"/>
              </a:rPr>
              <a:t>, purely by predicting the swing angle. This demonstrates the power and efficiency of our task-driven approach."</a:t>
            </a:r>
          </a:p>
          <a:p>
            <a:br>
              <a:rPr lang="en" altLang="zh-CN" dirty="0"/>
            </a:br>
            <a:endParaRPr kumimoji="1" lang="zh-CN" altLang="en-US" dirty="0"/>
          </a:p>
        </p:txBody>
      </p:sp>
      <p:sp>
        <p:nvSpPr>
          <p:cNvPr id="4" name="灯片编号占位符 3"/>
          <p:cNvSpPr>
            <a:spLocks noGrp="1"/>
          </p:cNvSpPr>
          <p:nvPr>
            <p:ph type="sldNum" sz="quarter" idx="5"/>
          </p:nvPr>
        </p:nvSpPr>
        <p:spPr/>
        <p:txBody>
          <a:bodyPr/>
          <a:lstStyle/>
          <a:p>
            <a:fld id="{6D18717E-F74C-4246-A795-6577BEDC8382}" type="slidenum">
              <a:rPr kumimoji="1" lang="zh-CN" altLang="en-US" smtClean="0"/>
              <a:t>16</a:t>
            </a:fld>
            <a:endParaRPr kumimoji="1" lang="zh-CN" altLang="en-US"/>
          </a:p>
        </p:txBody>
      </p:sp>
    </p:spTree>
    <p:extLst>
      <p:ext uri="{BB962C8B-B14F-4D97-AF65-F5344CB8AC3E}">
        <p14:creationId xmlns:p14="http://schemas.microsoft.com/office/powerpoint/2010/main" val="239213383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 altLang="zh-CN" sz="1200" b="0" i="0" kern="1200" dirty="0">
                <a:solidFill>
                  <a:schemeClr val="tx1"/>
                </a:solidFill>
                <a:effectLst/>
                <a:latin typeface="+mn-lt"/>
                <a:ea typeface="+mn-ea"/>
                <a:cs typeface="+mn-cs"/>
              </a:rPr>
              <a:t>PCA shows that object with similar dynamics cluster together in embedding space, , as shown in graph. This may allow fast policy transfer across objects with similar mechanical properties -the robot can infer good control parameters for new objects with similar embeddings.</a:t>
            </a:r>
            <a:endParaRPr lang="en" altLang="zh-CN" dirty="0">
              <a:effectLst/>
            </a:endParaRPr>
          </a:p>
          <a:p>
            <a:endParaRPr kumimoji="1" lang="zh-CN" altLang="en-US" dirty="0"/>
          </a:p>
        </p:txBody>
      </p:sp>
      <p:sp>
        <p:nvSpPr>
          <p:cNvPr id="4" name="灯片编号占位符 3"/>
          <p:cNvSpPr>
            <a:spLocks noGrp="1"/>
          </p:cNvSpPr>
          <p:nvPr>
            <p:ph type="sldNum" sz="quarter" idx="5"/>
          </p:nvPr>
        </p:nvSpPr>
        <p:spPr/>
        <p:txBody>
          <a:bodyPr/>
          <a:lstStyle/>
          <a:p>
            <a:fld id="{6D18717E-F74C-4246-A795-6577BEDC8382}" type="slidenum">
              <a:rPr kumimoji="1" lang="zh-CN" altLang="en-US" smtClean="0"/>
              <a:t>17</a:t>
            </a:fld>
            <a:endParaRPr kumimoji="1" lang="zh-CN" altLang="en-US"/>
          </a:p>
        </p:txBody>
      </p:sp>
    </p:spTree>
    <p:extLst>
      <p:ext uri="{BB962C8B-B14F-4D97-AF65-F5344CB8AC3E}">
        <p14:creationId xmlns:p14="http://schemas.microsoft.com/office/powerpoint/2010/main" val="404107041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 altLang="zh-CN" sz="1200" b="0" i="0" kern="1200" dirty="0">
                <a:solidFill>
                  <a:schemeClr val="tx1"/>
                </a:solidFill>
                <a:effectLst/>
                <a:latin typeface="+mn-lt"/>
                <a:ea typeface="+mn-ea"/>
                <a:cs typeface="+mn-cs"/>
              </a:rPr>
              <a:t>The main contributions of this work are the followings.</a:t>
            </a:r>
            <a:endParaRPr lang="en" altLang="zh-CN" dirty="0">
              <a:effectLst/>
            </a:endParaRPr>
          </a:p>
          <a:p>
            <a:r>
              <a:rPr lang="en" altLang="zh-CN" sz="1200" b="0" i="0" kern="1200" dirty="0">
                <a:solidFill>
                  <a:schemeClr val="tx1"/>
                </a:solidFill>
                <a:effectLst/>
                <a:latin typeface="+mn-lt"/>
                <a:ea typeface="+mn-ea"/>
                <a:cs typeface="+mn-cs"/>
              </a:rPr>
              <a:t>First, it’s the first approach that uses tactile-based physical embeddings for dynamic manipulation tasks.</a:t>
            </a:r>
            <a:endParaRPr lang="en" altLang="zh-CN" dirty="0">
              <a:effectLst/>
            </a:endParaRPr>
          </a:p>
          <a:p>
            <a:r>
              <a:rPr lang="en" altLang="zh-CN" sz="1200" b="0" i="0" kern="1200" dirty="0">
                <a:solidFill>
                  <a:schemeClr val="tx1"/>
                </a:solidFill>
                <a:effectLst/>
                <a:latin typeface="+mn-lt"/>
                <a:ea typeface="+mn-ea"/>
                <a:cs typeface="+mn-cs"/>
              </a:rPr>
              <a:t>Second, it avoids explicit physics modeling, making the method more generalizable and robust across different scenarios.</a:t>
            </a:r>
            <a:endParaRPr lang="en" altLang="zh-CN" dirty="0">
              <a:effectLst/>
            </a:endParaRPr>
          </a:p>
          <a:p>
            <a:endParaRPr kumimoji="1" lang="zh-CN" altLang="en-US" dirty="0"/>
          </a:p>
        </p:txBody>
      </p:sp>
      <p:sp>
        <p:nvSpPr>
          <p:cNvPr id="4" name="灯片编号占位符 3"/>
          <p:cNvSpPr>
            <a:spLocks noGrp="1"/>
          </p:cNvSpPr>
          <p:nvPr>
            <p:ph type="sldNum" sz="quarter" idx="5"/>
          </p:nvPr>
        </p:nvSpPr>
        <p:spPr/>
        <p:txBody>
          <a:bodyPr/>
          <a:lstStyle/>
          <a:p>
            <a:fld id="{6D18717E-F74C-4246-A795-6577BEDC8382}" type="slidenum">
              <a:rPr kumimoji="1" lang="zh-CN" altLang="en-US" smtClean="0"/>
              <a:t>18</a:t>
            </a:fld>
            <a:endParaRPr kumimoji="1" lang="zh-CN" altLang="en-US"/>
          </a:p>
        </p:txBody>
      </p:sp>
    </p:spTree>
    <p:extLst>
      <p:ext uri="{BB962C8B-B14F-4D97-AF65-F5344CB8AC3E}">
        <p14:creationId xmlns:p14="http://schemas.microsoft.com/office/powerpoint/2010/main" val="215906548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6D18717E-F74C-4246-A795-6577BEDC8382}" type="slidenum">
              <a:rPr kumimoji="1" lang="zh-CN" altLang="en-US" smtClean="0"/>
              <a:t>19</a:t>
            </a:fld>
            <a:endParaRPr kumimoji="1" lang="zh-CN" altLang="en-US"/>
          </a:p>
        </p:txBody>
      </p:sp>
    </p:spTree>
    <p:extLst>
      <p:ext uri="{BB962C8B-B14F-4D97-AF65-F5344CB8AC3E}">
        <p14:creationId xmlns:p14="http://schemas.microsoft.com/office/powerpoint/2010/main" val="121319468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 altLang="zh-CN" sz="1200" b="0" i="0" kern="1200" dirty="0">
                <a:solidFill>
                  <a:schemeClr val="tx1"/>
                </a:solidFill>
                <a:effectLst/>
                <a:latin typeface="+mn-lt"/>
                <a:ea typeface="+mn-ea"/>
                <a:cs typeface="+mn-cs"/>
              </a:rPr>
              <a:t>There are still several limitations in our current approach.</a:t>
            </a:r>
            <a:endParaRPr lang="en" altLang="zh-CN" dirty="0">
              <a:effectLst/>
            </a:endParaRPr>
          </a:p>
          <a:p>
            <a:r>
              <a:rPr lang="en" altLang="zh-CN" sz="1200" b="0" i="0" kern="1200" dirty="0">
                <a:solidFill>
                  <a:schemeClr val="tx1"/>
                </a:solidFill>
                <a:effectLst/>
                <a:latin typeface="+mn-lt"/>
                <a:ea typeface="+mn-ea"/>
                <a:cs typeface="+mn-cs"/>
              </a:rPr>
              <a:t>First, the exploration actions are manually designed, such as tilting and shaking.</a:t>
            </a:r>
            <a:endParaRPr lang="en" altLang="zh-CN" dirty="0">
              <a:effectLst/>
            </a:endParaRPr>
          </a:p>
          <a:p>
            <a:r>
              <a:rPr lang="en" altLang="zh-CN" sz="1200" b="0" i="0" kern="1200" dirty="0">
                <a:solidFill>
                  <a:schemeClr val="tx1"/>
                </a:solidFill>
                <a:effectLst/>
                <a:latin typeface="+mn-lt"/>
                <a:ea typeface="+mn-ea"/>
                <a:cs typeface="+mn-cs"/>
              </a:rPr>
              <a:t>The robot does not yet learn how to explore objects by itself, which limits adaptability and prevents discovery of more efficient strategies.</a:t>
            </a:r>
            <a:endParaRPr lang="en" altLang="zh-CN" dirty="0">
              <a:effectLst/>
            </a:endParaRPr>
          </a:p>
          <a:p>
            <a:r>
              <a:rPr lang="en" altLang="zh-CN" sz="1200" b="0" i="0" kern="1200" dirty="0">
                <a:solidFill>
                  <a:schemeClr val="tx1"/>
                </a:solidFill>
                <a:effectLst/>
                <a:latin typeface="+mn-lt"/>
                <a:ea typeface="+mn-ea"/>
                <a:cs typeface="+mn-cs"/>
              </a:rPr>
              <a:t>Second, the method is too task-specific, since it is evaluated only on the swing-up manipulation.</a:t>
            </a:r>
            <a:endParaRPr lang="en" altLang="zh-CN" dirty="0">
              <a:effectLst/>
            </a:endParaRPr>
          </a:p>
          <a:p>
            <a:r>
              <a:rPr lang="en" altLang="zh-CN" sz="1200" b="0" i="0" kern="1200" dirty="0">
                <a:solidFill>
                  <a:schemeClr val="tx1"/>
                </a:solidFill>
                <a:effectLst/>
                <a:latin typeface="+mn-lt"/>
                <a:ea typeface="+mn-ea"/>
                <a:cs typeface="+mn-cs"/>
              </a:rPr>
              <a:t>It remains unclear whether the learned physical embeddings would generalize to other dynamic manipulation tasks like throwing or regrasping.</a:t>
            </a:r>
          </a:p>
          <a:p>
            <a:r>
              <a:rPr lang="en" altLang="zh-CN" sz="1200" b="0" i="0" kern="1200" dirty="0">
                <a:solidFill>
                  <a:schemeClr val="tx1"/>
                </a:solidFill>
                <a:effectLst/>
                <a:latin typeface="+mn-lt"/>
                <a:ea typeface="+mn-ea"/>
                <a:cs typeface="+mn-cs"/>
              </a:rPr>
              <a:t>Third</a:t>
            </a:r>
            <a:r>
              <a:rPr lang="zh-CN" altLang="en-US" sz="1200" b="0" i="0" kern="1200" dirty="0">
                <a:solidFill>
                  <a:schemeClr val="tx1"/>
                </a:solidFill>
                <a:effectLst/>
                <a:latin typeface="+mn-lt"/>
                <a:ea typeface="+mn-ea"/>
                <a:cs typeface="+mn-cs"/>
              </a:rPr>
              <a:t>，</a:t>
            </a:r>
            <a:r>
              <a:rPr lang="en" altLang="zh-CN" sz="1200" b="0" i="0" kern="1200" dirty="0">
                <a:solidFill>
                  <a:schemeClr val="tx1"/>
                </a:solidFill>
                <a:effectLst/>
                <a:latin typeface="+mn-lt"/>
                <a:ea typeface="+mn-ea"/>
                <a:cs typeface="+mn-cs"/>
              </a:rPr>
              <a:t>The linear and rotational movements of the arm are predefined as well as the timing of gripper tightening. The robot only selects how much the gripper loosens at the impulse.</a:t>
            </a:r>
            <a:endParaRPr lang="en" altLang="zh-CN" dirty="0">
              <a:effectLst/>
            </a:endParaRPr>
          </a:p>
          <a:p>
            <a:r>
              <a:rPr lang="en" altLang="zh-CN" sz="1200" b="0" i="0" kern="1200" dirty="0">
                <a:solidFill>
                  <a:schemeClr val="tx1"/>
                </a:solidFill>
                <a:effectLst/>
                <a:latin typeface="+mn-lt"/>
                <a:ea typeface="+mn-ea"/>
                <a:cs typeface="+mn-cs"/>
              </a:rPr>
              <a:t>Also</a:t>
            </a:r>
            <a:r>
              <a:rPr lang="zh-CN" altLang="en-US" sz="1200" b="0" i="0" kern="1200" dirty="0">
                <a:solidFill>
                  <a:schemeClr val="tx1"/>
                </a:solidFill>
                <a:effectLst/>
                <a:latin typeface="+mn-lt"/>
                <a:ea typeface="+mn-ea"/>
                <a:cs typeface="+mn-cs"/>
              </a:rPr>
              <a:t>，</a:t>
            </a:r>
            <a:r>
              <a:rPr lang="en" altLang="zh-CN" sz="1200" b="0" i="0" kern="1200" dirty="0">
                <a:solidFill>
                  <a:schemeClr val="tx1"/>
                </a:solidFill>
                <a:effectLst/>
                <a:latin typeface="+mn-lt"/>
                <a:ea typeface="+mn-ea"/>
                <a:cs typeface="+mn-cs"/>
              </a:rPr>
              <a:t> the system shows a strong dependence on the specific hardware, including the robot arm and the </a:t>
            </a:r>
            <a:r>
              <a:rPr lang="en" altLang="zh-CN" sz="1200" b="0" i="0" kern="1200" dirty="0" err="1">
                <a:solidFill>
                  <a:schemeClr val="tx1"/>
                </a:solidFill>
                <a:effectLst/>
                <a:latin typeface="+mn-lt"/>
                <a:ea typeface="+mn-ea"/>
                <a:cs typeface="+mn-cs"/>
              </a:rPr>
              <a:t>GelSight</a:t>
            </a:r>
            <a:r>
              <a:rPr lang="en" altLang="zh-CN" sz="1200" b="0" i="0" kern="1200" dirty="0">
                <a:solidFill>
                  <a:schemeClr val="tx1"/>
                </a:solidFill>
                <a:effectLst/>
                <a:latin typeface="+mn-lt"/>
                <a:ea typeface="+mn-ea"/>
                <a:cs typeface="+mn-cs"/>
              </a:rPr>
              <a:t> tactile sensor.</a:t>
            </a:r>
            <a:endParaRPr lang="en" altLang="zh-CN" dirty="0">
              <a:effectLst/>
            </a:endParaRPr>
          </a:p>
          <a:p>
            <a:r>
              <a:rPr lang="en" altLang="zh-CN" sz="1200" b="0" i="0" kern="1200" dirty="0">
                <a:solidFill>
                  <a:schemeClr val="tx1"/>
                </a:solidFill>
                <a:effectLst/>
                <a:latin typeface="+mn-lt"/>
                <a:ea typeface="+mn-ea"/>
                <a:cs typeface="+mn-cs"/>
              </a:rPr>
              <a:t>Finally, there is a data limitation.</a:t>
            </a:r>
            <a:endParaRPr lang="en" altLang="zh-CN" dirty="0">
              <a:effectLst/>
            </a:endParaRPr>
          </a:p>
          <a:p>
            <a:r>
              <a:rPr lang="en" altLang="zh-CN" sz="1200" b="0" i="0" kern="1200" dirty="0">
                <a:solidFill>
                  <a:schemeClr val="tx1"/>
                </a:solidFill>
                <a:effectLst/>
                <a:latin typeface="+mn-lt"/>
                <a:ea typeface="+mn-ea"/>
                <a:cs typeface="+mn-cs"/>
              </a:rPr>
              <a:t>The dataset used for training is small and lacks diversity, which restricts the model’s ability to generalize to new or unseen objects.</a:t>
            </a:r>
            <a:endParaRPr lang="en" altLang="zh-CN" dirty="0">
              <a:effectLst/>
            </a:endParaRPr>
          </a:p>
          <a:p>
            <a:endParaRPr kumimoji="1" lang="zh-CN" altLang="en-US" dirty="0"/>
          </a:p>
        </p:txBody>
      </p:sp>
      <p:sp>
        <p:nvSpPr>
          <p:cNvPr id="4" name="灯片编号占位符 3"/>
          <p:cNvSpPr>
            <a:spLocks noGrp="1"/>
          </p:cNvSpPr>
          <p:nvPr>
            <p:ph type="sldNum" sz="quarter" idx="5"/>
          </p:nvPr>
        </p:nvSpPr>
        <p:spPr/>
        <p:txBody>
          <a:bodyPr/>
          <a:lstStyle/>
          <a:p>
            <a:fld id="{6D18717E-F74C-4246-A795-6577BEDC8382}" type="slidenum">
              <a:rPr kumimoji="1" lang="zh-CN" altLang="en-US" smtClean="0"/>
              <a:t>20</a:t>
            </a:fld>
            <a:endParaRPr kumimoji="1" lang="zh-CN" altLang="en-US"/>
          </a:p>
        </p:txBody>
      </p:sp>
    </p:spTree>
    <p:extLst>
      <p:ext uri="{BB962C8B-B14F-4D97-AF65-F5344CB8AC3E}">
        <p14:creationId xmlns:p14="http://schemas.microsoft.com/office/powerpoint/2010/main" val="25928566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b="1" i="0" kern="1200" dirty="0">
                <a:solidFill>
                  <a:schemeClr val="tx1"/>
                </a:solidFill>
                <a:effectLst/>
                <a:latin typeface="+mn-lt"/>
                <a:ea typeface="+mn-ea"/>
                <a:cs typeface="+mn-cs"/>
              </a:rPr>
              <a:t>First</a:t>
            </a:r>
            <a:r>
              <a:rPr lang="en-US" altLang="zh-CN" sz="1200" b="0" i="0" kern="1200" dirty="0">
                <a:solidFill>
                  <a:schemeClr val="tx1"/>
                </a:solidFill>
                <a:effectLst/>
                <a:latin typeface="+mn-lt"/>
                <a:ea typeface="+mn-ea"/>
                <a:cs typeface="+mn-cs"/>
              </a:rPr>
              <a:t>, we can enable </a:t>
            </a:r>
            <a:r>
              <a:rPr lang="en-US" altLang="zh-CN" sz="1200" b="1" i="0" kern="1200" dirty="0">
                <a:solidFill>
                  <a:schemeClr val="tx1"/>
                </a:solidFill>
                <a:effectLst/>
                <a:latin typeface="+mn-lt"/>
                <a:ea typeface="+mn-ea"/>
                <a:cs typeface="+mn-cs"/>
              </a:rPr>
              <a:t>autonomous exploration</a:t>
            </a:r>
            <a:r>
              <a:rPr lang="en-US" altLang="zh-CN" sz="1200" b="0" i="0" kern="1200" dirty="0">
                <a:solidFill>
                  <a:schemeClr val="tx1"/>
                </a:solidFill>
                <a:effectLst/>
                <a:latin typeface="+mn-lt"/>
                <a:ea typeface="+mn-ea"/>
                <a:cs typeface="+mn-cs"/>
              </a:rPr>
              <a:t>.</a:t>
            </a:r>
          </a:p>
          <a:p>
            <a:r>
              <a:rPr lang="en-US" altLang="zh-CN" sz="1200" b="0" i="0" kern="1200" dirty="0">
                <a:solidFill>
                  <a:schemeClr val="tx1"/>
                </a:solidFill>
                <a:effectLst/>
                <a:latin typeface="+mn-lt"/>
                <a:ea typeface="+mn-ea"/>
                <a:cs typeface="+mn-cs"/>
              </a:rPr>
              <a:t>Instead of relying on manually designed actions like tilting and shaking, the robot should learn how to explore by itself, selecting the optimal motions to understand an object’s physical properties.</a:t>
            </a:r>
          </a:p>
          <a:p>
            <a:r>
              <a:rPr lang="en-US" altLang="zh-CN" sz="1200" b="1" i="0" kern="1200" dirty="0">
                <a:solidFill>
                  <a:schemeClr val="tx1"/>
                </a:solidFill>
                <a:effectLst/>
                <a:latin typeface="+mn-lt"/>
                <a:ea typeface="+mn-ea"/>
                <a:cs typeface="+mn-cs"/>
              </a:rPr>
              <a:t>Second</a:t>
            </a:r>
            <a:r>
              <a:rPr lang="en-US" altLang="zh-CN" sz="1200" b="0" i="0" kern="1200" dirty="0">
                <a:solidFill>
                  <a:schemeClr val="tx1"/>
                </a:solidFill>
                <a:effectLst/>
                <a:latin typeface="+mn-lt"/>
                <a:ea typeface="+mn-ea"/>
                <a:cs typeface="+mn-cs"/>
              </a:rPr>
              <a:t>, we aim to study </a:t>
            </a:r>
            <a:r>
              <a:rPr lang="en-US" altLang="zh-CN" sz="1200" b="1" i="0" kern="1200" dirty="0">
                <a:solidFill>
                  <a:schemeClr val="tx1"/>
                </a:solidFill>
                <a:effectLst/>
                <a:latin typeface="+mn-lt"/>
                <a:ea typeface="+mn-ea"/>
                <a:cs typeface="+mn-cs"/>
              </a:rPr>
              <a:t>cross-task transferability</a:t>
            </a:r>
            <a:r>
              <a:rPr lang="en-US" altLang="zh-CN" sz="1200" b="0" i="0" kern="1200" dirty="0">
                <a:solidFill>
                  <a:schemeClr val="tx1"/>
                </a:solidFill>
                <a:effectLst/>
                <a:latin typeface="+mn-lt"/>
                <a:ea typeface="+mn-ea"/>
                <a:cs typeface="+mn-cs"/>
              </a:rPr>
              <a:t>.</a:t>
            </a:r>
          </a:p>
          <a:p>
            <a:r>
              <a:rPr lang="en-US" altLang="zh-CN" sz="1200" b="0" i="0" kern="1200" dirty="0">
                <a:solidFill>
                  <a:schemeClr val="tx1"/>
                </a:solidFill>
                <a:effectLst/>
                <a:latin typeface="+mn-lt"/>
                <a:ea typeface="+mn-ea"/>
                <a:cs typeface="+mn-cs"/>
              </a:rPr>
              <a:t>Currently, the embedding is trained only for the swing-up task.</a:t>
            </a:r>
          </a:p>
          <a:p>
            <a:r>
              <a:rPr lang="en-US" altLang="zh-CN" sz="1200" b="0" i="0" kern="1200" dirty="0">
                <a:solidFill>
                  <a:schemeClr val="tx1"/>
                </a:solidFill>
                <a:effectLst/>
                <a:latin typeface="+mn-lt"/>
                <a:ea typeface="+mn-ea"/>
                <a:cs typeface="+mn-cs"/>
              </a:rPr>
              <a:t>Future work will test whether this learned tactile representation can be transferred to other manipulation tasks such as </a:t>
            </a:r>
            <a:r>
              <a:rPr lang="en-US" altLang="zh-CN" sz="1200" b="1" i="0" kern="1200" dirty="0">
                <a:solidFill>
                  <a:schemeClr val="tx1"/>
                </a:solidFill>
                <a:effectLst/>
                <a:latin typeface="+mn-lt"/>
                <a:ea typeface="+mn-ea"/>
                <a:cs typeface="+mn-cs"/>
              </a:rPr>
              <a:t>throwing</a:t>
            </a:r>
            <a:r>
              <a:rPr lang="en-US" altLang="zh-CN" sz="1200" b="0" i="0" kern="1200" dirty="0">
                <a:solidFill>
                  <a:schemeClr val="tx1"/>
                </a:solidFill>
                <a:effectLst/>
                <a:latin typeface="+mn-lt"/>
                <a:ea typeface="+mn-ea"/>
                <a:cs typeface="+mn-cs"/>
              </a:rPr>
              <a:t> or </a:t>
            </a:r>
            <a:r>
              <a:rPr lang="en-US" altLang="zh-CN" sz="1200" b="1" i="0" kern="1200" dirty="0">
                <a:solidFill>
                  <a:schemeClr val="tx1"/>
                </a:solidFill>
                <a:effectLst/>
                <a:latin typeface="+mn-lt"/>
                <a:ea typeface="+mn-ea"/>
                <a:cs typeface="+mn-cs"/>
              </a:rPr>
              <a:t>regrasping</a:t>
            </a:r>
            <a:r>
              <a:rPr lang="en-US" altLang="zh-CN" sz="1200" b="0" i="0" kern="1200" dirty="0">
                <a:solidFill>
                  <a:schemeClr val="tx1"/>
                </a:solidFill>
                <a:effectLst/>
                <a:latin typeface="+mn-lt"/>
                <a:ea typeface="+mn-ea"/>
                <a:cs typeface="+mn-cs"/>
              </a:rPr>
              <a:t>, which would demonstrate stronger generalization.</a:t>
            </a:r>
          </a:p>
          <a:p>
            <a:r>
              <a:rPr lang="en-US" altLang="zh-CN" sz="1200" b="1" i="0" kern="1200" dirty="0">
                <a:solidFill>
                  <a:schemeClr val="tx1"/>
                </a:solidFill>
                <a:effectLst/>
                <a:latin typeface="+mn-lt"/>
                <a:ea typeface="+mn-ea"/>
                <a:cs typeface="+mn-cs"/>
              </a:rPr>
              <a:t>Third</a:t>
            </a:r>
            <a:r>
              <a:rPr lang="en-US" altLang="zh-CN" sz="1200" b="0" i="0" kern="1200" dirty="0">
                <a:solidFill>
                  <a:schemeClr val="tx1"/>
                </a:solidFill>
                <a:effectLst/>
                <a:latin typeface="+mn-lt"/>
                <a:ea typeface="+mn-ea"/>
                <a:cs typeface="+mn-cs"/>
              </a:rPr>
              <a:t>, we can develop better hardware.</a:t>
            </a:r>
          </a:p>
          <a:p>
            <a:r>
              <a:rPr lang="en-US" altLang="zh-CN" sz="1200" b="0" i="0" kern="1200" dirty="0">
                <a:solidFill>
                  <a:schemeClr val="tx1"/>
                </a:solidFill>
                <a:effectLst/>
                <a:latin typeface="+mn-lt"/>
                <a:ea typeface="+mn-ea"/>
                <a:cs typeface="+mn-cs"/>
              </a:rPr>
              <a:t>We may develop a faster, low-latency tactile sensor and a more stable robotic arm. </a:t>
            </a:r>
          </a:p>
          <a:p>
            <a:r>
              <a:rPr lang="en-US" altLang="zh-CN" sz="1200" b="1" i="0" kern="1200" dirty="0">
                <a:solidFill>
                  <a:schemeClr val="tx1"/>
                </a:solidFill>
                <a:effectLst/>
                <a:latin typeface="+mn-lt"/>
                <a:ea typeface="+mn-ea"/>
                <a:cs typeface="+mn-cs"/>
              </a:rPr>
              <a:t>Finally</a:t>
            </a:r>
            <a:r>
              <a:rPr lang="en-US" altLang="zh-CN" sz="1200" b="0" i="0" kern="1200" dirty="0">
                <a:solidFill>
                  <a:schemeClr val="tx1"/>
                </a:solidFill>
                <a:effectLst/>
                <a:latin typeface="+mn-lt"/>
                <a:ea typeface="+mn-ea"/>
                <a:cs typeface="+mn-cs"/>
              </a:rPr>
              <a:t>, expanding the </a:t>
            </a:r>
            <a:r>
              <a:rPr lang="en-US" altLang="zh-CN" sz="1200" b="1" i="0" kern="1200" dirty="0">
                <a:solidFill>
                  <a:schemeClr val="tx1"/>
                </a:solidFill>
                <a:effectLst/>
                <a:latin typeface="+mn-lt"/>
                <a:ea typeface="+mn-ea"/>
                <a:cs typeface="+mn-cs"/>
              </a:rPr>
              <a:t>dataset</a:t>
            </a:r>
            <a:r>
              <a:rPr lang="en-US" altLang="zh-CN" sz="1200" b="0" i="0" kern="1200" dirty="0">
                <a:solidFill>
                  <a:schemeClr val="tx1"/>
                </a:solidFill>
                <a:effectLst/>
                <a:latin typeface="+mn-lt"/>
                <a:ea typeface="+mn-ea"/>
                <a:cs typeface="+mn-cs"/>
              </a:rPr>
              <a:t> is essential.</a:t>
            </a:r>
          </a:p>
          <a:p>
            <a:r>
              <a:rPr lang="en-US" altLang="zh-CN" sz="1200" b="0" i="0" kern="1200" dirty="0">
                <a:solidFill>
                  <a:schemeClr val="tx1"/>
                </a:solidFill>
                <a:effectLst/>
                <a:latin typeface="+mn-lt"/>
                <a:ea typeface="+mn-ea"/>
                <a:cs typeface="+mn-cs"/>
              </a:rPr>
              <a:t>A larger and more diverse dataset will make the learned embeddings more robust and capable of handling objects with unseen physical properties.</a:t>
            </a:r>
            <a:endParaRPr lang="en" altLang="zh-CN" dirty="0">
              <a:effectLst/>
            </a:endParaRPr>
          </a:p>
          <a:p>
            <a:endParaRPr kumimoji="1" lang="zh-CN" altLang="en-US" dirty="0"/>
          </a:p>
        </p:txBody>
      </p:sp>
      <p:sp>
        <p:nvSpPr>
          <p:cNvPr id="4" name="灯片编号占位符 3"/>
          <p:cNvSpPr>
            <a:spLocks noGrp="1"/>
          </p:cNvSpPr>
          <p:nvPr>
            <p:ph type="sldNum" sz="quarter" idx="5"/>
          </p:nvPr>
        </p:nvSpPr>
        <p:spPr/>
        <p:txBody>
          <a:bodyPr/>
          <a:lstStyle/>
          <a:p>
            <a:fld id="{6D18717E-F74C-4246-A795-6577BEDC8382}" type="slidenum">
              <a:rPr kumimoji="1" lang="zh-CN" altLang="en-US" smtClean="0"/>
              <a:t>21</a:t>
            </a:fld>
            <a:endParaRPr kumimoji="1" lang="zh-CN" altLang="en-US"/>
          </a:p>
        </p:txBody>
      </p:sp>
    </p:spTree>
    <p:extLst>
      <p:ext uri="{BB962C8B-B14F-4D97-AF65-F5344CB8AC3E}">
        <p14:creationId xmlns:p14="http://schemas.microsoft.com/office/powerpoint/2010/main" val="3525502655"/>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标题幻灯片">
    <p:spTree>
      <p:nvGrpSpPr>
        <p:cNvPr id="1" name=""/>
        <p:cNvGrpSpPr/>
        <p:nvPr/>
      </p:nvGrpSpPr>
      <p:grpSpPr>
        <a:xfrm>
          <a:off x="0" y="0"/>
          <a:ext cx="0" cy="0"/>
          <a:chOff x="0" y="0"/>
          <a:chExt cx="0" cy="0"/>
        </a:xfrm>
      </p:grpSpPr>
      <p:sp>
        <p:nvSpPr>
          <p:cNvPr id="9" name="Rectangle 6">
            <a:extLst>
              <a:ext uri="{FF2B5EF4-FFF2-40B4-BE49-F238E27FC236}">
                <a16:creationId xmlns:a16="http://schemas.microsoft.com/office/drawing/2014/main" id="{11C919A1-7361-1F44-B599-7E9DB3DD7A32}"/>
              </a:ext>
            </a:extLst>
          </p:cNvPr>
          <p:cNvSpPr/>
          <p:nvPr userDrawn="1"/>
        </p:nvSpPr>
        <p:spPr>
          <a:xfrm>
            <a:off x="378178" y="1750294"/>
            <a:ext cx="11435645" cy="2323425"/>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8">
            <a:extLst>
              <a:ext uri="{FF2B5EF4-FFF2-40B4-BE49-F238E27FC236}">
                <a16:creationId xmlns:a16="http://schemas.microsoft.com/office/drawing/2014/main" id="{27E11570-1C13-394D-8C65-136BC3D04ED2}"/>
              </a:ext>
            </a:extLst>
          </p:cNvPr>
          <p:cNvSpPr/>
          <p:nvPr userDrawn="1"/>
        </p:nvSpPr>
        <p:spPr>
          <a:xfrm>
            <a:off x="8382000" y="4155707"/>
            <a:ext cx="3431823" cy="720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1" name="Rectangle 9">
            <a:extLst>
              <a:ext uri="{FF2B5EF4-FFF2-40B4-BE49-F238E27FC236}">
                <a16:creationId xmlns:a16="http://schemas.microsoft.com/office/drawing/2014/main" id="{5FB5F265-5FC7-B54E-AB48-4D8DA46E458F}"/>
              </a:ext>
            </a:extLst>
          </p:cNvPr>
          <p:cNvSpPr/>
          <p:nvPr userDrawn="1"/>
        </p:nvSpPr>
        <p:spPr>
          <a:xfrm>
            <a:off x="378177" y="4155707"/>
            <a:ext cx="7918756" cy="72000"/>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sp>
      <p:sp>
        <p:nvSpPr>
          <p:cNvPr id="12" name="Title 1">
            <a:extLst>
              <a:ext uri="{FF2B5EF4-FFF2-40B4-BE49-F238E27FC236}">
                <a16:creationId xmlns:a16="http://schemas.microsoft.com/office/drawing/2014/main" id="{43FE9298-60C2-9548-BC1E-E8694904B371}"/>
              </a:ext>
            </a:extLst>
          </p:cNvPr>
          <p:cNvSpPr>
            <a:spLocks noGrp="1"/>
          </p:cNvSpPr>
          <p:nvPr>
            <p:ph type="ctrTitle"/>
          </p:nvPr>
        </p:nvSpPr>
        <p:spPr>
          <a:xfrm>
            <a:off x="599226" y="1921565"/>
            <a:ext cx="10993549" cy="1961322"/>
          </a:xfrm>
          <a:prstGeom prst="rect">
            <a:avLst/>
          </a:prstGeom>
          <a:effectLst/>
        </p:spPr>
        <p:txBody>
          <a:bodyPr anchor="ctr">
            <a:normAutofit/>
          </a:bodyPr>
          <a:lstStyle>
            <a:lvl1pPr algn="ctr">
              <a:defRPr lang="en-US" altLang="en-US" sz="3600" b="0" kern="1200" cap="none" baseline="0" dirty="0">
                <a:solidFill>
                  <a:schemeClr val="bg1"/>
                </a:solidFill>
                <a:latin typeface="+mj-lt"/>
                <a:ea typeface="+mj-ea"/>
                <a:cs typeface="+mj-cs"/>
              </a:defRPr>
            </a:lvl1pPr>
          </a:lstStyle>
          <a:p>
            <a:r>
              <a:rPr lang="zh-CN" altLang="en-US" dirty="0"/>
              <a:t>单击此处编辑母版标题样式</a:t>
            </a:r>
            <a:endParaRPr lang="en-US" dirty="0"/>
          </a:p>
        </p:txBody>
      </p:sp>
      <p:sp>
        <p:nvSpPr>
          <p:cNvPr id="13" name="Subtitle 2">
            <a:extLst>
              <a:ext uri="{FF2B5EF4-FFF2-40B4-BE49-F238E27FC236}">
                <a16:creationId xmlns:a16="http://schemas.microsoft.com/office/drawing/2014/main" id="{103A73B5-4CCB-264A-803E-B46FEDFF9626}"/>
              </a:ext>
            </a:extLst>
          </p:cNvPr>
          <p:cNvSpPr>
            <a:spLocks noGrp="1"/>
          </p:cNvSpPr>
          <p:nvPr>
            <p:ph type="subTitle" idx="1"/>
          </p:nvPr>
        </p:nvSpPr>
        <p:spPr>
          <a:xfrm>
            <a:off x="581194" y="4352306"/>
            <a:ext cx="10993546" cy="1340999"/>
          </a:xfrm>
        </p:spPr>
        <p:txBody>
          <a:bodyPr anchor="t">
            <a:normAutofit/>
          </a:bodyPr>
          <a:lstStyle>
            <a:lvl1pPr marL="0" indent="0" algn="ctr">
              <a:buNone/>
              <a:defRPr sz="2000" cap="none" baseline="0">
                <a:solidFill>
                  <a:srgbClr val="660874"/>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dirty="0"/>
              <a:t>单击此处编辑母版副标题样式</a:t>
            </a:r>
            <a:endParaRPr lang="en-US" dirty="0"/>
          </a:p>
        </p:txBody>
      </p:sp>
      <p:sp>
        <p:nvSpPr>
          <p:cNvPr id="14" name="Date Placeholder 3">
            <a:extLst>
              <a:ext uri="{FF2B5EF4-FFF2-40B4-BE49-F238E27FC236}">
                <a16:creationId xmlns:a16="http://schemas.microsoft.com/office/drawing/2014/main" id="{27C9BA39-4396-944E-8847-8AA1FB4D7EF5}"/>
              </a:ext>
            </a:extLst>
          </p:cNvPr>
          <p:cNvSpPr>
            <a:spLocks noGrp="1"/>
          </p:cNvSpPr>
          <p:nvPr>
            <p:ph type="dt" sz="half" idx="10"/>
          </p:nvPr>
        </p:nvSpPr>
        <p:spPr>
          <a:xfrm>
            <a:off x="7605953" y="5956139"/>
            <a:ext cx="2844799" cy="365125"/>
          </a:xfrm>
        </p:spPr>
        <p:txBody>
          <a:bodyPr/>
          <a:lstStyle/>
          <a:p>
            <a:fld id="{E4551058-E5DB-324A-A8E9-6D3BEF243C3B}" type="datetimeFigureOut">
              <a:rPr kumimoji="1" lang="zh-CN" altLang="en-US" smtClean="0"/>
              <a:t>2026/9/7</a:t>
            </a:fld>
            <a:endParaRPr kumimoji="1" lang="zh-CN" altLang="en-US"/>
          </a:p>
        </p:txBody>
      </p:sp>
      <p:sp>
        <p:nvSpPr>
          <p:cNvPr id="15" name="Footer Placeholder 4">
            <a:extLst>
              <a:ext uri="{FF2B5EF4-FFF2-40B4-BE49-F238E27FC236}">
                <a16:creationId xmlns:a16="http://schemas.microsoft.com/office/drawing/2014/main" id="{2046AEFE-93F1-C842-BBEF-EA6F5A8D976C}"/>
              </a:ext>
            </a:extLst>
          </p:cNvPr>
          <p:cNvSpPr>
            <a:spLocks noGrp="1"/>
          </p:cNvSpPr>
          <p:nvPr>
            <p:ph type="ftr" sz="quarter" idx="11"/>
          </p:nvPr>
        </p:nvSpPr>
        <p:spPr>
          <a:xfrm>
            <a:off x="581192" y="5951813"/>
            <a:ext cx="6917211" cy="365125"/>
          </a:xfrm>
        </p:spPr>
        <p:txBody>
          <a:bodyPr/>
          <a:lstStyle/>
          <a:p>
            <a:endParaRPr kumimoji="1" lang="zh-CN" altLang="en-US"/>
          </a:p>
        </p:txBody>
      </p:sp>
      <p:sp>
        <p:nvSpPr>
          <p:cNvPr id="16" name="Slide Number Placeholder 5">
            <a:extLst>
              <a:ext uri="{FF2B5EF4-FFF2-40B4-BE49-F238E27FC236}">
                <a16:creationId xmlns:a16="http://schemas.microsoft.com/office/drawing/2014/main" id="{DC680849-96D9-DD4B-8BEC-6C1105997248}"/>
              </a:ext>
            </a:extLst>
          </p:cNvPr>
          <p:cNvSpPr>
            <a:spLocks noGrp="1"/>
          </p:cNvSpPr>
          <p:nvPr>
            <p:ph type="sldNum" sz="quarter" idx="12"/>
          </p:nvPr>
        </p:nvSpPr>
        <p:spPr>
          <a:xfrm>
            <a:off x="10558301" y="5956139"/>
            <a:ext cx="1052508" cy="365125"/>
          </a:xfrm>
        </p:spPr>
        <p:txBody>
          <a:bodyPr/>
          <a:lstStyle/>
          <a:p>
            <a:fld id="{977BA8E6-E826-B147-AA17-E3D76A29629C}" type="slidenum">
              <a:rPr kumimoji="1" lang="zh-CN" altLang="en-US" smtClean="0"/>
              <a:t>‹#›</a:t>
            </a:fld>
            <a:endParaRPr kumimoji="1" lang="zh-CN" altLang="en-US"/>
          </a:p>
        </p:txBody>
      </p:sp>
      <p:pic>
        <p:nvPicPr>
          <p:cNvPr id="3" name="图片 2">
            <a:extLst>
              <a:ext uri="{FF2B5EF4-FFF2-40B4-BE49-F238E27FC236}">
                <a16:creationId xmlns:a16="http://schemas.microsoft.com/office/drawing/2014/main" id="{228E0E76-103F-614C-9971-08354F663532}"/>
              </a:ext>
            </a:extLst>
          </p:cNvPr>
          <p:cNvPicPr>
            <a:picLocks noChangeAspect="1"/>
          </p:cNvPicPr>
          <p:nvPr userDrawn="1"/>
        </p:nvPicPr>
        <p:blipFill>
          <a:blip r:embed="rId2"/>
          <a:stretch>
            <a:fillRect/>
          </a:stretch>
        </p:blipFill>
        <p:spPr>
          <a:xfrm>
            <a:off x="378177" y="293654"/>
            <a:ext cx="2889452" cy="1137659"/>
          </a:xfrm>
          <a:prstGeom prst="rect">
            <a:avLst/>
          </a:prstGeom>
        </p:spPr>
      </p:pic>
    </p:spTree>
    <p:extLst>
      <p:ext uri="{BB962C8B-B14F-4D97-AF65-F5344CB8AC3E}">
        <p14:creationId xmlns:p14="http://schemas.microsoft.com/office/powerpoint/2010/main" val="9349926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
        <p:nvSpPr>
          <p:cNvPr id="3" name="Content Placeholder 2"/>
          <p:cNvSpPr>
            <a:spLocks noGrp="1"/>
          </p:cNvSpPr>
          <p:nvPr>
            <p:ph idx="1"/>
          </p:nvPr>
        </p:nvSpPr>
        <p:spPr>
          <a:xfrm>
            <a:off x="581194" y="2180498"/>
            <a:ext cx="11029615" cy="3678303"/>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10"/>
          </p:nvPr>
        </p:nvSpPr>
        <p:spPr/>
        <p:txBody>
          <a:bodyPr/>
          <a:lstStyle/>
          <a:p>
            <a:fld id="{E4551058-E5DB-324A-A8E9-6D3BEF243C3B}" type="datetimeFigureOut">
              <a:rPr kumimoji="1" lang="zh-CN" altLang="en-US" smtClean="0"/>
              <a:t>2026/9/7</a:t>
            </a:fld>
            <a:endParaRPr kumimoji="1" lang="zh-CN" altLang="en-US"/>
          </a:p>
        </p:txBody>
      </p:sp>
      <p:sp>
        <p:nvSpPr>
          <p:cNvPr id="5" name="Footer Placeholder 4"/>
          <p:cNvSpPr>
            <a:spLocks noGrp="1"/>
          </p:cNvSpPr>
          <p:nvPr>
            <p:ph type="ftr" sz="quarter" idx="11"/>
          </p:nvPr>
        </p:nvSpPr>
        <p:spPr/>
        <p:txBody>
          <a:bodyPr/>
          <a:lstStyle/>
          <a:p>
            <a:endParaRPr kumimoji="1" lang="zh-CN" altLang="en-US"/>
          </a:p>
        </p:txBody>
      </p:sp>
      <p:sp>
        <p:nvSpPr>
          <p:cNvPr id="6" name="Slide Number Placeholder 5"/>
          <p:cNvSpPr>
            <a:spLocks noGrp="1"/>
          </p:cNvSpPr>
          <p:nvPr>
            <p:ph type="sldNum" sz="quarter" idx="12"/>
          </p:nvPr>
        </p:nvSpPr>
        <p:spPr>
          <a:xfrm>
            <a:off x="10558301" y="5956139"/>
            <a:ext cx="1052508" cy="365125"/>
          </a:xfrm>
        </p:spPr>
        <p:txBody>
          <a:bodyPr/>
          <a:lstStyle/>
          <a:p>
            <a:fld id="{977BA8E6-E826-B147-AA17-E3D76A29629C}" type="slidenum">
              <a:rPr kumimoji="1" lang="zh-CN" altLang="en-US" smtClean="0"/>
              <a:t>‹#›</a:t>
            </a:fld>
            <a:endParaRPr kumimoji="1" lang="zh-CN" altLang="en-US"/>
          </a:p>
        </p:txBody>
      </p:sp>
      <p:sp>
        <p:nvSpPr>
          <p:cNvPr id="8" name="标题 7">
            <a:extLst>
              <a:ext uri="{FF2B5EF4-FFF2-40B4-BE49-F238E27FC236}">
                <a16:creationId xmlns:a16="http://schemas.microsoft.com/office/drawing/2014/main" id="{C91EB146-E429-F542-B185-DC14BCA9BC59}"/>
              </a:ext>
            </a:extLst>
          </p:cNvPr>
          <p:cNvSpPr>
            <a:spLocks noGrp="1"/>
          </p:cNvSpPr>
          <p:nvPr>
            <p:ph type="title"/>
          </p:nvPr>
        </p:nvSpPr>
        <p:spPr/>
        <p:txBody>
          <a:bodyPr/>
          <a:lstStyle/>
          <a:p>
            <a:r>
              <a:rPr kumimoji="1" lang="zh-CN" altLang="en-US" dirty="0"/>
              <a:t>单击此处编辑母版标题样式</a:t>
            </a:r>
          </a:p>
        </p:txBody>
      </p:sp>
    </p:spTree>
    <p:extLst>
      <p:ext uri="{BB962C8B-B14F-4D97-AF65-F5344CB8AC3E}">
        <p14:creationId xmlns:p14="http://schemas.microsoft.com/office/powerpoint/2010/main" val="340990489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目录">
    <p:spTree>
      <p:nvGrpSpPr>
        <p:cNvPr id="1" name=""/>
        <p:cNvGrpSpPr/>
        <p:nvPr/>
      </p:nvGrpSpPr>
      <p:grpSpPr>
        <a:xfrm>
          <a:off x="0" y="0"/>
          <a:ext cx="0" cy="0"/>
          <a:chOff x="0" y="0"/>
          <a:chExt cx="0" cy="0"/>
        </a:xfrm>
      </p:grpSpPr>
      <p:sp>
        <p:nvSpPr>
          <p:cNvPr id="12" name="Rectangle 6">
            <a:extLst>
              <a:ext uri="{FF2B5EF4-FFF2-40B4-BE49-F238E27FC236}">
                <a16:creationId xmlns:a16="http://schemas.microsoft.com/office/drawing/2014/main" id="{D2AB89F7-7C87-3347-A0CB-FCEE9D36F083}"/>
              </a:ext>
            </a:extLst>
          </p:cNvPr>
          <p:cNvSpPr>
            <a:spLocks noChangeAspect="1"/>
          </p:cNvSpPr>
          <p:nvPr userDrawn="1"/>
        </p:nvSpPr>
        <p:spPr>
          <a:xfrm>
            <a:off x="564440" y="599725"/>
            <a:ext cx="2906817" cy="581695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1" name="Content Placeholder 2">
            <a:extLst>
              <a:ext uri="{FF2B5EF4-FFF2-40B4-BE49-F238E27FC236}">
                <a16:creationId xmlns:a16="http://schemas.microsoft.com/office/drawing/2014/main" id="{26727754-C851-C341-8EC8-C90F9BC75713}"/>
              </a:ext>
            </a:extLst>
          </p:cNvPr>
          <p:cNvSpPr>
            <a:spLocks noGrp="1"/>
          </p:cNvSpPr>
          <p:nvPr>
            <p:ph idx="1"/>
          </p:nvPr>
        </p:nvSpPr>
        <p:spPr>
          <a:xfrm>
            <a:off x="5544289" y="1137355"/>
            <a:ext cx="6066519" cy="4583289"/>
          </a:xfrm>
        </p:spPr>
        <p:txBody>
          <a:bodyPr anchor="ctr">
            <a:normAutofit/>
          </a:bodyPr>
          <a:lstStyle>
            <a:lvl1pPr algn="l">
              <a:defRPr sz="3200"/>
            </a:lvl1pPr>
            <a:lvl2pPr algn="l">
              <a:defRPr sz="2800"/>
            </a:lvl2pPr>
            <a:lvl3pPr algn="l">
              <a:defRPr sz="2400"/>
            </a:lvl3pPr>
            <a:lvl4pPr algn="l">
              <a:defRPr sz="2000"/>
            </a:lvl4pPr>
            <a:lvl5pPr algn="l">
              <a:defRPr sz="2000"/>
            </a:lvl5pPr>
          </a:lstStyle>
          <a:p>
            <a:pPr lvl="0"/>
            <a:r>
              <a:rPr lang="zh-CN" altLang="en-US" dirty="0"/>
              <a:t>单击此处编辑母版文本样式</a:t>
            </a:r>
          </a:p>
          <a:p>
            <a:pPr lvl="1"/>
            <a:r>
              <a:rPr lang="zh-CN" altLang="en-US" dirty="0"/>
              <a:t>二级</a:t>
            </a:r>
          </a:p>
          <a:p>
            <a:pPr lvl="2"/>
            <a:r>
              <a:rPr lang="zh-CN" altLang="en-US" dirty="0"/>
              <a:t>三级</a:t>
            </a:r>
          </a:p>
          <a:p>
            <a:pPr lvl="3"/>
            <a:r>
              <a:rPr lang="zh-CN" altLang="en-US" dirty="0"/>
              <a:t>四级</a:t>
            </a:r>
          </a:p>
          <a:p>
            <a:pPr lvl="4"/>
            <a:r>
              <a:rPr lang="zh-CN" altLang="en-US" dirty="0"/>
              <a:t>五级</a:t>
            </a:r>
            <a:endParaRPr lang="en-US" dirty="0"/>
          </a:p>
        </p:txBody>
      </p:sp>
      <p:sp>
        <p:nvSpPr>
          <p:cNvPr id="13" name="Date Placeholder 3">
            <a:extLst>
              <a:ext uri="{FF2B5EF4-FFF2-40B4-BE49-F238E27FC236}">
                <a16:creationId xmlns:a16="http://schemas.microsoft.com/office/drawing/2014/main" id="{83F81271-2815-9B4A-9DE1-54434A60C989}"/>
              </a:ext>
            </a:extLst>
          </p:cNvPr>
          <p:cNvSpPr>
            <a:spLocks noGrp="1"/>
          </p:cNvSpPr>
          <p:nvPr>
            <p:ph type="dt" sz="half" idx="10"/>
          </p:nvPr>
        </p:nvSpPr>
        <p:spPr>
          <a:xfrm>
            <a:off x="7605951" y="5956137"/>
            <a:ext cx="2844799" cy="365125"/>
          </a:xfrm>
        </p:spPr>
        <p:txBody>
          <a:bodyPr/>
          <a:lstStyle/>
          <a:p>
            <a:fld id="{E4551058-E5DB-324A-A8E9-6D3BEF243C3B}" type="datetimeFigureOut">
              <a:rPr kumimoji="1" lang="zh-CN" altLang="en-US" smtClean="0"/>
              <a:t>2026/9/7</a:t>
            </a:fld>
            <a:endParaRPr kumimoji="1" lang="zh-CN" altLang="en-US"/>
          </a:p>
        </p:txBody>
      </p:sp>
      <p:sp>
        <p:nvSpPr>
          <p:cNvPr id="16" name="Footer Placeholder 4">
            <a:extLst>
              <a:ext uri="{FF2B5EF4-FFF2-40B4-BE49-F238E27FC236}">
                <a16:creationId xmlns:a16="http://schemas.microsoft.com/office/drawing/2014/main" id="{A57A6457-265E-454A-8DEA-AC0A1AAC3647}"/>
              </a:ext>
            </a:extLst>
          </p:cNvPr>
          <p:cNvSpPr>
            <a:spLocks noGrp="1"/>
          </p:cNvSpPr>
          <p:nvPr>
            <p:ph type="ftr" sz="quarter" idx="11"/>
          </p:nvPr>
        </p:nvSpPr>
        <p:spPr>
          <a:xfrm>
            <a:off x="581192" y="5951811"/>
            <a:ext cx="6917210" cy="365125"/>
          </a:xfrm>
        </p:spPr>
        <p:txBody>
          <a:bodyPr/>
          <a:lstStyle/>
          <a:p>
            <a:endParaRPr kumimoji="1" lang="zh-CN" altLang="en-US"/>
          </a:p>
        </p:txBody>
      </p:sp>
      <p:sp>
        <p:nvSpPr>
          <p:cNvPr id="17" name="Slide Number Placeholder 5">
            <a:extLst>
              <a:ext uri="{FF2B5EF4-FFF2-40B4-BE49-F238E27FC236}">
                <a16:creationId xmlns:a16="http://schemas.microsoft.com/office/drawing/2014/main" id="{17055F7E-60B7-6A43-A3E4-C6F9DC89FA56}"/>
              </a:ext>
            </a:extLst>
          </p:cNvPr>
          <p:cNvSpPr>
            <a:spLocks noGrp="1"/>
          </p:cNvSpPr>
          <p:nvPr>
            <p:ph type="sldNum" sz="quarter" idx="12"/>
          </p:nvPr>
        </p:nvSpPr>
        <p:spPr>
          <a:xfrm>
            <a:off x="10558300" y="5956137"/>
            <a:ext cx="1052508" cy="365125"/>
          </a:xfrm>
        </p:spPr>
        <p:txBody>
          <a:bodyPr/>
          <a:lstStyle/>
          <a:p>
            <a:fld id="{977BA8E6-E826-B147-AA17-E3D76A29629C}" type="slidenum">
              <a:rPr kumimoji="1" lang="zh-CN" altLang="en-US" smtClean="0"/>
              <a:t>‹#›</a:t>
            </a:fld>
            <a:endParaRPr kumimoji="1" lang="zh-CN" altLang="en-US"/>
          </a:p>
        </p:txBody>
      </p:sp>
      <p:sp>
        <p:nvSpPr>
          <p:cNvPr id="18" name="Title 1">
            <a:extLst>
              <a:ext uri="{FF2B5EF4-FFF2-40B4-BE49-F238E27FC236}">
                <a16:creationId xmlns:a16="http://schemas.microsoft.com/office/drawing/2014/main" id="{4D989D6D-F1B5-F54E-813A-CCB6A463D717}"/>
              </a:ext>
            </a:extLst>
          </p:cNvPr>
          <p:cNvSpPr>
            <a:spLocks noGrp="1"/>
          </p:cNvSpPr>
          <p:nvPr>
            <p:ph type="title"/>
          </p:nvPr>
        </p:nvSpPr>
        <p:spPr>
          <a:xfrm>
            <a:off x="733774" y="1964074"/>
            <a:ext cx="2568408" cy="2929850"/>
          </a:xfrm>
          <a:prstGeom prst="rect">
            <a:avLst/>
          </a:prstGeom>
        </p:spPr>
        <p:txBody>
          <a:bodyPr anchor="ctr">
            <a:normAutofit/>
          </a:bodyPr>
          <a:lstStyle>
            <a:lvl1pPr algn="ctr">
              <a:defRPr sz="3600"/>
            </a:lvl1pPr>
          </a:lstStyle>
          <a:p>
            <a:r>
              <a:rPr lang="zh-CN" altLang="en-US" dirty="0"/>
              <a:t>单击此处编辑母版标题样式</a:t>
            </a:r>
            <a:endParaRPr lang="en-US" dirty="0"/>
          </a:p>
        </p:txBody>
      </p:sp>
      <p:sp>
        <p:nvSpPr>
          <p:cNvPr id="20" name="Rectangle 9">
            <a:extLst>
              <a:ext uri="{FF2B5EF4-FFF2-40B4-BE49-F238E27FC236}">
                <a16:creationId xmlns:a16="http://schemas.microsoft.com/office/drawing/2014/main" id="{F5609871-59AA-714A-B688-568A52C6B22B}"/>
              </a:ext>
            </a:extLst>
          </p:cNvPr>
          <p:cNvSpPr/>
          <p:nvPr userDrawn="1"/>
        </p:nvSpPr>
        <p:spPr>
          <a:xfrm rot="5400000">
            <a:off x="2678806" y="5475222"/>
            <a:ext cx="1800000" cy="72000"/>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sp>
      <p:sp>
        <p:nvSpPr>
          <p:cNvPr id="21" name="Rectangle 8">
            <a:extLst>
              <a:ext uri="{FF2B5EF4-FFF2-40B4-BE49-F238E27FC236}">
                <a16:creationId xmlns:a16="http://schemas.microsoft.com/office/drawing/2014/main" id="{23D49990-DD79-AF4A-809C-C7A68D94B066}"/>
              </a:ext>
            </a:extLst>
          </p:cNvPr>
          <p:cNvSpPr/>
          <p:nvPr userDrawn="1"/>
        </p:nvSpPr>
        <p:spPr>
          <a:xfrm rot="5400000">
            <a:off x="1601532" y="2540998"/>
            <a:ext cx="3954547" cy="71999"/>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pic>
        <p:nvPicPr>
          <p:cNvPr id="19" name="图片 18">
            <a:extLst>
              <a:ext uri="{FF2B5EF4-FFF2-40B4-BE49-F238E27FC236}">
                <a16:creationId xmlns:a16="http://schemas.microsoft.com/office/drawing/2014/main" id="{A55AB928-FD5F-284E-A537-D442BF41502C}"/>
              </a:ext>
            </a:extLst>
          </p:cNvPr>
          <p:cNvPicPr>
            <a:picLocks noChangeAspect="1"/>
          </p:cNvPicPr>
          <p:nvPr userDrawn="1"/>
        </p:nvPicPr>
        <p:blipFill>
          <a:blip r:embed="rId2"/>
          <a:stretch>
            <a:fillRect/>
          </a:stretch>
        </p:blipFill>
        <p:spPr>
          <a:xfrm>
            <a:off x="643332" y="678616"/>
            <a:ext cx="1015763" cy="1019553"/>
          </a:xfrm>
          <a:prstGeom prst="rect">
            <a:avLst/>
          </a:prstGeom>
        </p:spPr>
      </p:pic>
    </p:spTree>
    <p:extLst>
      <p:ext uri="{BB962C8B-B14F-4D97-AF65-F5344CB8AC3E}">
        <p14:creationId xmlns:p14="http://schemas.microsoft.com/office/powerpoint/2010/main" val="299615920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节标题">
    <p:spTree>
      <p:nvGrpSpPr>
        <p:cNvPr id="1" name=""/>
        <p:cNvGrpSpPr/>
        <p:nvPr/>
      </p:nvGrpSpPr>
      <p:grpSpPr>
        <a:xfrm>
          <a:off x="0" y="0"/>
          <a:ext cx="0" cy="0"/>
          <a:chOff x="0" y="0"/>
          <a:chExt cx="0" cy="0"/>
        </a:xfrm>
      </p:grpSpPr>
      <p:sp>
        <p:nvSpPr>
          <p:cNvPr id="16" name="Rectangle 7">
            <a:extLst>
              <a:ext uri="{FF2B5EF4-FFF2-40B4-BE49-F238E27FC236}">
                <a16:creationId xmlns:a16="http://schemas.microsoft.com/office/drawing/2014/main" id="{7DE89DA6-356D-194E-8935-6C10024491A7}"/>
              </a:ext>
            </a:extLst>
          </p:cNvPr>
          <p:cNvSpPr>
            <a:spLocks noChangeAspect="1"/>
          </p:cNvSpPr>
          <p:nvPr userDrawn="1"/>
        </p:nvSpPr>
        <p:spPr>
          <a:xfrm>
            <a:off x="447817" y="5141974"/>
            <a:ext cx="11290860"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pic>
        <p:nvPicPr>
          <p:cNvPr id="9" name="图片 8">
            <a:extLst>
              <a:ext uri="{FF2B5EF4-FFF2-40B4-BE49-F238E27FC236}">
                <a16:creationId xmlns:a16="http://schemas.microsoft.com/office/drawing/2014/main" id="{2877B1D8-453C-0B4B-B0BA-8AC0FA47C99A}"/>
              </a:ext>
            </a:extLst>
          </p:cNvPr>
          <p:cNvPicPr>
            <a:picLocks noChangeAspect="1"/>
          </p:cNvPicPr>
          <p:nvPr userDrawn="1"/>
        </p:nvPicPr>
        <p:blipFill>
          <a:blip r:embed="rId2"/>
          <a:stretch>
            <a:fillRect/>
          </a:stretch>
        </p:blipFill>
        <p:spPr>
          <a:xfrm>
            <a:off x="10632535" y="5261609"/>
            <a:ext cx="1015763" cy="1019553"/>
          </a:xfrm>
          <a:prstGeom prst="rect">
            <a:avLst/>
          </a:prstGeom>
        </p:spPr>
      </p:pic>
      <p:sp>
        <p:nvSpPr>
          <p:cNvPr id="17" name="Title 1">
            <a:extLst>
              <a:ext uri="{FF2B5EF4-FFF2-40B4-BE49-F238E27FC236}">
                <a16:creationId xmlns:a16="http://schemas.microsoft.com/office/drawing/2014/main" id="{54DB8D1A-12A8-B34E-ABB0-AFDEDA44F187}"/>
              </a:ext>
            </a:extLst>
          </p:cNvPr>
          <p:cNvSpPr>
            <a:spLocks noGrp="1"/>
          </p:cNvSpPr>
          <p:nvPr>
            <p:ph type="title"/>
          </p:nvPr>
        </p:nvSpPr>
        <p:spPr>
          <a:xfrm>
            <a:off x="581193" y="3043910"/>
            <a:ext cx="11029615" cy="1497507"/>
          </a:xfrm>
          <a:prstGeom prst="rect">
            <a:avLst/>
          </a:prstGeom>
        </p:spPr>
        <p:txBody>
          <a:bodyPr anchor="b">
            <a:normAutofit/>
          </a:bodyPr>
          <a:lstStyle>
            <a:lvl1pPr algn="l">
              <a:defRPr sz="3600" b="0" cap="none" baseline="0">
                <a:solidFill>
                  <a:schemeClr val="accent1"/>
                </a:solidFill>
              </a:defRPr>
            </a:lvl1pPr>
          </a:lstStyle>
          <a:p>
            <a:r>
              <a:rPr lang="zh-CN" altLang="en-US" dirty="0"/>
              <a:t>单击此处编辑母版标题样式</a:t>
            </a:r>
            <a:endParaRPr lang="en-US" dirty="0"/>
          </a:p>
        </p:txBody>
      </p:sp>
      <p:sp>
        <p:nvSpPr>
          <p:cNvPr id="18" name="Text Placeholder 2">
            <a:extLst>
              <a:ext uri="{FF2B5EF4-FFF2-40B4-BE49-F238E27FC236}">
                <a16:creationId xmlns:a16="http://schemas.microsoft.com/office/drawing/2014/main" id="{D8C8D98C-AAE6-6D4F-8FDD-A93E2E1124F2}"/>
              </a:ext>
            </a:extLst>
          </p:cNvPr>
          <p:cNvSpPr>
            <a:spLocks noGrp="1"/>
          </p:cNvSpPr>
          <p:nvPr>
            <p:ph type="body" idx="1"/>
          </p:nvPr>
        </p:nvSpPr>
        <p:spPr>
          <a:xfrm>
            <a:off x="581192" y="4541417"/>
            <a:ext cx="11029615" cy="600556"/>
          </a:xfrm>
        </p:spPr>
        <p:txBody>
          <a:bodyPr anchor="t">
            <a:normAutofit/>
          </a:bodyPr>
          <a:lstStyle>
            <a:lvl1pPr marL="0" indent="0" algn="l">
              <a:buNone/>
              <a:defRPr sz="1800" cap="none" baseline="0">
                <a:solidFill>
                  <a:schemeClr val="accent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dirty="0"/>
              <a:t>单击此处编辑母版文本样式</a:t>
            </a:r>
          </a:p>
        </p:txBody>
      </p:sp>
      <p:sp>
        <p:nvSpPr>
          <p:cNvPr id="19" name="Date Placeholder 3">
            <a:extLst>
              <a:ext uri="{FF2B5EF4-FFF2-40B4-BE49-F238E27FC236}">
                <a16:creationId xmlns:a16="http://schemas.microsoft.com/office/drawing/2014/main" id="{63894592-A78C-994C-A7F8-16460B6D0042}"/>
              </a:ext>
            </a:extLst>
          </p:cNvPr>
          <p:cNvSpPr>
            <a:spLocks noGrp="1"/>
          </p:cNvSpPr>
          <p:nvPr>
            <p:ph type="dt" sz="half" idx="10"/>
          </p:nvPr>
        </p:nvSpPr>
        <p:spPr>
          <a:xfrm>
            <a:off x="7605951" y="5956137"/>
            <a:ext cx="2844799" cy="365125"/>
          </a:xfrm>
        </p:spPr>
        <p:txBody>
          <a:bodyPr/>
          <a:lstStyle>
            <a:lvl1pPr>
              <a:defRPr>
                <a:solidFill>
                  <a:schemeClr val="accent1">
                    <a:lumMod val="75000"/>
                    <a:lumOff val="25000"/>
                  </a:schemeClr>
                </a:solidFill>
              </a:defRPr>
            </a:lvl1pPr>
          </a:lstStyle>
          <a:p>
            <a:fld id="{E4551058-E5DB-324A-A8E9-6D3BEF243C3B}" type="datetimeFigureOut">
              <a:rPr kumimoji="1" lang="zh-CN" altLang="en-US" smtClean="0"/>
              <a:t>2026/9/7</a:t>
            </a:fld>
            <a:endParaRPr kumimoji="1" lang="zh-CN" altLang="en-US"/>
          </a:p>
        </p:txBody>
      </p:sp>
      <p:sp>
        <p:nvSpPr>
          <p:cNvPr id="20" name="Footer Placeholder 4">
            <a:extLst>
              <a:ext uri="{FF2B5EF4-FFF2-40B4-BE49-F238E27FC236}">
                <a16:creationId xmlns:a16="http://schemas.microsoft.com/office/drawing/2014/main" id="{620A79B4-2346-8146-8C5E-F662BBFFD574}"/>
              </a:ext>
            </a:extLst>
          </p:cNvPr>
          <p:cNvSpPr>
            <a:spLocks noGrp="1"/>
          </p:cNvSpPr>
          <p:nvPr>
            <p:ph type="ftr" sz="quarter" idx="11"/>
          </p:nvPr>
        </p:nvSpPr>
        <p:spPr>
          <a:xfrm>
            <a:off x="581192" y="5951811"/>
            <a:ext cx="6917210" cy="365125"/>
          </a:xfrm>
        </p:spPr>
        <p:txBody>
          <a:bodyPr/>
          <a:lstStyle>
            <a:lvl1pPr>
              <a:defRPr>
                <a:solidFill>
                  <a:schemeClr val="accent1">
                    <a:lumMod val="75000"/>
                    <a:lumOff val="25000"/>
                  </a:schemeClr>
                </a:solidFill>
              </a:defRPr>
            </a:lvl1pPr>
          </a:lstStyle>
          <a:p>
            <a:endParaRPr kumimoji="1" lang="zh-CN" altLang="en-US"/>
          </a:p>
        </p:txBody>
      </p:sp>
      <p:sp>
        <p:nvSpPr>
          <p:cNvPr id="21" name="Slide Number Placeholder 5">
            <a:extLst>
              <a:ext uri="{FF2B5EF4-FFF2-40B4-BE49-F238E27FC236}">
                <a16:creationId xmlns:a16="http://schemas.microsoft.com/office/drawing/2014/main" id="{C7187CC3-F105-CE4C-957B-55AE9DA69507}"/>
              </a:ext>
            </a:extLst>
          </p:cNvPr>
          <p:cNvSpPr>
            <a:spLocks noGrp="1"/>
          </p:cNvSpPr>
          <p:nvPr>
            <p:ph type="sldNum" sz="quarter" idx="12"/>
          </p:nvPr>
        </p:nvSpPr>
        <p:spPr>
          <a:xfrm>
            <a:off x="10558300" y="5956137"/>
            <a:ext cx="1052510" cy="365125"/>
          </a:xfrm>
        </p:spPr>
        <p:txBody>
          <a:bodyPr/>
          <a:lstStyle>
            <a:lvl1pPr>
              <a:defRPr>
                <a:solidFill>
                  <a:schemeClr val="accent1">
                    <a:lumMod val="75000"/>
                    <a:lumOff val="25000"/>
                  </a:schemeClr>
                </a:solidFill>
              </a:defRPr>
            </a:lvl1pPr>
          </a:lstStyle>
          <a:p>
            <a:fld id="{977BA8E6-E826-B147-AA17-E3D76A29629C}" type="slidenum">
              <a:rPr kumimoji="1" lang="zh-CN" altLang="en-US" smtClean="0"/>
              <a:t>‹#›</a:t>
            </a:fld>
            <a:endParaRPr kumimoji="1" lang="zh-CN" altLang="en-US"/>
          </a:p>
        </p:txBody>
      </p:sp>
    </p:spTree>
    <p:extLst>
      <p:ext uri="{BB962C8B-B14F-4D97-AF65-F5344CB8AC3E}">
        <p14:creationId xmlns:p14="http://schemas.microsoft.com/office/powerpoint/2010/main" val="228266782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两栏内容">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581194" y="2228004"/>
            <a:ext cx="5422391" cy="3633047"/>
          </a:xfrm>
        </p:spPr>
        <p:txBody>
          <a:bodyPr>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Content Placeholder 3"/>
          <p:cNvSpPr>
            <a:spLocks noGrp="1"/>
          </p:cNvSpPr>
          <p:nvPr>
            <p:ph sz="half" idx="2"/>
          </p:nvPr>
        </p:nvSpPr>
        <p:spPr>
          <a:xfrm>
            <a:off x="6188417" y="2228004"/>
            <a:ext cx="5422392" cy="3633047"/>
          </a:xfrm>
        </p:spPr>
        <p:txBody>
          <a:bodyPr>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5" name="Date Placeholder 4"/>
          <p:cNvSpPr>
            <a:spLocks noGrp="1"/>
          </p:cNvSpPr>
          <p:nvPr>
            <p:ph type="dt" sz="half" idx="10"/>
          </p:nvPr>
        </p:nvSpPr>
        <p:spPr/>
        <p:txBody>
          <a:bodyPr/>
          <a:lstStyle/>
          <a:p>
            <a:fld id="{E4551058-E5DB-324A-A8E9-6D3BEF243C3B}" type="datetimeFigureOut">
              <a:rPr kumimoji="1" lang="zh-CN" altLang="en-US" smtClean="0"/>
              <a:t>2026/9/7</a:t>
            </a:fld>
            <a:endParaRPr kumimoji="1" lang="zh-CN" altLang="en-US"/>
          </a:p>
        </p:txBody>
      </p:sp>
      <p:sp>
        <p:nvSpPr>
          <p:cNvPr id="6" name="Footer Placeholder 5"/>
          <p:cNvSpPr>
            <a:spLocks noGrp="1"/>
          </p:cNvSpPr>
          <p:nvPr>
            <p:ph type="ftr" sz="quarter" idx="11"/>
          </p:nvPr>
        </p:nvSpPr>
        <p:spPr/>
        <p:txBody>
          <a:bodyPr/>
          <a:lstStyle/>
          <a:p>
            <a:endParaRPr kumimoji="1" lang="zh-CN" altLang="en-US"/>
          </a:p>
        </p:txBody>
      </p:sp>
      <p:sp>
        <p:nvSpPr>
          <p:cNvPr id="7" name="Slide Number Placeholder 6"/>
          <p:cNvSpPr>
            <a:spLocks noGrp="1"/>
          </p:cNvSpPr>
          <p:nvPr>
            <p:ph type="sldNum" sz="quarter" idx="12"/>
          </p:nvPr>
        </p:nvSpPr>
        <p:spPr/>
        <p:txBody>
          <a:bodyPr/>
          <a:lstStyle/>
          <a:p>
            <a:fld id="{977BA8E6-E826-B147-AA17-E3D76A29629C}" type="slidenum">
              <a:rPr kumimoji="1" lang="zh-CN" altLang="en-US" smtClean="0"/>
              <a:t>‹#›</a:t>
            </a:fld>
            <a:endParaRPr kumimoji="1" lang="zh-CN" altLang="en-US"/>
          </a:p>
        </p:txBody>
      </p:sp>
      <p:sp>
        <p:nvSpPr>
          <p:cNvPr id="2" name="标题 1">
            <a:extLst>
              <a:ext uri="{FF2B5EF4-FFF2-40B4-BE49-F238E27FC236}">
                <a16:creationId xmlns:a16="http://schemas.microsoft.com/office/drawing/2014/main" id="{590C7D26-A2BB-CE43-BB2A-2808F22C4FD2}"/>
              </a:ext>
            </a:extLst>
          </p:cNvPr>
          <p:cNvSpPr>
            <a:spLocks noGrp="1"/>
          </p:cNvSpPr>
          <p:nvPr>
            <p:ph type="title"/>
          </p:nvPr>
        </p:nvSpPr>
        <p:spPr/>
        <p:txBody>
          <a:bodyPr/>
          <a:lstStyle/>
          <a:p>
            <a:r>
              <a:rPr kumimoji="1" lang="zh-CN" altLang="en-US" dirty="0"/>
              <a:t>单击此处编辑母版标题样式</a:t>
            </a:r>
          </a:p>
        </p:txBody>
      </p:sp>
    </p:spTree>
    <p:extLst>
      <p:ext uri="{BB962C8B-B14F-4D97-AF65-F5344CB8AC3E}">
        <p14:creationId xmlns:p14="http://schemas.microsoft.com/office/powerpoint/2010/main" val="401461835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比较">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887220" y="2250894"/>
            <a:ext cx="5087075" cy="536005"/>
          </a:xfrm>
        </p:spPr>
        <p:txBody>
          <a:bodyPr anchor="b">
            <a:noAutofit/>
          </a:bodyPr>
          <a:lstStyle>
            <a:lvl1pPr marL="0" indent="0">
              <a:buNone/>
              <a:defRPr sz="2200" b="0">
                <a:solidFill>
                  <a:schemeClr val="accent2"/>
                </a:solidFill>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zh-CN" altLang="en-US" dirty="0"/>
              <a:t>单击此处编辑母版文本样式</a:t>
            </a:r>
          </a:p>
        </p:txBody>
      </p:sp>
      <p:sp>
        <p:nvSpPr>
          <p:cNvPr id="4" name="Content Placeholder 3"/>
          <p:cNvSpPr>
            <a:spLocks noGrp="1"/>
          </p:cNvSpPr>
          <p:nvPr>
            <p:ph sz="half" idx="2"/>
          </p:nvPr>
        </p:nvSpPr>
        <p:spPr>
          <a:xfrm>
            <a:off x="581195" y="2926054"/>
            <a:ext cx="5393100" cy="2934999"/>
          </a:xfrm>
        </p:spPr>
        <p:txBody>
          <a:bodyPr anchor="t">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5" name="Text Placeholder 4"/>
          <p:cNvSpPr>
            <a:spLocks noGrp="1"/>
          </p:cNvSpPr>
          <p:nvPr>
            <p:ph type="body" sz="quarter" idx="3"/>
          </p:nvPr>
        </p:nvSpPr>
        <p:spPr>
          <a:xfrm>
            <a:off x="6523737" y="2250894"/>
            <a:ext cx="5087073" cy="553373"/>
          </a:xfrm>
        </p:spPr>
        <p:txBody>
          <a:bodyPr anchor="b">
            <a:noAutofit/>
          </a:bodyPr>
          <a:lstStyle>
            <a:lvl1pPr marL="0" indent="0">
              <a:buNone/>
              <a:defRPr sz="2200" b="0">
                <a:solidFill>
                  <a:schemeClr val="accent2"/>
                </a:solidFill>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zh-CN" altLang="en-US" dirty="0"/>
              <a:t>单击此处编辑母版文本样式</a:t>
            </a:r>
          </a:p>
        </p:txBody>
      </p:sp>
      <p:sp>
        <p:nvSpPr>
          <p:cNvPr id="6" name="Content Placeholder 5"/>
          <p:cNvSpPr>
            <a:spLocks noGrp="1"/>
          </p:cNvSpPr>
          <p:nvPr>
            <p:ph sz="quarter" idx="4"/>
          </p:nvPr>
        </p:nvSpPr>
        <p:spPr>
          <a:xfrm>
            <a:off x="6217710" y="2926054"/>
            <a:ext cx="5393100" cy="2934999"/>
          </a:xfrm>
        </p:spPr>
        <p:txBody>
          <a:bodyPr anchor="t">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7" name="Date Placeholder 6"/>
          <p:cNvSpPr>
            <a:spLocks noGrp="1"/>
          </p:cNvSpPr>
          <p:nvPr>
            <p:ph type="dt" sz="half" idx="10"/>
          </p:nvPr>
        </p:nvSpPr>
        <p:spPr/>
        <p:txBody>
          <a:bodyPr/>
          <a:lstStyle/>
          <a:p>
            <a:fld id="{E4551058-E5DB-324A-A8E9-6D3BEF243C3B}" type="datetimeFigureOut">
              <a:rPr kumimoji="1" lang="zh-CN" altLang="en-US" smtClean="0"/>
              <a:t>2026/9/7</a:t>
            </a:fld>
            <a:endParaRPr kumimoji="1" lang="zh-CN" altLang="en-US"/>
          </a:p>
        </p:txBody>
      </p:sp>
      <p:sp>
        <p:nvSpPr>
          <p:cNvPr id="8" name="Footer Placeholder 7"/>
          <p:cNvSpPr>
            <a:spLocks noGrp="1"/>
          </p:cNvSpPr>
          <p:nvPr>
            <p:ph type="ftr" sz="quarter" idx="11"/>
          </p:nvPr>
        </p:nvSpPr>
        <p:spPr/>
        <p:txBody>
          <a:bodyPr/>
          <a:lstStyle/>
          <a:p>
            <a:endParaRPr kumimoji="1" lang="zh-CN" altLang="en-US"/>
          </a:p>
        </p:txBody>
      </p:sp>
      <p:sp>
        <p:nvSpPr>
          <p:cNvPr id="9" name="Slide Number Placeholder 8"/>
          <p:cNvSpPr>
            <a:spLocks noGrp="1"/>
          </p:cNvSpPr>
          <p:nvPr>
            <p:ph type="sldNum" sz="quarter" idx="12"/>
          </p:nvPr>
        </p:nvSpPr>
        <p:spPr/>
        <p:txBody>
          <a:bodyPr/>
          <a:lstStyle/>
          <a:p>
            <a:fld id="{977BA8E6-E826-B147-AA17-E3D76A29629C}" type="slidenum">
              <a:rPr kumimoji="1" lang="zh-CN" altLang="en-US" smtClean="0"/>
              <a:t>‹#›</a:t>
            </a:fld>
            <a:endParaRPr kumimoji="1" lang="zh-CN" altLang="en-US"/>
          </a:p>
        </p:txBody>
      </p:sp>
      <p:sp>
        <p:nvSpPr>
          <p:cNvPr id="2" name="标题 1">
            <a:extLst>
              <a:ext uri="{FF2B5EF4-FFF2-40B4-BE49-F238E27FC236}">
                <a16:creationId xmlns:a16="http://schemas.microsoft.com/office/drawing/2014/main" id="{395155F9-0BCA-F049-9D40-4CF28F90A407}"/>
              </a:ext>
            </a:extLst>
          </p:cNvPr>
          <p:cNvSpPr>
            <a:spLocks noGrp="1"/>
          </p:cNvSpPr>
          <p:nvPr>
            <p:ph type="title"/>
          </p:nvPr>
        </p:nvSpPr>
        <p:spPr/>
        <p:txBody>
          <a:bodyPr/>
          <a:lstStyle/>
          <a:p>
            <a:r>
              <a:rPr kumimoji="1" lang="zh-CN" altLang="en-US"/>
              <a:t>单击此处编辑母版标题样式</a:t>
            </a:r>
          </a:p>
        </p:txBody>
      </p:sp>
    </p:spTree>
    <p:extLst>
      <p:ext uri="{BB962C8B-B14F-4D97-AF65-F5344CB8AC3E}">
        <p14:creationId xmlns:p14="http://schemas.microsoft.com/office/powerpoint/2010/main" val="320600487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仅标题">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fld id="{E4551058-E5DB-324A-A8E9-6D3BEF243C3B}" type="datetimeFigureOut">
              <a:rPr kumimoji="1" lang="zh-CN" altLang="en-US" smtClean="0"/>
              <a:t>2026/9/7</a:t>
            </a:fld>
            <a:endParaRPr kumimoji="1" lang="zh-CN" altLang="en-US"/>
          </a:p>
        </p:txBody>
      </p:sp>
      <p:sp>
        <p:nvSpPr>
          <p:cNvPr id="4" name="Footer Placeholder 3"/>
          <p:cNvSpPr>
            <a:spLocks noGrp="1"/>
          </p:cNvSpPr>
          <p:nvPr>
            <p:ph type="ftr" sz="quarter" idx="11"/>
          </p:nvPr>
        </p:nvSpPr>
        <p:spPr/>
        <p:txBody>
          <a:bodyPr/>
          <a:lstStyle/>
          <a:p>
            <a:endParaRPr kumimoji="1" lang="zh-CN" altLang="en-US"/>
          </a:p>
        </p:txBody>
      </p:sp>
      <p:sp>
        <p:nvSpPr>
          <p:cNvPr id="5" name="Slide Number Placeholder 4"/>
          <p:cNvSpPr>
            <a:spLocks noGrp="1"/>
          </p:cNvSpPr>
          <p:nvPr>
            <p:ph type="sldNum" sz="quarter" idx="12"/>
          </p:nvPr>
        </p:nvSpPr>
        <p:spPr/>
        <p:txBody>
          <a:bodyPr/>
          <a:lstStyle/>
          <a:p>
            <a:fld id="{977BA8E6-E826-B147-AA17-E3D76A29629C}" type="slidenum">
              <a:rPr kumimoji="1" lang="zh-CN" altLang="en-US" smtClean="0"/>
              <a:t>‹#›</a:t>
            </a:fld>
            <a:endParaRPr kumimoji="1" lang="zh-CN" altLang="en-US"/>
          </a:p>
        </p:txBody>
      </p:sp>
      <p:sp>
        <p:nvSpPr>
          <p:cNvPr id="2" name="标题 1">
            <a:extLst>
              <a:ext uri="{FF2B5EF4-FFF2-40B4-BE49-F238E27FC236}">
                <a16:creationId xmlns:a16="http://schemas.microsoft.com/office/drawing/2014/main" id="{DC31502A-7294-9848-AFF1-6116ACE1419B}"/>
              </a:ext>
            </a:extLst>
          </p:cNvPr>
          <p:cNvSpPr>
            <a:spLocks noGrp="1"/>
          </p:cNvSpPr>
          <p:nvPr>
            <p:ph type="title"/>
          </p:nvPr>
        </p:nvSpPr>
        <p:spPr/>
        <p:txBody>
          <a:bodyPr/>
          <a:lstStyle/>
          <a:p>
            <a:r>
              <a:rPr kumimoji="1" lang="zh-CN" altLang="en-US" dirty="0"/>
              <a:t>单击此处编辑母版标题样式</a:t>
            </a:r>
          </a:p>
        </p:txBody>
      </p:sp>
    </p:spTree>
    <p:extLst>
      <p:ext uri="{BB962C8B-B14F-4D97-AF65-F5344CB8AC3E}">
        <p14:creationId xmlns:p14="http://schemas.microsoft.com/office/powerpoint/2010/main" val="285752172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4551058-E5DB-324A-A8E9-6D3BEF243C3B}" type="datetimeFigureOut">
              <a:rPr kumimoji="1" lang="zh-CN" altLang="en-US" smtClean="0"/>
              <a:t>2026/9/7</a:t>
            </a:fld>
            <a:endParaRPr kumimoji="1" lang="zh-CN" altLang="en-US"/>
          </a:p>
        </p:txBody>
      </p:sp>
      <p:sp>
        <p:nvSpPr>
          <p:cNvPr id="3" name="Footer Placeholder 2"/>
          <p:cNvSpPr>
            <a:spLocks noGrp="1"/>
          </p:cNvSpPr>
          <p:nvPr>
            <p:ph type="ftr" sz="quarter" idx="11"/>
          </p:nvPr>
        </p:nvSpPr>
        <p:spPr/>
        <p:txBody>
          <a:bodyPr/>
          <a:lstStyle/>
          <a:p>
            <a:endParaRPr kumimoji="1" lang="zh-CN" altLang="en-US"/>
          </a:p>
        </p:txBody>
      </p:sp>
      <p:sp>
        <p:nvSpPr>
          <p:cNvPr id="4" name="Slide Number Placeholder 3"/>
          <p:cNvSpPr>
            <a:spLocks noGrp="1"/>
          </p:cNvSpPr>
          <p:nvPr>
            <p:ph type="sldNum" sz="quarter" idx="12"/>
          </p:nvPr>
        </p:nvSpPr>
        <p:spPr/>
        <p:txBody>
          <a:bodyPr/>
          <a:lstStyle/>
          <a:p>
            <a:fld id="{977BA8E6-E826-B147-AA17-E3D76A29629C}" type="slidenum">
              <a:rPr kumimoji="1" lang="zh-CN" altLang="en-US" smtClean="0"/>
              <a:t>‹#›</a:t>
            </a:fld>
            <a:endParaRPr kumimoji="1" lang="zh-CN" altLang="en-US"/>
          </a:p>
        </p:txBody>
      </p:sp>
      <p:sp>
        <p:nvSpPr>
          <p:cNvPr id="8" name="Rectangle 8">
            <a:extLst>
              <a:ext uri="{FF2B5EF4-FFF2-40B4-BE49-F238E27FC236}">
                <a16:creationId xmlns:a16="http://schemas.microsoft.com/office/drawing/2014/main" id="{E5F10BF9-D5CD-1D48-BAAA-1C82ACBE3EEC}"/>
              </a:ext>
            </a:extLst>
          </p:cNvPr>
          <p:cNvSpPr/>
          <p:nvPr userDrawn="1"/>
        </p:nvSpPr>
        <p:spPr>
          <a:xfrm>
            <a:off x="8144933" y="436481"/>
            <a:ext cx="3657601" cy="720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9" name="Rectangle 9">
            <a:extLst>
              <a:ext uri="{FF2B5EF4-FFF2-40B4-BE49-F238E27FC236}">
                <a16:creationId xmlns:a16="http://schemas.microsoft.com/office/drawing/2014/main" id="{591DCB4B-F7F0-EB42-A850-558FBD4EBF7E}"/>
              </a:ext>
            </a:extLst>
          </p:cNvPr>
          <p:cNvSpPr/>
          <p:nvPr userDrawn="1"/>
        </p:nvSpPr>
        <p:spPr>
          <a:xfrm>
            <a:off x="389467" y="436481"/>
            <a:ext cx="7687733" cy="72000"/>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sp>
    </p:spTree>
    <p:extLst>
      <p:ext uri="{BB962C8B-B14F-4D97-AF65-F5344CB8AC3E}">
        <p14:creationId xmlns:p14="http://schemas.microsoft.com/office/powerpoint/2010/main" val="258948320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objTx" preserve="1">
  <p:cSld name="内容与标题">
    <p:spTree>
      <p:nvGrpSpPr>
        <p:cNvPr id="1" name=""/>
        <p:cNvGrpSpPr/>
        <p:nvPr/>
      </p:nvGrpSpPr>
      <p:grpSpPr>
        <a:xfrm>
          <a:off x="0" y="0"/>
          <a:ext cx="0" cy="0"/>
          <a:chOff x="0" y="0"/>
          <a:chExt cx="0" cy="0"/>
        </a:xfrm>
      </p:grpSpPr>
      <p:sp>
        <p:nvSpPr>
          <p:cNvPr id="10" name="Rectangle 7">
            <a:extLst>
              <a:ext uri="{FF2B5EF4-FFF2-40B4-BE49-F238E27FC236}">
                <a16:creationId xmlns:a16="http://schemas.microsoft.com/office/drawing/2014/main" id="{DD0108F8-765A-DF43-9CAF-934132882EE3}"/>
              </a:ext>
            </a:extLst>
          </p:cNvPr>
          <p:cNvSpPr>
            <a:spLocks noChangeAspect="1"/>
          </p:cNvSpPr>
          <p:nvPr userDrawn="1"/>
        </p:nvSpPr>
        <p:spPr>
          <a:xfrm>
            <a:off x="447817" y="5141974"/>
            <a:ext cx="11290860"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pic>
        <p:nvPicPr>
          <p:cNvPr id="12" name="图片 11">
            <a:extLst>
              <a:ext uri="{FF2B5EF4-FFF2-40B4-BE49-F238E27FC236}">
                <a16:creationId xmlns:a16="http://schemas.microsoft.com/office/drawing/2014/main" id="{CDDAB4A3-B3EF-6A4A-A3CA-230AFEAD99E0}"/>
              </a:ext>
            </a:extLst>
          </p:cNvPr>
          <p:cNvPicPr>
            <a:picLocks noChangeAspect="1"/>
          </p:cNvPicPr>
          <p:nvPr userDrawn="1"/>
        </p:nvPicPr>
        <p:blipFill>
          <a:blip r:embed="rId2"/>
          <a:stretch>
            <a:fillRect/>
          </a:stretch>
        </p:blipFill>
        <p:spPr>
          <a:xfrm>
            <a:off x="10632535" y="5261609"/>
            <a:ext cx="1015763" cy="1019553"/>
          </a:xfrm>
          <a:prstGeom prst="rect">
            <a:avLst/>
          </a:prstGeom>
        </p:spPr>
      </p:pic>
      <p:sp>
        <p:nvSpPr>
          <p:cNvPr id="2" name="Title 1"/>
          <p:cNvSpPr>
            <a:spLocks noGrp="1"/>
          </p:cNvSpPr>
          <p:nvPr>
            <p:ph type="title"/>
          </p:nvPr>
        </p:nvSpPr>
        <p:spPr>
          <a:xfrm>
            <a:off x="581192" y="5262296"/>
            <a:ext cx="4909445" cy="689514"/>
          </a:xfrm>
          <a:prstGeom prst="rect">
            <a:avLst/>
          </a:prstGeom>
        </p:spPr>
        <p:txBody>
          <a:bodyPr anchor="ctr">
            <a:normAutofit/>
          </a:bodyPr>
          <a:lstStyle>
            <a:lvl1pPr algn="l">
              <a:defRPr sz="2400" b="0">
                <a:solidFill>
                  <a:schemeClr val="bg1"/>
                </a:solidFill>
              </a:defRPr>
            </a:lvl1pPr>
          </a:lstStyle>
          <a:p>
            <a:r>
              <a:rPr lang="zh-CN" altLang="en-US" dirty="0"/>
              <a:t>单击此处编辑母版标题样式</a:t>
            </a:r>
            <a:endParaRPr lang="en-US" dirty="0"/>
          </a:p>
        </p:txBody>
      </p:sp>
      <p:sp>
        <p:nvSpPr>
          <p:cNvPr id="3" name="Content Placeholder 2"/>
          <p:cNvSpPr>
            <a:spLocks noGrp="1"/>
          </p:cNvSpPr>
          <p:nvPr>
            <p:ph idx="1"/>
          </p:nvPr>
        </p:nvSpPr>
        <p:spPr>
          <a:xfrm>
            <a:off x="447816" y="601200"/>
            <a:ext cx="11292840" cy="4204800"/>
          </a:xfrm>
        </p:spPr>
        <p:txBody>
          <a:bodyPr anchor="ctr">
            <a:normAutofit/>
          </a:bodyPr>
          <a:lstStyle>
            <a:lvl1pPr>
              <a:defRPr sz="2000">
                <a:solidFill>
                  <a:schemeClr val="tx2"/>
                </a:solidFill>
              </a:defRPr>
            </a:lvl1pPr>
            <a:lvl2pPr>
              <a:defRPr sz="1800">
                <a:solidFill>
                  <a:schemeClr val="tx2"/>
                </a:solidFill>
              </a:defRPr>
            </a:lvl2pPr>
            <a:lvl3pPr>
              <a:defRPr sz="1600">
                <a:solidFill>
                  <a:schemeClr val="tx2"/>
                </a:solidFill>
              </a:defRPr>
            </a:lvl3pPr>
            <a:lvl4pPr>
              <a:defRPr sz="1400">
                <a:solidFill>
                  <a:schemeClr val="tx2"/>
                </a:solidFill>
              </a:defRPr>
            </a:lvl4pPr>
            <a:lvl5pPr>
              <a:defRPr sz="1400">
                <a:solidFill>
                  <a:schemeClr val="tx2"/>
                </a:solidFill>
              </a:defRPr>
            </a:lvl5pPr>
            <a:lvl6pPr>
              <a:defRPr sz="1400">
                <a:solidFill>
                  <a:schemeClr val="tx2"/>
                </a:solidFill>
              </a:defRPr>
            </a:lvl6pPr>
            <a:lvl7pPr>
              <a:defRPr sz="1400">
                <a:solidFill>
                  <a:schemeClr val="tx2"/>
                </a:solidFill>
              </a:defRPr>
            </a:lvl7pPr>
            <a:lvl8pPr>
              <a:defRPr sz="1400">
                <a:solidFill>
                  <a:schemeClr val="tx2"/>
                </a:solidFill>
              </a:defRPr>
            </a:lvl8pPr>
            <a:lvl9pPr>
              <a:defRPr sz="1400">
                <a:solidFill>
                  <a:schemeClr val="tx2"/>
                </a:solidFill>
              </a:defRPr>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Text Placeholder 3"/>
          <p:cNvSpPr>
            <a:spLocks noGrp="1"/>
          </p:cNvSpPr>
          <p:nvPr>
            <p:ph type="body" sz="half" idx="2"/>
          </p:nvPr>
        </p:nvSpPr>
        <p:spPr>
          <a:xfrm>
            <a:off x="5740824" y="5262298"/>
            <a:ext cx="4708931" cy="689515"/>
          </a:xfrm>
        </p:spPr>
        <p:txBody>
          <a:bodyPr anchor="ctr">
            <a:normAutofit/>
          </a:bodyPr>
          <a:lstStyle>
            <a:lvl1pPr marL="0" indent="0" algn="r">
              <a:buNone/>
              <a:defRPr sz="1600">
                <a:solidFill>
                  <a:schemeClr val="bg1"/>
                </a:solidFill>
              </a:defRPr>
            </a:lvl1pPr>
            <a:lvl2pPr marL="457189" indent="0">
              <a:buNone/>
              <a:defRPr sz="1100"/>
            </a:lvl2pPr>
            <a:lvl3pPr marL="914377" indent="0">
              <a:buNone/>
              <a:defRPr sz="1000"/>
            </a:lvl3pPr>
            <a:lvl4pPr marL="1371566" indent="0">
              <a:buNone/>
              <a:defRPr sz="900"/>
            </a:lvl4pPr>
            <a:lvl5pPr marL="1828754" indent="0">
              <a:buNone/>
              <a:defRPr sz="900"/>
            </a:lvl5pPr>
            <a:lvl6pPr marL="2285943" indent="0">
              <a:buNone/>
              <a:defRPr sz="900"/>
            </a:lvl6pPr>
            <a:lvl7pPr marL="2743131" indent="0">
              <a:buNone/>
              <a:defRPr sz="900"/>
            </a:lvl7pPr>
            <a:lvl8pPr marL="3200320" indent="0">
              <a:buNone/>
              <a:defRPr sz="900"/>
            </a:lvl8pPr>
            <a:lvl9pPr marL="3657509" indent="0">
              <a:buNone/>
              <a:defRPr sz="900"/>
            </a:lvl9pPr>
          </a:lstStyle>
          <a:p>
            <a:pPr lvl="0"/>
            <a:r>
              <a:rPr lang="zh-CN" altLang="en-US" dirty="0"/>
              <a:t>单击此处编辑母版文本样式</a:t>
            </a:r>
          </a:p>
        </p:txBody>
      </p:sp>
      <p:sp>
        <p:nvSpPr>
          <p:cNvPr id="5" name="Date Placeholder 4"/>
          <p:cNvSpPr>
            <a:spLocks noGrp="1"/>
          </p:cNvSpPr>
          <p:nvPr>
            <p:ph type="dt" sz="half" idx="10"/>
          </p:nvPr>
        </p:nvSpPr>
        <p:spPr/>
        <p:txBody>
          <a:bodyPr/>
          <a:lstStyle>
            <a:lvl1pPr>
              <a:defRPr>
                <a:solidFill>
                  <a:schemeClr val="accent1">
                    <a:lumMod val="75000"/>
                    <a:lumOff val="25000"/>
                  </a:schemeClr>
                </a:solidFill>
              </a:defRPr>
            </a:lvl1pPr>
          </a:lstStyle>
          <a:p>
            <a:fld id="{E4551058-E5DB-324A-A8E9-6D3BEF243C3B}" type="datetimeFigureOut">
              <a:rPr kumimoji="1" lang="zh-CN" altLang="en-US" smtClean="0"/>
              <a:t>2026/9/7</a:t>
            </a:fld>
            <a:endParaRPr kumimoji="1" lang="zh-CN" altLang="en-US"/>
          </a:p>
        </p:txBody>
      </p:sp>
      <p:sp>
        <p:nvSpPr>
          <p:cNvPr id="6" name="Footer Placeholder 5"/>
          <p:cNvSpPr>
            <a:spLocks noGrp="1"/>
          </p:cNvSpPr>
          <p:nvPr>
            <p:ph type="ftr" sz="quarter" idx="11"/>
          </p:nvPr>
        </p:nvSpPr>
        <p:spPr/>
        <p:txBody>
          <a:bodyPr/>
          <a:lstStyle>
            <a:lvl1pPr>
              <a:defRPr>
                <a:solidFill>
                  <a:schemeClr val="accent1">
                    <a:lumMod val="75000"/>
                    <a:lumOff val="25000"/>
                  </a:schemeClr>
                </a:solidFill>
              </a:defRPr>
            </a:lvl1pPr>
          </a:lstStyle>
          <a:p>
            <a:endParaRPr kumimoji="1" lang="zh-CN" altLang="en-US"/>
          </a:p>
        </p:txBody>
      </p:sp>
      <p:sp>
        <p:nvSpPr>
          <p:cNvPr id="7" name="Slide Number Placeholder 6"/>
          <p:cNvSpPr>
            <a:spLocks noGrp="1"/>
          </p:cNvSpPr>
          <p:nvPr>
            <p:ph type="sldNum" sz="quarter" idx="12"/>
          </p:nvPr>
        </p:nvSpPr>
        <p:spPr/>
        <p:txBody>
          <a:bodyPr/>
          <a:lstStyle>
            <a:lvl1pPr>
              <a:defRPr>
                <a:solidFill>
                  <a:schemeClr val="accent1">
                    <a:lumMod val="75000"/>
                    <a:lumOff val="25000"/>
                  </a:schemeClr>
                </a:solidFill>
              </a:defRPr>
            </a:lvl1pPr>
          </a:lstStyle>
          <a:p>
            <a:fld id="{977BA8E6-E826-B147-AA17-E3D76A29629C}" type="slidenum">
              <a:rPr kumimoji="1" lang="zh-CN" altLang="en-US" smtClean="0"/>
              <a:t>‹#›</a:t>
            </a:fld>
            <a:endParaRPr kumimoji="1" lang="zh-CN" altLang="en-US"/>
          </a:p>
        </p:txBody>
      </p:sp>
    </p:spTree>
    <p:extLst>
      <p:ext uri="{BB962C8B-B14F-4D97-AF65-F5344CB8AC3E}">
        <p14:creationId xmlns:p14="http://schemas.microsoft.com/office/powerpoint/2010/main" val="70207481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581193" y="4693389"/>
            <a:ext cx="11029616" cy="566738"/>
          </a:xfrm>
          <a:prstGeom prst="rect">
            <a:avLst/>
          </a:prstGeom>
        </p:spPr>
        <p:txBody>
          <a:bodyPr anchor="b">
            <a:normAutofit/>
          </a:bodyPr>
          <a:lstStyle>
            <a:lvl1pPr algn="l">
              <a:defRPr sz="2400" b="0">
                <a:solidFill>
                  <a:schemeClr val="accent1"/>
                </a:solidFill>
              </a:defRPr>
            </a:lvl1pPr>
          </a:lstStyle>
          <a:p>
            <a:r>
              <a:rPr lang="zh-CN" altLang="en-US" dirty="0"/>
              <a:t>单击此处编辑母版标题样式</a:t>
            </a:r>
            <a:endParaRPr lang="en-US" dirty="0"/>
          </a:p>
        </p:txBody>
      </p:sp>
      <p:sp>
        <p:nvSpPr>
          <p:cNvPr id="3" name="Picture Placeholder 2"/>
          <p:cNvSpPr>
            <a:spLocks noGrp="1" noChangeAspect="1"/>
          </p:cNvSpPr>
          <p:nvPr>
            <p:ph type="pic" idx="1"/>
          </p:nvPr>
        </p:nvSpPr>
        <p:spPr>
          <a:xfrm>
            <a:off x="447817" y="599725"/>
            <a:ext cx="11290859" cy="3557252"/>
          </a:xfrm>
        </p:spPr>
        <p:txBody>
          <a:bodyPr anchor="t">
            <a:normAutofit/>
          </a:bodyPr>
          <a:lstStyle>
            <a:lvl1pPr marL="0" indent="0" algn="ctr">
              <a:buNone/>
              <a:defRPr sz="1600"/>
            </a:lvl1pPr>
            <a:lvl2pPr marL="457189" indent="0">
              <a:buNone/>
              <a:defRPr sz="1600"/>
            </a:lvl2pPr>
            <a:lvl3pPr marL="914377" indent="0">
              <a:buNone/>
              <a:defRPr sz="1600"/>
            </a:lvl3pPr>
            <a:lvl4pPr marL="1371566" indent="0">
              <a:buNone/>
              <a:defRPr sz="1600"/>
            </a:lvl4pPr>
            <a:lvl5pPr marL="1828754" indent="0">
              <a:buNone/>
              <a:defRPr sz="1600"/>
            </a:lvl5pPr>
            <a:lvl6pPr marL="2285943" indent="0">
              <a:buNone/>
              <a:defRPr sz="1600"/>
            </a:lvl6pPr>
            <a:lvl7pPr marL="2743131" indent="0">
              <a:buNone/>
              <a:defRPr sz="1600"/>
            </a:lvl7pPr>
            <a:lvl8pPr marL="3200320" indent="0">
              <a:buNone/>
              <a:defRPr sz="1600"/>
            </a:lvl8pPr>
            <a:lvl9pPr marL="3657509" indent="0">
              <a:buNone/>
              <a:defRPr sz="1600"/>
            </a:lvl9pPr>
          </a:lstStyle>
          <a:p>
            <a:r>
              <a:rPr lang="zh-CN" altLang="en-US"/>
              <a:t>单击图标添加图片</a:t>
            </a:r>
            <a:endParaRPr lang="en-US" dirty="0"/>
          </a:p>
        </p:txBody>
      </p:sp>
      <p:sp>
        <p:nvSpPr>
          <p:cNvPr id="4" name="Text Placeholder 3"/>
          <p:cNvSpPr>
            <a:spLocks noGrp="1"/>
          </p:cNvSpPr>
          <p:nvPr>
            <p:ph type="body" sz="half" idx="2"/>
          </p:nvPr>
        </p:nvSpPr>
        <p:spPr>
          <a:xfrm>
            <a:off x="581193" y="5260129"/>
            <a:ext cx="11029617" cy="598671"/>
          </a:xfrm>
        </p:spPr>
        <p:txBody>
          <a:bodyPr>
            <a:normAutofit/>
          </a:bodyPr>
          <a:lstStyle>
            <a:lvl1pPr marL="0" indent="0">
              <a:buNone/>
              <a:defRPr sz="1200"/>
            </a:lvl1pPr>
            <a:lvl2pPr marL="457189" indent="0">
              <a:buNone/>
              <a:defRPr sz="1200"/>
            </a:lvl2pPr>
            <a:lvl3pPr marL="914377" indent="0">
              <a:buNone/>
              <a:defRPr sz="1000"/>
            </a:lvl3pPr>
            <a:lvl4pPr marL="1371566" indent="0">
              <a:buNone/>
              <a:defRPr sz="900"/>
            </a:lvl4pPr>
            <a:lvl5pPr marL="1828754" indent="0">
              <a:buNone/>
              <a:defRPr sz="900"/>
            </a:lvl5pPr>
            <a:lvl6pPr marL="2285943" indent="0">
              <a:buNone/>
              <a:defRPr sz="900"/>
            </a:lvl6pPr>
            <a:lvl7pPr marL="2743131" indent="0">
              <a:buNone/>
              <a:defRPr sz="900"/>
            </a:lvl7pPr>
            <a:lvl8pPr marL="3200320" indent="0">
              <a:buNone/>
              <a:defRPr sz="900"/>
            </a:lvl8pPr>
            <a:lvl9pPr marL="3657509" indent="0">
              <a:buNone/>
              <a:defRPr sz="900"/>
            </a:lvl9pPr>
          </a:lstStyle>
          <a:p>
            <a:pPr lvl="0"/>
            <a:r>
              <a:rPr lang="zh-CN" altLang="en-US" dirty="0"/>
              <a:t>单击此处编辑母版文本样式</a:t>
            </a:r>
          </a:p>
        </p:txBody>
      </p:sp>
      <p:sp>
        <p:nvSpPr>
          <p:cNvPr id="5" name="Date Placeholder 4"/>
          <p:cNvSpPr>
            <a:spLocks noGrp="1"/>
          </p:cNvSpPr>
          <p:nvPr>
            <p:ph type="dt" sz="half" idx="10"/>
          </p:nvPr>
        </p:nvSpPr>
        <p:spPr/>
        <p:txBody>
          <a:bodyPr/>
          <a:lstStyle/>
          <a:p>
            <a:fld id="{E4551058-E5DB-324A-A8E9-6D3BEF243C3B}" type="datetimeFigureOut">
              <a:rPr kumimoji="1" lang="zh-CN" altLang="en-US" smtClean="0"/>
              <a:t>2026/9/7</a:t>
            </a:fld>
            <a:endParaRPr kumimoji="1" lang="zh-CN" altLang="en-US"/>
          </a:p>
        </p:txBody>
      </p:sp>
      <p:sp>
        <p:nvSpPr>
          <p:cNvPr id="6" name="Footer Placeholder 5"/>
          <p:cNvSpPr>
            <a:spLocks noGrp="1"/>
          </p:cNvSpPr>
          <p:nvPr>
            <p:ph type="ftr" sz="quarter" idx="11"/>
          </p:nvPr>
        </p:nvSpPr>
        <p:spPr/>
        <p:txBody>
          <a:bodyPr/>
          <a:lstStyle/>
          <a:p>
            <a:endParaRPr kumimoji="1" lang="zh-CN" altLang="en-US"/>
          </a:p>
        </p:txBody>
      </p:sp>
      <p:sp>
        <p:nvSpPr>
          <p:cNvPr id="7" name="Slide Number Placeholder 6"/>
          <p:cNvSpPr>
            <a:spLocks noGrp="1"/>
          </p:cNvSpPr>
          <p:nvPr>
            <p:ph type="sldNum" sz="quarter" idx="12"/>
          </p:nvPr>
        </p:nvSpPr>
        <p:spPr/>
        <p:txBody>
          <a:bodyPr/>
          <a:lstStyle/>
          <a:p>
            <a:fld id="{977BA8E6-E826-B147-AA17-E3D76A29629C}" type="slidenum">
              <a:rPr kumimoji="1" lang="zh-CN" altLang="en-US" smtClean="0"/>
              <a:t>‹#›</a:t>
            </a:fld>
            <a:endParaRPr kumimoji="1" lang="zh-CN" altLang="en-US"/>
          </a:p>
        </p:txBody>
      </p:sp>
      <p:sp>
        <p:nvSpPr>
          <p:cNvPr id="9" name="Rectangle 8">
            <a:extLst>
              <a:ext uri="{FF2B5EF4-FFF2-40B4-BE49-F238E27FC236}">
                <a16:creationId xmlns:a16="http://schemas.microsoft.com/office/drawing/2014/main" id="{01F9AFCA-0D8E-7C4B-9EE4-15258FA226B6}"/>
              </a:ext>
            </a:extLst>
          </p:cNvPr>
          <p:cNvSpPr/>
          <p:nvPr userDrawn="1"/>
        </p:nvSpPr>
        <p:spPr>
          <a:xfrm>
            <a:off x="8144933" y="436481"/>
            <a:ext cx="3657601" cy="720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a:extLst>
              <a:ext uri="{FF2B5EF4-FFF2-40B4-BE49-F238E27FC236}">
                <a16:creationId xmlns:a16="http://schemas.microsoft.com/office/drawing/2014/main" id="{9C93E312-E758-E548-90FC-22E1E7EC6CCE}"/>
              </a:ext>
            </a:extLst>
          </p:cNvPr>
          <p:cNvSpPr/>
          <p:nvPr userDrawn="1"/>
        </p:nvSpPr>
        <p:spPr>
          <a:xfrm>
            <a:off x="389467" y="436481"/>
            <a:ext cx="7687733" cy="72000"/>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sp>
    </p:spTree>
    <p:extLst>
      <p:ext uri="{BB962C8B-B14F-4D97-AF65-F5344CB8AC3E}">
        <p14:creationId xmlns:p14="http://schemas.microsoft.com/office/powerpoint/2010/main" val="297979733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标题和竖排文字">
    <p:spTree>
      <p:nvGrpSpPr>
        <p:cNvPr id="1" name=""/>
        <p:cNvGrpSpPr/>
        <p:nvPr/>
      </p:nvGrpSpPr>
      <p:grpSpPr>
        <a:xfrm>
          <a:off x="0" y="0"/>
          <a:ext cx="0" cy="0"/>
          <a:chOff x="0" y="0"/>
          <a:chExt cx="0" cy="0"/>
        </a:xfrm>
      </p:grpSpPr>
      <p:sp>
        <p:nvSpPr>
          <p:cNvPr id="3" name="Vertical Text Placeholder 2"/>
          <p:cNvSpPr>
            <a:spLocks noGrp="1"/>
          </p:cNvSpPr>
          <p:nvPr>
            <p:ph type="body" orient="vert" idx="1"/>
          </p:nvPr>
        </p:nvSpPr>
        <p:spPr/>
        <p:txBody>
          <a:bodyPr vert="eaVert" anchor="t"/>
          <a:lstStyle>
            <a:lvl1pPr algn="l">
              <a:defRPr/>
            </a:lvl1pPr>
            <a:lvl2pPr algn="l">
              <a:defRPr/>
            </a:lvl2pPr>
            <a:lvl3pPr algn="l">
              <a:defRPr/>
            </a:lvl3pPr>
            <a:lvl4pPr algn="l">
              <a:defRPr/>
            </a:lvl4pPr>
            <a:lvl5pPr algn="l">
              <a:defRPr/>
            </a:lvl5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10"/>
          </p:nvPr>
        </p:nvSpPr>
        <p:spPr/>
        <p:txBody>
          <a:bodyPr/>
          <a:lstStyle/>
          <a:p>
            <a:fld id="{E4551058-E5DB-324A-A8E9-6D3BEF243C3B}" type="datetimeFigureOut">
              <a:rPr kumimoji="1" lang="zh-CN" altLang="en-US" smtClean="0"/>
              <a:t>2026/9/7</a:t>
            </a:fld>
            <a:endParaRPr kumimoji="1" lang="zh-CN" altLang="en-US"/>
          </a:p>
        </p:txBody>
      </p:sp>
      <p:sp>
        <p:nvSpPr>
          <p:cNvPr id="5" name="Footer Placeholder 4"/>
          <p:cNvSpPr>
            <a:spLocks noGrp="1"/>
          </p:cNvSpPr>
          <p:nvPr>
            <p:ph type="ftr" sz="quarter" idx="11"/>
          </p:nvPr>
        </p:nvSpPr>
        <p:spPr/>
        <p:txBody>
          <a:bodyPr/>
          <a:lstStyle/>
          <a:p>
            <a:endParaRPr kumimoji="1" lang="zh-CN" altLang="en-US"/>
          </a:p>
        </p:txBody>
      </p:sp>
      <p:sp>
        <p:nvSpPr>
          <p:cNvPr id="6" name="Slide Number Placeholder 5"/>
          <p:cNvSpPr>
            <a:spLocks noGrp="1"/>
          </p:cNvSpPr>
          <p:nvPr>
            <p:ph type="sldNum" sz="quarter" idx="12"/>
          </p:nvPr>
        </p:nvSpPr>
        <p:spPr/>
        <p:txBody>
          <a:bodyPr/>
          <a:lstStyle/>
          <a:p>
            <a:fld id="{977BA8E6-E826-B147-AA17-E3D76A29629C}" type="slidenum">
              <a:rPr kumimoji="1" lang="zh-CN" altLang="en-US" smtClean="0"/>
              <a:t>‹#›</a:t>
            </a:fld>
            <a:endParaRPr kumimoji="1" lang="zh-CN" altLang="en-US"/>
          </a:p>
        </p:txBody>
      </p:sp>
      <p:sp>
        <p:nvSpPr>
          <p:cNvPr id="2" name="标题 1">
            <a:extLst>
              <a:ext uri="{FF2B5EF4-FFF2-40B4-BE49-F238E27FC236}">
                <a16:creationId xmlns:a16="http://schemas.microsoft.com/office/drawing/2014/main" id="{FD92ADC6-CE60-BE46-B46D-E72C08A66F9E}"/>
              </a:ext>
            </a:extLst>
          </p:cNvPr>
          <p:cNvSpPr>
            <a:spLocks noGrp="1"/>
          </p:cNvSpPr>
          <p:nvPr>
            <p:ph type="title"/>
          </p:nvPr>
        </p:nvSpPr>
        <p:spPr/>
        <p:txBody>
          <a:bodyPr/>
          <a:lstStyle/>
          <a:p>
            <a:r>
              <a:rPr kumimoji="1" lang="zh-CN" altLang="en-US"/>
              <a:t>单击此处编辑母版标题样式</a:t>
            </a:r>
          </a:p>
        </p:txBody>
      </p:sp>
    </p:spTree>
    <p:extLst>
      <p:ext uri="{BB962C8B-B14F-4D97-AF65-F5344CB8AC3E}">
        <p14:creationId xmlns:p14="http://schemas.microsoft.com/office/powerpoint/2010/main" val="422769185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竖排标题与文本">
    <p:spTree>
      <p:nvGrpSpPr>
        <p:cNvPr id="1" name=""/>
        <p:cNvGrpSpPr/>
        <p:nvPr/>
      </p:nvGrpSpPr>
      <p:grpSpPr>
        <a:xfrm>
          <a:off x="0" y="0"/>
          <a:ext cx="0" cy="0"/>
          <a:chOff x="0" y="0"/>
          <a:chExt cx="0" cy="0"/>
        </a:xfrm>
      </p:grpSpPr>
      <p:sp>
        <p:nvSpPr>
          <p:cNvPr id="10" name="Rectangle 6">
            <a:extLst>
              <a:ext uri="{FF2B5EF4-FFF2-40B4-BE49-F238E27FC236}">
                <a16:creationId xmlns:a16="http://schemas.microsoft.com/office/drawing/2014/main" id="{5BC0A53C-150C-A541-93A8-A5B4C7EFDD96}"/>
              </a:ext>
            </a:extLst>
          </p:cNvPr>
          <p:cNvSpPr>
            <a:spLocks noChangeAspect="1"/>
          </p:cNvSpPr>
          <p:nvPr userDrawn="1"/>
        </p:nvSpPr>
        <p:spPr>
          <a:xfrm>
            <a:off x="8839201" y="599725"/>
            <a:ext cx="2906817" cy="581695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2" name="Vertical Text Placeholder 2">
            <a:extLst>
              <a:ext uri="{FF2B5EF4-FFF2-40B4-BE49-F238E27FC236}">
                <a16:creationId xmlns:a16="http://schemas.microsoft.com/office/drawing/2014/main" id="{5F0B6C42-B8E7-1C45-A053-18F7FE5B2B9E}"/>
              </a:ext>
            </a:extLst>
          </p:cNvPr>
          <p:cNvSpPr>
            <a:spLocks noGrp="1"/>
          </p:cNvSpPr>
          <p:nvPr>
            <p:ph type="body" orient="vert" idx="1"/>
          </p:nvPr>
        </p:nvSpPr>
        <p:spPr>
          <a:xfrm>
            <a:off x="774923" y="675726"/>
            <a:ext cx="7896279" cy="5183073"/>
          </a:xfrm>
        </p:spPr>
        <p:txBody>
          <a:bodyPr vert="eaVert" ancho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13" name="Date Placeholder 3">
            <a:extLst>
              <a:ext uri="{FF2B5EF4-FFF2-40B4-BE49-F238E27FC236}">
                <a16:creationId xmlns:a16="http://schemas.microsoft.com/office/drawing/2014/main" id="{9D8F7654-F738-DB4A-BDC9-C147359A8918}"/>
              </a:ext>
            </a:extLst>
          </p:cNvPr>
          <p:cNvSpPr>
            <a:spLocks noGrp="1"/>
          </p:cNvSpPr>
          <p:nvPr>
            <p:ph type="dt" sz="half" idx="10"/>
          </p:nvPr>
        </p:nvSpPr>
        <p:spPr>
          <a:xfrm>
            <a:off x="8993673" y="5956137"/>
            <a:ext cx="1328141" cy="365125"/>
          </a:xfrm>
        </p:spPr>
        <p:txBody>
          <a:bodyPr/>
          <a:lstStyle>
            <a:lvl1pPr>
              <a:defRPr>
                <a:solidFill>
                  <a:schemeClr val="accent1">
                    <a:lumMod val="75000"/>
                    <a:lumOff val="25000"/>
                  </a:schemeClr>
                </a:solidFill>
              </a:defRPr>
            </a:lvl1pPr>
          </a:lstStyle>
          <a:p>
            <a:fld id="{E4551058-E5DB-324A-A8E9-6D3BEF243C3B}" type="datetimeFigureOut">
              <a:rPr kumimoji="1" lang="zh-CN" altLang="en-US" smtClean="0"/>
              <a:t>2026/9/7</a:t>
            </a:fld>
            <a:endParaRPr kumimoji="1" lang="zh-CN" altLang="en-US"/>
          </a:p>
        </p:txBody>
      </p:sp>
      <p:sp>
        <p:nvSpPr>
          <p:cNvPr id="14" name="Footer Placeholder 4">
            <a:extLst>
              <a:ext uri="{FF2B5EF4-FFF2-40B4-BE49-F238E27FC236}">
                <a16:creationId xmlns:a16="http://schemas.microsoft.com/office/drawing/2014/main" id="{A49875D8-CF05-584E-A606-B0C7A6C66F30}"/>
              </a:ext>
            </a:extLst>
          </p:cNvPr>
          <p:cNvSpPr>
            <a:spLocks noGrp="1"/>
          </p:cNvSpPr>
          <p:nvPr>
            <p:ph type="ftr" sz="quarter" idx="11"/>
          </p:nvPr>
        </p:nvSpPr>
        <p:spPr>
          <a:xfrm>
            <a:off x="774923" y="5951811"/>
            <a:ext cx="7896279" cy="365125"/>
          </a:xfrm>
        </p:spPr>
        <p:txBody>
          <a:bodyPr/>
          <a:lstStyle/>
          <a:p>
            <a:endParaRPr kumimoji="1" lang="zh-CN" altLang="en-US"/>
          </a:p>
        </p:txBody>
      </p:sp>
      <p:sp>
        <p:nvSpPr>
          <p:cNvPr id="15" name="Slide Number Placeholder 5">
            <a:extLst>
              <a:ext uri="{FF2B5EF4-FFF2-40B4-BE49-F238E27FC236}">
                <a16:creationId xmlns:a16="http://schemas.microsoft.com/office/drawing/2014/main" id="{4FDE4144-AE9C-764C-8F13-6FBD3DFFAD56}"/>
              </a:ext>
            </a:extLst>
          </p:cNvPr>
          <p:cNvSpPr>
            <a:spLocks noGrp="1"/>
          </p:cNvSpPr>
          <p:nvPr>
            <p:ph type="sldNum" sz="quarter" idx="12"/>
          </p:nvPr>
        </p:nvSpPr>
        <p:spPr>
          <a:xfrm>
            <a:off x="10446615" y="5956137"/>
            <a:ext cx="1164195" cy="365125"/>
          </a:xfrm>
        </p:spPr>
        <p:txBody>
          <a:bodyPr/>
          <a:lstStyle>
            <a:lvl1pPr>
              <a:defRPr>
                <a:solidFill>
                  <a:schemeClr val="accent1">
                    <a:lumMod val="75000"/>
                    <a:lumOff val="25000"/>
                  </a:schemeClr>
                </a:solidFill>
              </a:defRPr>
            </a:lvl1pPr>
          </a:lstStyle>
          <a:p>
            <a:fld id="{977BA8E6-E826-B147-AA17-E3D76A29629C}" type="slidenum">
              <a:rPr kumimoji="1" lang="zh-CN" altLang="en-US" smtClean="0"/>
              <a:t>‹#›</a:t>
            </a:fld>
            <a:endParaRPr kumimoji="1" lang="zh-CN" altLang="en-US"/>
          </a:p>
        </p:txBody>
      </p:sp>
      <p:pic>
        <p:nvPicPr>
          <p:cNvPr id="9" name="图片 8">
            <a:extLst>
              <a:ext uri="{FF2B5EF4-FFF2-40B4-BE49-F238E27FC236}">
                <a16:creationId xmlns:a16="http://schemas.microsoft.com/office/drawing/2014/main" id="{B1084C39-6DF4-7241-B04A-86A43726B0F4}"/>
              </a:ext>
            </a:extLst>
          </p:cNvPr>
          <p:cNvPicPr>
            <a:picLocks noChangeAspect="1"/>
          </p:cNvPicPr>
          <p:nvPr userDrawn="1"/>
        </p:nvPicPr>
        <p:blipFill>
          <a:blip r:embed="rId2"/>
          <a:stretch>
            <a:fillRect/>
          </a:stretch>
        </p:blipFill>
        <p:spPr>
          <a:xfrm>
            <a:off x="10642879" y="687101"/>
            <a:ext cx="1015763" cy="1019553"/>
          </a:xfrm>
          <a:prstGeom prst="rect">
            <a:avLst/>
          </a:prstGeom>
        </p:spPr>
      </p:pic>
      <p:sp>
        <p:nvSpPr>
          <p:cNvPr id="11" name="Vertical Title 1">
            <a:extLst>
              <a:ext uri="{FF2B5EF4-FFF2-40B4-BE49-F238E27FC236}">
                <a16:creationId xmlns:a16="http://schemas.microsoft.com/office/drawing/2014/main" id="{9D3F700B-2D07-A448-9622-360F28D96C56}"/>
              </a:ext>
            </a:extLst>
          </p:cNvPr>
          <p:cNvSpPr>
            <a:spLocks noGrp="1"/>
          </p:cNvSpPr>
          <p:nvPr>
            <p:ph type="title" orient="vert"/>
          </p:nvPr>
        </p:nvSpPr>
        <p:spPr>
          <a:xfrm>
            <a:off x="8993673" y="675726"/>
            <a:ext cx="1849692" cy="5183073"/>
          </a:xfrm>
          <a:prstGeom prst="rect">
            <a:avLst/>
          </a:prstGeom>
        </p:spPr>
        <p:txBody>
          <a:bodyPr vert="eaVert" anchor="b"/>
          <a:lstStyle/>
          <a:p>
            <a:r>
              <a:rPr lang="zh-CN" altLang="en-US" dirty="0"/>
              <a:t>单击此处编辑母版标题样式</a:t>
            </a:r>
            <a:endParaRPr lang="en-US" dirty="0"/>
          </a:p>
        </p:txBody>
      </p:sp>
    </p:spTree>
    <p:extLst>
      <p:ext uri="{BB962C8B-B14F-4D97-AF65-F5344CB8AC3E}">
        <p14:creationId xmlns:p14="http://schemas.microsoft.com/office/powerpoint/2010/main" val="279494484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emf"/></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gradFill flip="none" rotWithShape="1">
          <a:gsLst>
            <a:gs pos="0">
              <a:srgbClr val="E1DFE2"/>
            </a:gs>
            <a:gs pos="50000">
              <a:schemeClr val="bg1">
                <a:lumMod val="95000"/>
              </a:schemeClr>
            </a:gs>
            <a:gs pos="100000">
              <a:srgbClr val="E1DFE2"/>
            </a:gs>
          </a:gsLst>
          <a:lin ang="0" scaled="1"/>
          <a:tileRect/>
        </a:gradFill>
        <a:effectLst/>
      </p:bgPr>
    </p:bg>
    <p:spTree>
      <p:nvGrpSpPr>
        <p:cNvPr id="1" name=""/>
        <p:cNvGrpSpPr/>
        <p:nvPr/>
      </p:nvGrpSpPr>
      <p:grpSpPr>
        <a:xfrm>
          <a:off x="0" y="0"/>
          <a:ext cx="0" cy="0"/>
          <a:chOff x="0" y="0"/>
          <a:chExt cx="0" cy="0"/>
        </a:xfrm>
      </p:grpSpPr>
      <p:sp>
        <p:nvSpPr>
          <p:cNvPr id="10" name="Rectangle 6">
            <a:extLst>
              <a:ext uri="{FF2B5EF4-FFF2-40B4-BE49-F238E27FC236}">
                <a16:creationId xmlns:a16="http://schemas.microsoft.com/office/drawing/2014/main" id="{D465EDF8-BCFD-134D-9B0D-9430B7390985}"/>
              </a:ext>
            </a:extLst>
          </p:cNvPr>
          <p:cNvSpPr>
            <a:spLocks noChangeAspect="1"/>
          </p:cNvSpPr>
          <p:nvPr userDrawn="1"/>
        </p:nvSpPr>
        <p:spPr>
          <a:xfrm>
            <a:off x="389467" y="347880"/>
            <a:ext cx="11413067" cy="118929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2" name="Rectangle 8">
            <a:extLst>
              <a:ext uri="{FF2B5EF4-FFF2-40B4-BE49-F238E27FC236}">
                <a16:creationId xmlns:a16="http://schemas.microsoft.com/office/drawing/2014/main" id="{EB4E09BB-6BE0-EA44-AA53-9AE037BE7450}"/>
              </a:ext>
            </a:extLst>
          </p:cNvPr>
          <p:cNvSpPr/>
          <p:nvPr userDrawn="1"/>
        </p:nvSpPr>
        <p:spPr>
          <a:xfrm>
            <a:off x="8144933" y="1592181"/>
            <a:ext cx="3657601" cy="720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3" name="Rectangle 9">
            <a:extLst>
              <a:ext uri="{FF2B5EF4-FFF2-40B4-BE49-F238E27FC236}">
                <a16:creationId xmlns:a16="http://schemas.microsoft.com/office/drawing/2014/main" id="{4F762D50-DB36-754B-B4EC-1EBF590E4A4F}"/>
              </a:ext>
            </a:extLst>
          </p:cNvPr>
          <p:cNvSpPr/>
          <p:nvPr userDrawn="1"/>
        </p:nvSpPr>
        <p:spPr>
          <a:xfrm>
            <a:off x="389467" y="1592181"/>
            <a:ext cx="7687733" cy="72000"/>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sp>
      <p:sp>
        <p:nvSpPr>
          <p:cNvPr id="3" name="Text Placeholder 2"/>
          <p:cNvSpPr>
            <a:spLocks noGrp="1"/>
          </p:cNvSpPr>
          <p:nvPr>
            <p:ph type="body" idx="1"/>
          </p:nvPr>
        </p:nvSpPr>
        <p:spPr>
          <a:xfrm>
            <a:off x="581192" y="2336003"/>
            <a:ext cx="11029616" cy="3522794"/>
          </a:xfrm>
          <a:prstGeom prst="rect">
            <a:avLst/>
          </a:prstGeom>
        </p:spPr>
        <p:txBody>
          <a:bodyPr vert="horz" lIns="91440" tIns="45720" rIns="91440" bIns="45720" rtlCol="0" anchor="t">
            <a:normAutofit/>
          </a:bodyPr>
          <a:lstStyle/>
          <a:p>
            <a:pPr lvl="0"/>
            <a:r>
              <a:rPr lang="zh-CN" altLang="en-US" dirty="0"/>
              <a:t>单击此处编辑母版文本样式</a:t>
            </a:r>
          </a:p>
          <a:p>
            <a:pPr lvl="1"/>
            <a:r>
              <a:rPr lang="zh-CN" altLang="en-US" dirty="0"/>
              <a:t>二级</a:t>
            </a:r>
          </a:p>
          <a:p>
            <a:pPr lvl="2"/>
            <a:r>
              <a:rPr lang="zh-CN" altLang="en-US" dirty="0"/>
              <a:t>三级</a:t>
            </a:r>
          </a:p>
          <a:p>
            <a:pPr lvl="3"/>
            <a:r>
              <a:rPr lang="zh-CN" altLang="en-US" dirty="0"/>
              <a:t>四级</a:t>
            </a:r>
          </a:p>
          <a:p>
            <a:pPr lvl="4"/>
            <a:r>
              <a:rPr lang="zh-CN" altLang="en-US" dirty="0"/>
              <a:t>五级</a:t>
            </a:r>
            <a:endParaRPr lang="en-US" dirty="0"/>
          </a:p>
        </p:txBody>
      </p:sp>
      <p:sp>
        <p:nvSpPr>
          <p:cNvPr id="4" name="Date Placeholder 3"/>
          <p:cNvSpPr>
            <a:spLocks noGrp="1"/>
          </p:cNvSpPr>
          <p:nvPr>
            <p:ph type="dt" sz="half" idx="2"/>
          </p:nvPr>
        </p:nvSpPr>
        <p:spPr>
          <a:xfrm>
            <a:off x="7605953" y="5956139"/>
            <a:ext cx="2844799" cy="365125"/>
          </a:xfrm>
          <a:prstGeom prst="rect">
            <a:avLst/>
          </a:prstGeom>
        </p:spPr>
        <p:txBody>
          <a:bodyPr vert="horz" lIns="91440" tIns="45720" rIns="91440" bIns="45720" rtlCol="0" anchor="ctr"/>
          <a:lstStyle>
            <a:lvl1pPr algn="r">
              <a:defRPr sz="900">
                <a:solidFill>
                  <a:schemeClr val="accent2"/>
                </a:solidFill>
              </a:defRPr>
            </a:lvl1pPr>
          </a:lstStyle>
          <a:p>
            <a:fld id="{E4551058-E5DB-324A-A8E9-6D3BEF243C3B}" type="datetimeFigureOut">
              <a:rPr kumimoji="1" lang="zh-CN" altLang="en-US" smtClean="0"/>
              <a:t>2026/9/7</a:t>
            </a:fld>
            <a:endParaRPr kumimoji="1" lang="zh-CN" altLang="en-US"/>
          </a:p>
        </p:txBody>
      </p:sp>
      <p:sp>
        <p:nvSpPr>
          <p:cNvPr id="5" name="Footer Placeholder 4"/>
          <p:cNvSpPr>
            <a:spLocks noGrp="1"/>
          </p:cNvSpPr>
          <p:nvPr>
            <p:ph type="ftr" sz="quarter" idx="3"/>
          </p:nvPr>
        </p:nvSpPr>
        <p:spPr>
          <a:xfrm>
            <a:off x="581192" y="5951813"/>
            <a:ext cx="6917211" cy="365125"/>
          </a:xfrm>
          <a:prstGeom prst="rect">
            <a:avLst/>
          </a:prstGeom>
        </p:spPr>
        <p:txBody>
          <a:bodyPr vert="horz" lIns="91440" tIns="45720" rIns="91440" bIns="45720" rtlCol="0" anchor="ctr"/>
          <a:lstStyle>
            <a:lvl1pPr algn="l">
              <a:defRPr sz="900" cap="all">
                <a:solidFill>
                  <a:schemeClr val="accent2"/>
                </a:solidFill>
              </a:defRPr>
            </a:lvl1pPr>
          </a:lstStyle>
          <a:p>
            <a:endParaRPr kumimoji="1" lang="zh-CN" altLang="en-US"/>
          </a:p>
        </p:txBody>
      </p:sp>
      <p:sp>
        <p:nvSpPr>
          <p:cNvPr id="6" name="Slide Number Placeholder 5"/>
          <p:cNvSpPr>
            <a:spLocks noGrp="1"/>
          </p:cNvSpPr>
          <p:nvPr>
            <p:ph type="sldNum" sz="quarter" idx="4"/>
          </p:nvPr>
        </p:nvSpPr>
        <p:spPr>
          <a:xfrm>
            <a:off x="10558301" y="5956139"/>
            <a:ext cx="1052511" cy="365125"/>
          </a:xfrm>
          <a:prstGeom prst="rect">
            <a:avLst/>
          </a:prstGeom>
        </p:spPr>
        <p:txBody>
          <a:bodyPr vert="horz" lIns="91440" tIns="45720" rIns="91440" bIns="45720" rtlCol="0" anchor="ctr"/>
          <a:lstStyle>
            <a:lvl1pPr algn="r">
              <a:defRPr sz="900">
                <a:solidFill>
                  <a:schemeClr val="accent2"/>
                </a:solidFill>
              </a:defRPr>
            </a:lvl1pPr>
          </a:lstStyle>
          <a:p>
            <a:fld id="{977BA8E6-E826-B147-AA17-E3D76A29629C}" type="slidenum">
              <a:rPr kumimoji="1" lang="zh-CN" altLang="en-US" smtClean="0"/>
              <a:t>‹#›</a:t>
            </a:fld>
            <a:endParaRPr kumimoji="1" lang="zh-CN" altLang="en-US"/>
          </a:p>
        </p:txBody>
      </p:sp>
      <p:pic>
        <p:nvPicPr>
          <p:cNvPr id="8" name="图片 7">
            <a:extLst>
              <a:ext uri="{FF2B5EF4-FFF2-40B4-BE49-F238E27FC236}">
                <a16:creationId xmlns:a16="http://schemas.microsoft.com/office/drawing/2014/main" id="{500B6F71-D332-634E-81E3-CCEA8339BAE7}"/>
              </a:ext>
            </a:extLst>
          </p:cNvPr>
          <p:cNvPicPr>
            <a:picLocks noChangeAspect="1"/>
          </p:cNvPicPr>
          <p:nvPr userDrawn="1"/>
        </p:nvPicPr>
        <p:blipFill>
          <a:blip r:embed="rId14"/>
          <a:stretch>
            <a:fillRect/>
          </a:stretch>
        </p:blipFill>
        <p:spPr>
          <a:xfrm>
            <a:off x="10700573" y="432751"/>
            <a:ext cx="1015763" cy="1019553"/>
          </a:xfrm>
          <a:prstGeom prst="rect">
            <a:avLst/>
          </a:prstGeom>
        </p:spPr>
      </p:pic>
      <p:sp>
        <p:nvSpPr>
          <p:cNvPr id="7" name="标题占位符 6">
            <a:extLst>
              <a:ext uri="{FF2B5EF4-FFF2-40B4-BE49-F238E27FC236}">
                <a16:creationId xmlns:a16="http://schemas.microsoft.com/office/drawing/2014/main" id="{386CB2C2-B0CA-6B4C-9D67-BC3A516A2E6A}"/>
              </a:ext>
            </a:extLst>
          </p:cNvPr>
          <p:cNvSpPr>
            <a:spLocks noGrp="1"/>
          </p:cNvSpPr>
          <p:nvPr>
            <p:ph type="title"/>
          </p:nvPr>
        </p:nvSpPr>
        <p:spPr>
          <a:xfrm>
            <a:off x="581192" y="434928"/>
            <a:ext cx="10119381" cy="1015200"/>
          </a:xfrm>
          <a:prstGeom prst="rect">
            <a:avLst/>
          </a:prstGeom>
        </p:spPr>
        <p:txBody>
          <a:bodyPr vert="horz" lIns="91440" tIns="45720" rIns="91440" bIns="45720" rtlCol="0" anchor="ctr">
            <a:normAutofit/>
          </a:bodyPr>
          <a:lstStyle/>
          <a:p>
            <a:r>
              <a:rPr kumimoji="1" lang="zh-CN" altLang="en-US" dirty="0"/>
              <a:t>单击此处编辑母版标题样式</a:t>
            </a:r>
          </a:p>
        </p:txBody>
      </p:sp>
    </p:spTree>
    <p:extLst>
      <p:ext uri="{BB962C8B-B14F-4D97-AF65-F5344CB8AC3E}">
        <p14:creationId xmlns:p14="http://schemas.microsoft.com/office/powerpoint/2010/main" val="144104772"/>
      </p:ext>
    </p:extLst>
  </p:cSld>
  <p:clrMap bg1="lt1" tx1="dk1" bg2="lt2" tx2="dk2" accent1="accent1" accent2="accent2" accent3="accent3" accent4="accent4" accent5="accent5" accent6="accent6" hlink="hlink" folHlink="folHlink"/>
  <p:sldLayoutIdLst>
    <p:sldLayoutId id="2147483860" r:id="rId1"/>
    <p:sldLayoutId id="2147483861" r:id="rId2"/>
    <p:sldLayoutId id="2147483864" r:id="rId3"/>
    <p:sldLayoutId id="2147483865" r:id="rId4"/>
    <p:sldLayoutId id="2147483866" r:id="rId5"/>
    <p:sldLayoutId id="2147483868" r:id="rId6"/>
    <p:sldLayoutId id="2147483870" r:id="rId7"/>
    <p:sldLayoutId id="2147483871" r:id="rId8"/>
    <p:sldLayoutId id="2147483872" r:id="rId9"/>
    <p:sldLayoutId id="2147483873" r:id="rId10"/>
    <p:sldLayoutId id="2147483874" r:id="rId11"/>
    <p:sldLayoutId id="2147483875" r:id="rId12"/>
  </p:sldLayoutIdLst>
  <p:txStyles>
    <p:titleStyle>
      <a:lvl1pPr algn="l" defTabSz="457189" rtl="0" eaLnBrk="1" latinLnBrk="0" hangingPunct="1">
        <a:spcBef>
          <a:spcPct val="0"/>
        </a:spcBef>
        <a:buNone/>
        <a:defRPr sz="2800" b="0" kern="1200" cap="none" baseline="0">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05992" indent="-305992" algn="l" defTabSz="457189"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29984" indent="-305992" algn="l" defTabSz="457189"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899978" indent="-269993" algn="l" defTabSz="457189"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1969" indent="-233994" algn="l" defTabSz="457189"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1960" indent="-233994" algn="l" defTabSz="457189"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899953" indent="-228594" algn="l" defTabSz="457189"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199945" indent="-228594" algn="l" defTabSz="457189"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499938" indent="-228594" algn="l" defTabSz="457189"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799930" indent="-228594" algn="l" defTabSz="457189"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p:bodyStyle>
    <p:otherStyle>
      <a:defPPr>
        <a:defRPr lang="en-US"/>
      </a:defPPr>
      <a:lvl1pPr marL="0" algn="l" defTabSz="457189" rtl="0" eaLnBrk="1" latinLnBrk="0" hangingPunct="1">
        <a:defRPr sz="1800" kern="1200">
          <a:solidFill>
            <a:schemeClr val="tx1"/>
          </a:solidFill>
          <a:latin typeface="+mn-lt"/>
          <a:ea typeface="+mn-ea"/>
          <a:cs typeface="+mn-cs"/>
        </a:defRPr>
      </a:lvl1pPr>
      <a:lvl2pPr marL="457189" algn="l" defTabSz="457189" rtl="0" eaLnBrk="1" latinLnBrk="0" hangingPunct="1">
        <a:defRPr sz="1800" kern="1200">
          <a:solidFill>
            <a:schemeClr val="tx1"/>
          </a:solidFill>
          <a:latin typeface="+mn-lt"/>
          <a:ea typeface="+mn-ea"/>
          <a:cs typeface="+mn-cs"/>
        </a:defRPr>
      </a:lvl2pPr>
      <a:lvl3pPr marL="914377" algn="l" defTabSz="457189" rtl="0" eaLnBrk="1" latinLnBrk="0" hangingPunct="1">
        <a:defRPr sz="1800" kern="1200">
          <a:solidFill>
            <a:schemeClr val="tx1"/>
          </a:solidFill>
          <a:latin typeface="+mn-lt"/>
          <a:ea typeface="+mn-ea"/>
          <a:cs typeface="+mn-cs"/>
        </a:defRPr>
      </a:lvl3pPr>
      <a:lvl4pPr marL="1371566" algn="l" defTabSz="457189" rtl="0" eaLnBrk="1" latinLnBrk="0" hangingPunct="1">
        <a:defRPr sz="1800" kern="1200">
          <a:solidFill>
            <a:schemeClr val="tx1"/>
          </a:solidFill>
          <a:latin typeface="+mn-lt"/>
          <a:ea typeface="+mn-ea"/>
          <a:cs typeface="+mn-cs"/>
        </a:defRPr>
      </a:lvl4pPr>
      <a:lvl5pPr marL="1828754" algn="l" defTabSz="457189" rtl="0" eaLnBrk="1" latinLnBrk="0" hangingPunct="1">
        <a:defRPr sz="1800" kern="1200">
          <a:solidFill>
            <a:schemeClr val="tx1"/>
          </a:solidFill>
          <a:latin typeface="+mn-lt"/>
          <a:ea typeface="+mn-ea"/>
          <a:cs typeface="+mn-cs"/>
        </a:defRPr>
      </a:lvl5pPr>
      <a:lvl6pPr marL="2285943" algn="l" defTabSz="457189" rtl="0" eaLnBrk="1" latinLnBrk="0" hangingPunct="1">
        <a:defRPr sz="1800" kern="1200">
          <a:solidFill>
            <a:schemeClr val="tx1"/>
          </a:solidFill>
          <a:latin typeface="+mn-lt"/>
          <a:ea typeface="+mn-ea"/>
          <a:cs typeface="+mn-cs"/>
        </a:defRPr>
      </a:lvl6pPr>
      <a:lvl7pPr marL="2743131" algn="l" defTabSz="457189" rtl="0" eaLnBrk="1" latinLnBrk="0" hangingPunct="1">
        <a:defRPr sz="1800" kern="1200">
          <a:solidFill>
            <a:schemeClr val="tx1"/>
          </a:solidFill>
          <a:latin typeface="+mn-lt"/>
          <a:ea typeface="+mn-ea"/>
          <a:cs typeface="+mn-cs"/>
        </a:defRPr>
      </a:lvl7pPr>
      <a:lvl8pPr marL="3200320" algn="l" defTabSz="457189" rtl="0" eaLnBrk="1" latinLnBrk="0" hangingPunct="1">
        <a:defRPr sz="1800" kern="1200">
          <a:solidFill>
            <a:schemeClr val="tx1"/>
          </a:solidFill>
          <a:latin typeface="+mn-lt"/>
          <a:ea typeface="+mn-ea"/>
          <a:cs typeface="+mn-cs"/>
        </a:defRPr>
      </a:lvl8pPr>
      <a:lvl9pPr marL="3657509" algn="l" defTabSz="457189"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2.xml"/><Relationship Id="rId5" Type="http://schemas.openxmlformats.org/officeDocument/2006/relationships/image" Target="../media/image5.gif"/><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7.gif"/><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8.gif"/><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9.gif"/><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12.xml.rels><?xml version="1.0" encoding="UTF-8" standalone="yes"?>
<Relationships xmlns="http://schemas.openxmlformats.org/package/2006/relationships"><Relationship Id="rId3" Type="http://schemas.openxmlformats.org/officeDocument/2006/relationships/image" Target="../media/image11.gif"/><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35C4A8A-A46B-8D41-8F44-8C17E1B63584}"/>
              </a:ext>
            </a:extLst>
          </p:cNvPr>
          <p:cNvSpPr>
            <a:spLocks noGrp="1"/>
          </p:cNvSpPr>
          <p:nvPr>
            <p:ph type="ctrTitle"/>
          </p:nvPr>
        </p:nvSpPr>
        <p:spPr/>
        <p:txBody>
          <a:bodyPr/>
          <a:lstStyle/>
          <a:p>
            <a:r>
              <a:rPr kumimoji="1" lang="en" altLang="zh-CN" dirty="0" err="1"/>
              <a:t>SwingBot</a:t>
            </a:r>
            <a:r>
              <a:rPr kumimoji="1" lang="en" altLang="zh-CN" dirty="0"/>
              <a:t>: Learning Physical Features from In-hand Tactile Exploration for Dynamic Swing-up Manipulation</a:t>
            </a:r>
            <a:endParaRPr kumimoji="1" lang="zh-CN" altLang="en-US" dirty="0"/>
          </a:p>
        </p:txBody>
      </p:sp>
      <p:sp>
        <p:nvSpPr>
          <p:cNvPr id="3" name="副标题 2">
            <a:extLst>
              <a:ext uri="{FF2B5EF4-FFF2-40B4-BE49-F238E27FC236}">
                <a16:creationId xmlns:a16="http://schemas.microsoft.com/office/drawing/2014/main" id="{5B7C49AC-161B-B74A-A7A2-0878EABB0F3A}"/>
              </a:ext>
            </a:extLst>
          </p:cNvPr>
          <p:cNvSpPr>
            <a:spLocks noGrp="1"/>
          </p:cNvSpPr>
          <p:nvPr>
            <p:ph type="subTitle" idx="1"/>
          </p:nvPr>
        </p:nvSpPr>
        <p:spPr/>
        <p:txBody>
          <a:bodyPr>
            <a:normAutofit/>
          </a:bodyPr>
          <a:lstStyle/>
          <a:p>
            <a:r>
              <a:rPr kumimoji="1" lang="en-US" altLang="zh-CN" dirty="0" err="1"/>
              <a:t>Yangyi</a:t>
            </a:r>
            <a:r>
              <a:rPr kumimoji="1" lang="en-US" altLang="zh-CN" dirty="0"/>
              <a:t> Xiong, Boyan Pu, Chunyu Liu</a:t>
            </a:r>
          </a:p>
          <a:p>
            <a:r>
              <a:rPr kumimoji="1" lang="en-US" altLang="zh-CN" dirty="0"/>
              <a:t>2025.10.31</a:t>
            </a:r>
          </a:p>
        </p:txBody>
      </p:sp>
    </p:spTree>
    <p:extLst>
      <p:ext uri="{BB962C8B-B14F-4D97-AF65-F5344CB8AC3E}">
        <p14:creationId xmlns:p14="http://schemas.microsoft.com/office/powerpoint/2010/main" val="108254463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BB6AA08-C32B-6F4E-8AB3-67AE085DA5BA}"/>
              </a:ext>
            </a:extLst>
          </p:cNvPr>
          <p:cNvSpPr>
            <a:spLocks noGrp="1"/>
          </p:cNvSpPr>
          <p:nvPr>
            <p:ph type="title"/>
          </p:nvPr>
        </p:nvSpPr>
        <p:spPr/>
        <p:txBody>
          <a:bodyPr/>
          <a:lstStyle/>
          <a:p>
            <a:r>
              <a:rPr kumimoji="1" lang="zh-CN" altLang="en-US" dirty="0"/>
              <a:t>目录</a:t>
            </a:r>
          </a:p>
        </p:txBody>
      </p:sp>
      <p:sp>
        <p:nvSpPr>
          <p:cNvPr id="3" name="内容占位符 2">
            <a:extLst>
              <a:ext uri="{FF2B5EF4-FFF2-40B4-BE49-F238E27FC236}">
                <a16:creationId xmlns:a16="http://schemas.microsoft.com/office/drawing/2014/main" id="{E4B3B5DF-DAF7-B946-AB06-11AE7FF1176B}"/>
              </a:ext>
            </a:extLst>
          </p:cNvPr>
          <p:cNvSpPr>
            <a:spLocks noGrp="1"/>
          </p:cNvSpPr>
          <p:nvPr>
            <p:ph idx="1"/>
          </p:nvPr>
        </p:nvSpPr>
        <p:spPr/>
        <p:txBody>
          <a:bodyPr/>
          <a:lstStyle/>
          <a:p>
            <a:r>
              <a:rPr kumimoji="1" lang="en-US" altLang="zh-CN" dirty="0"/>
              <a:t>Motivation</a:t>
            </a:r>
          </a:p>
          <a:p>
            <a:r>
              <a:rPr kumimoji="1" lang="en-US" altLang="zh-CN" dirty="0"/>
              <a:t>Methods</a:t>
            </a:r>
          </a:p>
          <a:p>
            <a:r>
              <a:rPr kumimoji="1" lang="en-US" altLang="zh-CN" dirty="0"/>
              <a:t>Critical Assessment</a:t>
            </a:r>
          </a:p>
          <a:p>
            <a:r>
              <a:rPr kumimoji="1" lang="en-US" altLang="zh-CN" dirty="0"/>
              <a:t>Possible amendments</a:t>
            </a:r>
            <a:endParaRPr kumimoji="1" lang="zh-CN" altLang="en-US" dirty="0"/>
          </a:p>
        </p:txBody>
      </p:sp>
    </p:spTree>
    <p:extLst>
      <p:ext uri="{BB962C8B-B14F-4D97-AF65-F5344CB8AC3E}">
        <p14:creationId xmlns:p14="http://schemas.microsoft.com/office/powerpoint/2010/main" val="74923137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257722-38B0-E6C2-FA5A-144C77D44264}"/>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790BC60B-5F46-238D-0095-34AD4C61592E}"/>
              </a:ext>
            </a:extLst>
          </p:cNvPr>
          <p:cNvSpPr>
            <a:spLocks noGrp="1"/>
          </p:cNvSpPr>
          <p:nvPr>
            <p:ph type="ctrTitle"/>
          </p:nvPr>
        </p:nvSpPr>
        <p:spPr/>
        <p:txBody>
          <a:bodyPr/>
          <a:lstStyle/>
          <a:p>
            <a:r>
              <a:rPr kumimoji="1" lang="en-US" altLang="zh-CN" dirty="0"/>
              <a:t>Motivation</a:t>
            </a:r>
            <a:endParaRPr kumimoji="1" lang="zh-CN" altLang="en-US" dirty="0"/>
          </a:p>
        </p:txBody>
      </p:sp>
      <p:sp>
        <p:nvSpPr>
          <p:cNvPr id="3" name="副标题 2">
            <a:extLst>
              <a:ext uri="{FF2B5EF4-FFF2-40B4-BE49-F238E27FC236}">
                <a16:creationId xmlns:a16="http://schemas.microsoft.com/office/drawing/2014/main" id="{A62D583F-FD80-9C9A-E0EA-4DA20156A114}"/>
              </a:ext>
            </a:extLst>
          </p:cNvPr>
          <p:cNvSpPr>
            <a:spLocks noGrp="1"/>
          </p:cNvSpPr>
          <p:nvPr>
            <p:ph type="subTitle" idx="1"/>
          </p:nvPr>
        </p:nvSpPr>
        <p:spPr/>
        <p:txBody>
          <a:bodyPr/>
          <a:lstStyle/>
          <a:p>
            <a:r>
              <a:rPr kumimoji="1" lang="en-US" altLang="zh-CN" dirty="0"/>
              <a:t>Part1</a:t>
            </a:r>
            <a:endParaRPr kumimoji="1" lang="zh-CN" altLang="en-US" dirty="0"/>
          </a:p>
        </p:txBody>
      </p:sp>
    </p:spTree>
    <p:extLst>
      <p:ext uri="{BB962C8B-B14F-4D97-AF65-F5344CB8AC3E}">
        <p14:creationId xmlns:p14="http://schemas.microsoft.com/office/powerpoint/2010/main" val="296343244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7DC82D-53A4-4F15-81F1-91783A200189}"/>
            </a:ext>
          </a:extLst>
        </p:cNvPr>
        <p:cNvGrpSpPr/>
        <p:nvPr/>
      </p:nvGrpSpPr>
      <p:grpSpPr>
        <a:xfrm>
          <a:off x="0" y="0"/>
          <a:ext cx="0" cy="0"/>
          <a:chOff x="0" y="0"/>
          <a:chExt cx="0" cy="0"/>
        </a:xfrm>
      </p:grpSpPr>
      <p:sp>
        <p:nvSpPr>
          <p:cNvPr id="2" name="内容占位符 1">
            <a:extLst>
              <a:ext uri="{FF2B5EF4-FFF2-40B4-BE49-F238E27FC236}">
                <a16:creationId xmlns:a16="http://schemas.microsoft.com/office/drawing/2014/main" id="{5B64AAEC-5276-078A-86F4-39F11B3DEE14}"/>
              </a:ext>
            </a:extLst>
          </p:cNvPr>
          <p:cNvSpPr>
            <a:spLocks noGrp="1"/>
          </p:cNvSpPr>
          <p:nvPr>
            <p:ph idx="1"/>
          </p:nvPr>
        </p:nvSpPr>
        <p:spPr>
          <a:xfrm>
            <a:off x="470159" y="2156179"/>
            <a:ext cx="11029615" cy="4131731"/>
          </a:xfrm>
        </p:spPr>
        <p:txBody>
          <a:bodyPr>
            <a:normAutofit/>
          </a:bodyPr>
          <a:lstStyle/>
          <a:p>
            <a:r>
              <a:rPr lang="en" altLang="zh-CN" sz="2400" dirty="0"/>
              <a:t>Many real-world manipulation tasks are </a:t>
            </a:r>
            <a:r>
              <a:rPr lang="en" altLang="zh-CN" sz="2400" dirty="0">
                <a:solidFill>
                  <a:schemeClr val="accent1"/>
                </a:solidFill>
              </a:rPr>
              <a:t>dynamic</a:t>
            </a:r>
            <a:r>
              <a:rPr lang="en" altLang="zh-CN" sz="2400" dirty="0"/>
              <a:t>, not just static pick-and-place.</a:t>
            </a:r>
            <a:endParaRPr lang="en" altLang="zh-CN" dirty="0"/>
          </a:p>
          <a:p>
            <a:r>
              <a:rPr lang="en" altLang="zh-CN" sz="2400" dirty="0"/>
              <a:t>Success in these tasks depends on accurate estimation of </a:t>
            </a:r>
            <a:r>
              <a:rPr lang="en" altLang="zh-CN" sz="2400" dirty="0">
                <a:solidFill>
                  <a:schemeClr val="accent1"/>
                </a:solidFill>
              </a:rPr>
              <a:t>key mechanical parameters</a:t>
            </a:r>
            <a:r>
              <a:rPr lang="en-US" altLang="zh-CN" sz="2400" dirty="0"/>
              <a:t>:</a:t>
            </a:r>
          </a:p>
          <a:p>
            <a:pPr marL="342900" indent="-342900">
              <a:buAutoNum type="arabicParenBoth"/>
            </a:pPr>
            <a:r>
              <a:rPr lang="en" altLang="zh-CN" dirty="0"/>
              <a:t>Mass (m) — affects inertia and gravitational response.</a:t>
            </a:r>
          </a:p>
          <a:p>
            <a:pPr marL="342900" indent="-342900">
              <a:buAutoNum type="arabicParenBoth"/>
            </a:pPr>
            <a:r>
              <a:rPr lang="en" altLang="zh-CN" dirty="0"/>
              <a:t>Center of Mass (</a:t>
            </a:r>
            <a:r>
              <a:rPr lang="en" altLang="zh-CN" dirty="0" err="1"/>
              <a:t>CoM</a:t>
            </a:r>
            <a:r>
              <a:rPr lang="en" altLang="zh-CN" dirty="0"/>
              <a:t>) — influences balance and torque.</a:t>
            </a:r>
          </a:p>
          <a:p>
            <a:pPr marL="342900" indent="-342900">
              <a:buAutoNum type="arabicParenBoth"/>
            </a:pPr>
            <a:r>
              <a:rPr lang="en" altLang="zh-CN" dirty="0"/>
              <a:t>Friction (</a:t>
            </a:r>
            <a:r>
              <a:rPr lang="el-GR" altLang="zh-CN" dirty="0"/>
              <a:t>μ) — </a:t>
            </a:r>
            <a:r>
              <a:rPr lang="en" altLang="zh-CN" dirty="0"/>
              <a:t>governs how the object slides or sticks against the gripper.</a:t>
            </a:r>
          </a:p>
          <a:p>
            <a:pPr marL="342900" indent="-342900">
              <a:buAutoNum type="arabicParenBoth"/>
            </a:pPr>
            <a:r>
              <a:rPr lang="en" altLang="zh-CN" dirty="0"/>
              <a:t>Moment of Inertia (I) — determines rotational acceleration and stability.</a:t>
            </a:r>
            <a:endParaRPr lang="en-US" altLang="zh-CN" sz="2400" dirty="0"/>
          </a:p>
          <a:p>
            <a:r>
              <a:rPr lang="en" altLang="zh-CN" sz="2400" dirty="0"/>
              <a:t>Small errors in these parameters can lead to </a:t>
            </a:r>
            <a:r>
              <a:rPr lang="en" altLang="zh-CN" sz="2400" dirty="0">
                <a:solidFill>
                  <a:schemeClr val="accent1"/>
                </a:solidFill>
              </a:rPr>
              <a:t>large differences</a:t>
            </a:r>
            <a:r>
              <a:rPr lang="en" altLang="zh-CN" sz="2400" dirty="0"/>
              <a:t> in the results of a dynamic task.</a:t>
            </a:r>
          </a:p>
          <a:p>
            <a:r>
              <a:rPr lang="en" altLang="zh-CN" sz="2400" dirty="0"/>
              <a:t>How can robots develop an </a:t>
            </a:r>
            <a:r>
              <a:rPr lang="en" altLang="zh-CN" sz="2400" dirty="0">
                <a:solidFill>
                  <a:schemeClr val="accent1"/>
                </a:solidFill>
              </a:rPr>
              <a:t>accurate</a:t>
            </a:r>
            <a:r>
              <a:rPr lang="zh-CN" altLang="en-US" sz="2400" dirty="0">
                <a:solidFill>
                  <a:schemeClr val="accent1"/>
                </a:solidFill>
              </a:rPr>
              <a:t> </a:t>
            </a:r>
            <a:r>
              <a:rPr lang="en-US" altLang="zh-CN" sz="2400" dirty="0">
                <a:solidFill>
                  <a:schemeClr val="accent1"/>
                </a:solidFill>
              </a:rPr>
              <a:t>estimation</a:t>
            </a:r>
            <a:r>
              <a:rPr lang="zh-CN" altLang="en-US" sz="2400" dirty="0"/>
              <a:t> </a:t>
            </a:r>
            <a:r>
              <a:rPr lang="en-US" altLang="zh-CN" sz="2400" dirty="0"/>
              <a:t>of</a:t>
            </a:r>
            <a:r>
              <a:rPr lang="zh-CN" altLang="en-US" sz="2400" dirty="0"/>
              <a:t> </a:t>
            </a:r>
            <a:r>
              <a:rPr lang="en-US" altLang="zh-CN" sz="2400" dirty="0"/>
              <a:t>mechanical</a:t>
            </a:r>
            <a:r>
              <a:rPr lang="zh-CN" altLang="en-US" sz="2400" dirty="0"/>
              <a:t> </a:t>
            </a:r>
            <a:r>
              <a:rPr lang="en-US" altLang="zh-CN" sz="2400" dirty="0"/>
              <a:t>properties</a:t>
            </a:r>
            <a:r>
              <a:rPr lang="zh-CN" altLang="en-US" sz="2400" dirty="0"/>
              <a:t>？</a:t>
            </a:r>
            <a:endParaRPr lang="en" altLang="zh-CN" sz="2400" dirty="0"/>
          </a:p>
          <a:p>
            <a:pPr marL="0" indent="0">
              <a:buNone/>
            </a:pPr>
            <a:endParaRPr lang="en-US" altLang="zh-CN" dirty="0"/>
          </a:p>
          <a:p>
            <a:endParaRPr lang="en" altLang="zh-CN" dirty="0"/>
          </a:p>
          <a:p>
            <a:endParaRPr lang="en" altLang="zh-CN" dirty="0"/>
          </a:p>
          <a:p>
            <a:endParaRPr kumimoji="1" lang="en-US" altLang="zh-CN" dirty="0"/>
          </a:p>
          <a:p>
            <a:endParaRPr kumimoji="1" lang="zh-CN" altLang="en-US" dirty="0"/>
          </a:p>
        </p:txBody>
      </p:sp>
      <p:sp>
        <p:nvSpPr>
          <p:cNvPr id="3" name="标题 2">
            <a:extLst>
              <a:ext uri="{FF2B5EF4-FFF2-40B4-BE49-F238E27FC236}">
                <a16:creationId xmlns:a16="http://schemas.microsoft.com/office/drawing/2014/main" id="{47665726-3459-81AD-1389-91B925D09B0C}"/>
              </a:ext>
            </a:extLst>
          </p:cNvPr>
          <p:cNvSpPr>
            <a:spLocks noGrp="1"/>
          </p:cNvSpPr>
          <p:nvPr>
            <p:ph type="title"/>
          </p:nvPr>
        </p:nvSpPr>
        <p:spPr/>
        <p:txBody>
          <a:bodyPr>
            <a:normAutofit/>
          </a:bodyPr>
          <a:lstStyle/>
          <a:p>
            <a:r>
              <a:rPr lang="en" altLang="zh-CN" dirty="0"/>
              <a:t>The Importance and Challenge of Dynamic</a:t>
            </a:r>
            <a:r>
              <a:rPr lang="zh-CN" altLang="en-US" dirty="0"/>
              <a:t> </a:t>
            </a:r>
            <a:r>
              <a:rPr lang="en" altLang="zh-CN" dirty="0"/>
              <a:t>Manipulation</a:t>
            </a:r>
            <a:endParaRPr kumimoji="1" lang="zh-CN" altLang="en-US" dirty="0"/>
          </a:p>
        </p:txBody>
      </p:sp>
    </p:spTree>
    <p:extLst>
      <p:ext uri="{BB962C8B-B14F-4D97-AF65-F5344CB8AC3E}">
        <p14:creationId xmlns:p14="http://schemas.microsoft.com/office/powerpoint/2010/main" val="109068207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id="{289769F1-8DFD-E602-BC5E-FCC68375C76B}"/>
              </a:ext>
            </a:extLst>
          </p:cNvPr>
          <p:cNvSpPr>
            <a:spLocks noGrp="1"/>
          </p:cNvSpPr>
          <p:nvPr>
            <p:ph idx="1"/>
          </p:nvPr>
        </p:nvSpPr>
        <p:spPr>
          <a:xfrm>
            <a:off x="581192" y="1828800"/>
            <a:ext cx="11029615" cy="5042668"/>
          </a:xfrm>
        </p:spPr>
        <p:txBody>
          <a:bodyPr>
            <a:noAutofit/>
          </a:bodyPr>
          <a:lstStyle/>
          <a:p>
            <a:r>
              <a:rPr lang="en" altLang="zh-CN" sz="2000" dirty="0"/>
              <a:t>Humans intuitively understand the world using prior sensory understanding</a:t>
            </a:r>
            <a:r>
              <a:rPr lang="en-US" altLang="zh-CN" sz="2000" dirty="0"/>
              <a:t> !</a:t>
            </a:r>
            <a:endParaRPr lang="en" altLang="zh-CN" sz="2000" dirty="0"/>
          </a:p>
          <a:p>
            <a:r>
              <a:rPr lang="en" altLang="zh-CN" sz="2000" dirty="0"/>
              <a:t>Example: tossing a small lead ball </a:t>
            </a:r>
            <a:r>
              <a:rPr lang="en" altLang="zh-CN" sz="2000" dirty="0">
                <a:solidFill>
                  <a:schemeClr val="accent1"/>
                </a:solidFill>
              </a:rPr>
              <a:t>with more effort </a:t>
            </a:r>
            <a:r>
              <a:rPr lang="en" altLang="zh-CN" sz="2000" dirty="0"/>
              <a:t>than a bigger volley ball.</a:t>
            </a:r>
          </a:p>
          <a:p>
            <a:endParaRPr lang="en" altLang="zh-CN" sz="2000" dirty="0"/>
          </a:p>
          <a:p>
            <a:endParaRPr lang="en" altLang="zh-CN" sz="2000" dirty="0"/>
          </a:p>
          <a:p>
            <a:endParaRPr lang="en" altLang="zh-CN" sz="2000" dirty="0"/>
          </a:p>
          <a:p>
            <a:pPr marL="0" indent="0">
              <a:buNone/>
            </a:pPr>
            <a:endParaRPr lang="en" altLang="zh-CN" sz="2000" dirty="0"/>
          </a:p>
          <a:p>
            <a:endParaRPr lang="en" altLang="zh-CN" sz="2000" dirty="0"/>
          </a:p>
          <a:p>
            <a:r>
              <a:rPr lang="en" altLang="zh-CN" sz="2000" dirty="0"/>
              <a:t>Humans understand physics not only visually but also through </a:t>
            </a:r>
            <a:r>
              <a:rPr lang="en" altLang="zh-CN" sz="2000" i="1" dirty="0">
                <a:solidFill>
                  <a:schemeClr val="accent1"/>
                </a:solidFill>
              </a:rPr>
              <a:t>tactile experience</a:t>
            </a:r>
            <a:r>
              <a:rPr lang="en" altLang="zh-CN" sz="2000" i="1" dirty="0"/>
              <a:t>.</a:t>
            </a:r>
          </a:p>
          <a:p>
            <a:r>
              <a:rPr lang="en" altLang="zh-CN" sz="2000" dirty="0"/>
              <a:t>Tactile</a:t>
            </a:r>
            <a:r>
              <a:rPr lang="zh-CN" altLang="en-US" sz="2000" dirty="0"/>
              <a:t> </a:t>
            </a:r>
            <a:r>
              <a:rPr lang="en-US" altLang="zh-CN" sz="2000" dirty="0"/>
              <a:t>experience</a:t>
            </a:r>
            <a:r>
              <a:rPr lang="zh-CN" altLang="en-US" sz="2000" dirty="0"/>
              <a:t> </a:t>
            </a:r>
            <a:r>
              <a:rPr lang="en-US" altLang="zh-CN" sz="2000" dirty="0"/>
              <a:t>can</a:t>
            </a:r>
            <a:r>
              <a:rPr lang="zh-CN" altLang="en-US" sz="2000" dirty="0"/>
              <a:t> </a:t>
            </a:r>
            <a:r>
              <a:rPr lang="en-US" altLang="zh-CN" sz="2000" dirty="0"/>
              <a:t>provide</a:t>
            </a:r>
            <a:r>
              <a:rPr lang="zh-CN" altLang="en-US" sz="2000" dirty="0"/>
              <a:t> </a:t>
            </a:r>
            <a:r>
              <a:rPr lang="en-US" altLang="zh-CN" sz="2000" dirty="0">
                <a:solidFill>
                  <a:schemeClr val="accent1"/>
                </a:solidFill>
              </a:rPr>
              <a:t>more</a:t>
            </a:r>
            <a:r>
              <a:rPr lang="zh-CN" altLang="en-US" sz="2000" dirty="0">
                <a:solidFill>
                  <a:schemeClr val="accent1"/>
                </a:solidFill>
              </a:rPr>
              <a:t> </a:t>
            </a:r>
            <a:r>
              <a:rPr lang="en-US" altLang="zh-CN" sz="2000" dirty="0">
                <a:solidFill>
                  <a:schemeClr val="accent1"/>
                </a:solidFill>
              </a:rPr>
              <a:t>physical</a:t>
            </a:r>
            <a:r>
              <a:rPr lang="zh-CN" altLang="en-US" sz="2000" dirty="0">
                <a:solidFill>
                  <a:schemeClr val="accent1"/>
                </a:solidFill>
              </a:rPr>
              <a:t> </a:t>
            </a:r>
            <a:r>
              <a:rPr lang="en-US" altLang="zh-CN" sz="2000" dirty="0">
                <a:solidFill>
                  <a:schemeClr val="accent1"/>
                </a:solidFill>
              </a:rPr>
              <a:t>information</a:t>
            </a:r>
            <a:r>
              <a:rPr lang="zh-CN" altLang="en-US" sz="2000" dirty="0"/>
              <a:t> </a:t>
            </a:r>
            <a:r>
              <a:rPr lang="en-US" altLang="zh-CN" sz="2000" dirty="0"/>
              <a:t>than</a:t>
            </a:r>
            <a:r>
              <a:rPr lang="zh-CN" altLang="en-US" sz="2000" dirty="0"/>
              <a:t> </a:t>
            </a:r>
            <a:r>
              <a:rPr lang="en-US" altLang="zh-CN" sz="2000" dirty="0"/>
              <a:t>vision.</a:t>
            </a:r>
          </a:p>
          <a:p>
            <a:r>
              <a:rPr lang="en-US" altLang="zh-CN" sz="2000" dirty="0"/>
              <a:t>GOAL for robots</a:t>
            </a:r>
            <a:r>
              <a:rPr lang="zh-CN" altLang="en-US" sz="2000" dirty="0"/>
              <a:t>：</a:t>
            </a:r>
            <a:r>
              <a:rPr lang="en-US" altLang="zh-CN" sz="2000" dirty="0"/>
              <a:t>Build</a:t>
            </a:r>
            <a:r>
              <a:rPr lang="en" altLang="zh-CN" sz="2000" dirty="0"/>
              <a:t> a similar </a:t>
            </a:r>
            <a:r>
              <a:rPr lang="en" altLang="zh-CN" sz="2000" i="1" dirty="0">
                <a:solidFill>
                  <a:schemeClr val="accent1"/>
                </a:solidFill>
              </a:rPr>
              <a:t>“physical intuition” embedding</a:t>
            </a:r>
            <a:r>
              <a:rPr lang="en" altLang="zh-CN" sz="2000" dirty="0">
                <a:solidFill>
                  <a:schemeClr val="accent1"/>
                </a:solidFill>
              </a:rPr>
              <a:t> </a:t>
            </a:r>
            <a:r>
              <a:rPr lang="en" altLang="zh-CN" sz="2000" dirty="0"/>
              <a:t>for robots that reflects physical properties.</a:t>
            </a:r>
          </a:p>
        </p:txBody>
      </p:sp>
      <p:sp>
        <p:nvSpPr>
          <p:cNvPr id="3" name="标题 2">
            <a:extLst>
              <a:ext uri="{FF2B5EF4-FFF2-40B4-BE49-F238E27FC236}">
                <a16:creationId xmlns:a16="http://schemas.microsoft.com/office/drawing/2014/main" id="{276CBEC0-D158-9D22-959C-DA80584E5004}"/>
              </a:ext>
            </a:extLst>
          </p:cNvPr>
          <p:cNvSpPr>
            <a:spLocks noGrp="1"/>
          </p:cNvSpPr>
          <p:nvPr>
            <p:ph type="title"/>
          </p:nvPr>
        </p:nvSpPr>
        <p:spPr/>
        <p:txBody>
          <a:bodyPr/>
          <a:lstStyle/>
          <a:p>
            <a:r>
              <a:rPr kumimoji="1" lang="en-US" altLang="zh-CN" dirty="0"/>
              <a:t>GOAL: Building a similar</a:t>
            </a:r>
            <a:r>
              <a:rPr kumimoji="1" lang="zh-CN" altLang="en-US" dirty="0"/>
              <a:t> </a:t>
            </a:r>
            <a:r>
              <a:rPr kumimoji="1" lang="en-US" altLang="zh-CN" dirty="0"/>
              <a:t>tactile-based physical intuition</a:t>
            </a:r>
            <a:r>
              <a:rPr kumimoji="1" lang="zh-CN" altLang="en-US" dirty="0"/>
              <a:t> </a:t>
            </a:r>
            <a:r>
              <a:rPr kumimoji="1" lang="en-US" altLang="zh-CN" dirty="0"/>
              <a:t>like</a:t>
            </a:r>
            <a:r>
              <a:rPr kumimoji="1" lang="zh-CN" altLang="en-US" dirty="0"/>
              <a:t> </a:t>
            </a:r>
            <a:r>
              <a:rPr kumimoji="1" lang="en-US" altLang="zh-CN" dirty="0"/>
              <a:t>humans</a:t>
            </a:r>
            <a:endParaRPr kumimoji="1" lang="zh-CN" altLang="en-US" dirty="0"/>
          </a:p>
        </p:txBody>
      </p:sp>
      <p:pic>
        <p:nvPicPr>
          <p:cNvPr id="4" name="图片 3">
            <a:extLst>
              <a:ext uri="{FF2B5EF4-FFF2-40B4-BE49-F238E27FC236}">
                <a16:creationId xmlns:a16="http://schemas.microsoft.com/office/drawing/2014/main" id="{756FD96F-FFCF-090C-688C-D504DB9E249E}"/>
              </a:ext>
            </a:extLst>
          </p:cNvPr>
          <p:cNvPicPr>
            <a:picLocks noChangeAspect="1"/>
          </p:cNvPicPr>
          <p:nvPr/>
        </p:nvPicPr>
        <p:blipFill>
          <a:blip r:embed="rId3"/>
          <a:stretch>
            <a:fillRect/>
          </a:stretch>
        </p:blipFill>
        <p:spPr>
          <a:xfrm>
            <a:off x="1336431" y="2730271"/>
            <a:ext cx="1773382" cy="2067982"/>
          </a:xfrm>
          <a:prstGeom prst="rect">
            <a:avLst/>
          </a:prstGeom>
        </p:spPr>
      </p:pic>
      <p:pic>
        <p:nvPicPr>
          <p:cNvPr id="5" name="图片 4">
            <a:extLst>
              <a:ext uri="{FF2B5EF4-FFF2-40B4-BE49-F238E27FC236}">
                <a16:creationId xmlns:a16="http://schemas.microsoft.com/office/drawing/2014/main" id="{AC380061-2402-947E-8727-EBBFF1E1C3E4}"/>
              </a:ext>
            </a:extLst>
          </p:cNvPr>
          <p:cNvPicPr>
            <a:picLocks noChangeAspect="1"/>
          </p:cNvPicPr>
          <p:nvPr/>
        </p:nvPicPr>
        <p:blipFill>
          <a:blip r:embed="rId4"/>
          <a:stretch>
            <a:fillRect/>
          </a:stretch>
        </p:blipFill>
        <p:spPr>
          <a:xfrm>
            <a:off x="3048129" y="2730271"/>
            <a:ext cx="2713122" cy="2067982"/>
          </a:xfrm>
          <a:prstGeom prst="rect">
            <a:avLst/>
          </a:prstGeom>
        </p:spPr>
      </p:pic>
      <p:pic>
        <p:nvPicPr>
          <p:cNvPr id="1026" name="Picture 2" descr="熊猫耍棍 - 动画作品交流 - Powered by Discuz!">
            <a:extLst>
              <a:ext uri="{FF2B5EF4-FFF2-40B4-BE49-F238E27FC236}">
                <a16:creationId xmlns:a16="http://schemas.microsoft.com/office/drawing/2014/main" id="{BBBDE4DA-5D23-4246-BCEC-E3EB4755EFE3}"/>
              </a:ext>
            </a:extLst>
          </p:cNvPr>
          <p:cNvPicPr>
            <a:picLocks noChangeAspect="1" noChangeArrowheads="1" noCrop="1"/>
          </p:cNvPicPr>
          <p:nvPr/>
        </p:nvPicPr>
        <p:blipFill>
          <a:blip r:embed="rId5">
            <a:extLst>
              <a:ext uri="{28A0092B-C50C-407E-A947-70E740481C1C}">
                <a14:useLocalDpi xmlns:a14="http://schemas.microsoft.com/office/drawing/2010/main" val="0"/>
              </a:ext>
            </a:extLst>
          </a:blip>
          <a:srcRect/>
          <a:stretch>
            <a:fillRect/>
          </a:stretch>
        </p:blipFill>
        <p:spPr bwMode="auto">
          <a:xfrm>
            <a:off x="5778057" y="2730271"/>
            <a:ext cx="3389784" cy="204007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188664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内容占位符 3">
            <a:extLst>
              <a:ext uri="{FF2B5EF4-FFF2-40B4-BE49-F238E27FC236}">
                <a16:creationId xmlns:a16="http://schemas.microsoft.com/office/drawing/2014/main" id="{860DEF4D-3F7E-42A6-492F-8563BA125472}"/>
              </a:ext>
            </a:extLst>
          </p:cNvPr>
          <p:cNvGraphicFramePr>
            <a:graphicFrameLocks noGrp="1"/>
          </p:cNvGraphicFramePr>
          <p:nvPr>
            <p:ph idx="1"/>
            <p:extLst>
              <p:ext uri="{D42A27DB-BD31-4B8C-83A1-F6EECF244321}">
                <p14:modId xmlns:p14="http://schemas.microsoft.com/office/powerpoint/2010/main" val="3006481130"/>
              </p:ext>
            </p:extLst>
          </p:nvPr>
        </p:nvGraphicFramePr>
        <p:xfrm>
          <a:off x="521335" y="2316691"/>
          <a:ext cx="11149330" cy="3749040"/>
        </p:xfrm>
        <a:graphic>
          <a:graphicData uri="http://schemas.openxmlformats.org/drawingml/2006/table">
            <a:tbl>
              <a:tblPr firstRow="1" bandRow="1">
                <a:tableStyleId>{5C22544A-7EE6-4342-B048-85BDC9FD1C3A}</a:tableStyleId>
              </a:tblPr>
              <a:tblGrid>
                <a:gridCol w="2867730">
                  <a:extLst>
                    <a:ext uri="{9D8B030D-6E8A-4147-A177-3AD203B41FA5}">
                      <a16:colId xmlns:a16="http://schemas.microsoft.com/office/drawing/2014/main" val="3251656199"/>
                    </a:ext>
                  </a:extLst>
                </a:gridCol>
                <a:gridCol w="1100667">
                  <a:extLst>
                    <a:ext uri="{9D8B030D-6E8A-4147-A177-3AD203B41FA5}">
                      <a16:colId xmlns:a16="http://schemas.microsoft.com/office/drawing/2014/main" val="4036519099"/>
                    </a:ext>
                  </a:extLst>
                </a:gridCol>
                <a:gridCol w="1433689">
                  <a:extLst>
                    <a:ext uri="{9D8B030D-6E8A-4147-A177-3AD203B41FA5}">
                      <a16:colId xmlns:a16="http://schemas.microsoft.com/office/drawing/2014/main" val="3084575741"/>
                    </a:ext>
                  </a:extLst>
                </a:gridCol>
                <a:gridCol w="1648178">
                  <a:extLst>
                    <a:ext uri="{9D8B030D-6E8A-4147-A177-3AD203B41FA5}">
                      <a16:colId xmlns:a16="http://schemas.microsoft.com/office/drawing/2014/main" val="802979094"/>
                    </a:ext>
                  </a:extLst>
                </a:gridCol>
                <a:gridCol w="4099066">
                  <a:extLst>
                    <a:ext uri="{9D8B030D-6E8A-4147-A177-3AD203B41FA5}">
                      <a16:colId xmlns:a16="http://schemas.microsoft.com/office/drawing/2014/main" val="1362258710"/>
                    </a:ext>
                  </a:extLst>
                </a:gridCol>
              </a:tblGrid>
              <a:tr h="370840">
                <a:tc>
                  <a:txBody>
                    <a:bodyPr/>
                    <a:lstStyle/>
                    <a:p>
                      <a:pPr algn="ctr"/>
                      <a:r>
                        <a:rPr lang="en-US" altLang="zh-CN" sz="2400" b="0" dirty="0"/>
                        <a:t>Category</a:t>
                      </a:r>
                      <a:endParaRPr lang="zh-CN" altLang="en-US" sz="2400" b="0" dirty="0"/>
                    </a:p>
                  </a:txBody>
                  <a:tcPr/>
                </a:tc>
                <a:tc>
                  <a:txBody>
                    <a:bodyPr/>
                    <a:lstStyle/>
                    <a:p>
                      <a:pPr algn="ctr"/>
                      <a:r>
                        <a:rPr lang="en-US" altLang="zh-CN" sz="2400" b="0" dirty="0"/>
                        <a:t>Tactile</a:t>
                      </a:r>
                      <a:endParaRPr lang="zh-CN" altLang="en-US" sz="2400" b="0" dirty="0"/>
                    </a:p>
                  </a:txBody>
                  <a:tcPr/>
                </a:tc>
                <a:tc>
                  <a:txBody>
                    <a:bodyPr/>
                    <a:lstStyle/>
                    <a:p>
                      <a:pPr algn="ctr"/>
                      <a:r>
                        <a:rPr lang="en-US" altLang="zh-CN" sz="2400" b="0" dirty="0"/>
                        <a:t>ML-based</a:t>
                      </a:r>
                      <a:endParaRPr lang="zh-CN" altLang="en-US" sz="2400" b="0" dirty="0"/>
                    </a:p>
                  </a:txBody>
                  <a:tcPr/>
                </a:tc>
                <a:tc>
                  <a:txBody>
                    <a:bodyPr/>
                    <a:lstStyle/>
                    <a:p>
                      <a:pPr algn="ctr"/>
                      <a:r>
                        <a:rPr lang="en-US" altLang="zh-CN" sz="2400" b="0" dirty="0"/>
                        <a:t>Dynamic</a:t>
                      </a:r>
                      <a:endParaRPr lang="zh-CN" altLang="en-US" sz="2400" b="0" dirty="0"/>
                    </a:p>
                  </a:txBody>
                  <a:tcPr/>
                </a:tc>
                <a:tc>
                  <a:txBody>
                    <a:bodyPr/>
                    <a:lstStyle/>
                    <a:p>
                      <a:pPr algn="ctr"/>
                      <a:r>
                        <a:rPr lang="en-US" altLang="zh-CN" sz="2400" b="0" dirty="0"/>
                        <a:t>Pro and Cons</a:t>
                      </a:r>
                      <a:endParaRPr lang="zh-CN" altLang="en-US" sz="2400" b="0" dirty="0"/>
                    </a:p>
                  </a:txBody>
                  <a:tcPr/>
                </a:tc>
                <a:extLst>
                  <a:ext uri="{0D108BD9-81ED-4DB2-BD59-A6C34878D82A}">
                    <a16:rowId xmlns:a16="http://schemas.microsoft.com/office/drawing/2014/main" val="1477219940"/>
                  </a:ext>
                </a:extLst>
              </a:tr>
              <a:tr h="370840">
                <a:tc>
                  <a:txBody>
                    <a:bodyPr/>
                    <a:lstStyle/>
                    <a:p>
                      <a:pPr algn="ctr"/>
                      <a:r>
                        <a:rPr lang="en-US" altLang="zh-CN" sz="2000" dirty="0"/>
                        <a:t>Static/Quasi-static Manipulation</a:t>
                      </a:r>
                      <a:endParaRPr lang="zh-CN" altLang="en-US" sz="2000" dirty="0"/>
                    </a:p>
                  </a:txBody>
                  <a:tcPr/>
                </a:tc>
                <a:tc>
                  <a:txBody>
                    <a:bodyPr/>
                    <a:lstStyle/>
                    <a:p>
                      <a:pPr algn="ctr"/>
                      <a:endParaRPr lang="en-US" altLang="zh-CN" dirty="0"/>
                    </a:p>
                    <a:p>
                      <a:pPr algn="ctr"/>
                      <a:r>
                        <a:rPr lang="en-US" altLang="zh-CN" dirty="0"/>
                        <a:t>✅</a:t>
                      </a:r>
                    </a:p>
                  </a:txBody>
                  <a:tcPr/>
                </a:tc>
                <a:tc>
                  <a:txBody>
                    <a:bodyPr/>
                    <a:lstStyle/>
                    <a:p>
                      <a:pPr algn="ctr"/>
                      <a:endParaRPr lang="en-US" altLang="zh-CN" dirty="0"/>
                    </a:p>
                    <a:p>
                      <a:pPr algn="ctr"/>
                      <a:r>
                        <a:rPr lang="en-US" altLang="zh-CN" dirty="0"/>
                        <a:t>✅</a:t>
                      </a:r>
                      <a:endParaRPr lang="zh-CN" altLang="en-US" dirty="0"/>
                    </a:p>
                  </a:txBody>
                  <a:tcPr/>
                </a:tc>
                <a:tc>
                  <a:txBody>
                    <a:bodyPr/>
                    <a:lstStyle/>
                    <a:p>
                      <a:pPr algn="ctr"/>
                      <a:endParaRPr lang="en-US" altLang="zh-CN" dirty="0"/>
                    </a:p>
                    <a:p>
                      <a:pPr algn="ctr"/>
                      <a:r>
                        <a:rPr lang="en-US" altLang="zh-CN" dirty="0"/>
                        <a:t>❌</a:t>
                      </a:r>
                      <a:endParaRPr lang="zh-CN" altLang="en-US" dirty="0"/>
                    </a:p>
                  </a:txBody>
                  <a:tcPr/>
                </a:tc>
                <a:tc>
                  <a:txBody>
                    <a:bodyPr/>
                    <a:lstStyle/>
                    <a:p>
                      <a:r>
                        <a:rPr lang="en-US" altLang="zh-CN" sz="2000" dirty="0">
                          <a:solidFill>
                            <a:schemeClr val="accent1"/>
                          </a:solidFill>
                        </a:rPr>
                        <a:t>Focus</a:t>
                      </a:r>
                      <a:r>
                        <a:rPr lang="zh-CN" altLang="en-US" sz="2000" dirty="0">
                          <a:solidFill>
                            <a:schemeClr val="accent1"/>
                          </a:solidFill>
                        </a:rPr>
                        <a:t> </a:t>
                      </a:r>
                      <a:r>
                        <a:rPr lang="en-US" altLang="zh-CN" sz="2000" dirty="0">
                          <a:solidFill>
                            <a:schemeClr val="accent1"/>
                          </a:solidFill>
                        </a:rPr>
                        <a:t>on</a:t>
                      </a:r>
                      <a:r>
                        <a:rPr lang="zh-CN" altLang="en-US" sz="2000" dirty="0">
                          <a:solidFill>
                            <a:schemeClr val="accent1"/>
                          </a:solidFill>
                        </a:rPr>
                        <a:t> </a:t>
                      </a:r>
                      <a:r>
                        <a:rPr lang="en-US" altLang="zh-CN" sz="2000" dirty="0">
                          <a:solidFill>
                            <a:schemeClr val="accent1"/>
                          </a:solidFill>
                        </a:rPr>
                        <a:t>grasping/holding</a:t>
                      </a:r>
                      <a:r>
                        <a:rPr lang="en-US" altLang="zh-CN" sz="2000" dirty="0"/>
                        <a:t>, lacks</a:t>
                      </a:r>
                      <a:r>
                        <a:rPr lang="zh-CN" altLang="en-US" sz="2000" dirty="0"/>
                        <a:t> </a:t>
                      </a:r>
                      <a:r>
                        <a:rPr lang="en-US" altLang="zh-CN" sz="2000" dirty="0"/>
                        <a:t>momentum</a:t>
                      </a:r>
                      <a:r>
                        <a:rPr lang="zh-CN" altLang="en-US" sz="2000" dirty="0"/>
                        <a:t> </a:t>
                      </a:r>
                      <a:r>
                        <a:rPr lang="en-US" altLang="zh-CN" sz="2000" dirty="0"/>
                        <a:t>understanding</a:t>
                      </a:r>
                      <a:r>
                        <a:rPr lang="zh-CN" altLang="en-US" sz="2000" dirty="0"/>
                        <a:t> </a:t>
                      </a:r>
                    </a:p>
                  </a:txBody>
                  <a:tcPr/>
                </a:tc>
                <a:extLst>
                  <a:ext uri="{0D108BD9-81ED-4DB2-BD59-A6C34878D82A}">
                    <a16:rowId xmlns:a16="http://schemas.microsoft.com/office/drawing/2014/main" val="2726804698"/>
                  </a:ext>
                </a:extLst>
              </a:tr>
              <a:tr h="370840">
                <a:tc>
                  <a:txBody>
                    <a:bodyPr/>
                    <a:lstStyle/>
                    <a:p>
                      <a:pPr algn="ctr"/>
                      <a:r>
                        <a:rPr lang="en-US" altLang="zh-CN" sz="2000" dirty="0"/>
                        <a:t>Manually</a:t>
                      </a:r>
                      <a:r>
                        <a:rPr lang="zh-CN" altLang="en-US" sz="2000" dirty="0"/>
                        <a:t> </a:t>
                      </a:r>
                      <a:r>
                        <a:rPr lang="en-US" altLang="zh-CN" sz="2000" dirty="0"/>
                        <a:t>engineered</a:t>
                      </a:r>
                      <a:r>
                        <a:rPr lang="zh-CN" altLang="en-US" sz="2000" dirty="0"/>
                        <a:t> </a:t>
                      </a:r>
                      <a:r>
                        <a:rPr lang="en-US" altLang="zh-CN" sz="2000" dirty="0"/>
                        <a:t>models</a:t>
                      </a:r>
                      <a:endParaRPr lang="zh-CN" altLang="en-US" sz="2000" dirty="0"/>
                    </a:p>
                  </a:txBody>
                  <a:tcPr/>
                </a:tc>
                <a:tc>
                  <a:txBody>
                    <a:bodyPr/>
                    <a:lstStyle/>
                    <a:p>
                      <a:pPr algn="ctr"/>
                      <a:endParaRPr lang="en-US" altLang="zh-CN" dirty="0"/>
                    </a:p>
                    <a:p>
                      <a:pPr algn="ctr"/>
                      <a:r>
                        <a:rPr lang="en-US" altLang="zh-CN" dirty="0"/>
                        <a:t>❌</a:t>
                      </a:r>
                      <a:endParaRPr lang="zh-CN" altLang="en-US" dirty="0"/>
                    </a:p>
                  </a:txBody>
                  <a:tcPr/>
                </a:tc>
                <a:tc>
                  <a:txBody>
                    <a:bodyPr/>
                    <a:lstStyle/>
                    <a:p>
                      <a:endParaRPr lang="en-US" altLang="zh-CN" dirty="0"/>
                    </a:p>
                    <a:p>
                      <a:r>
                        <a:rPr lang="en-US" altLang="zh-CN" dirty="0"/>
                        <a:t>        ❌</a:t>
                      </a:r>
                      <a:endParaRPr lang="zh-CN" altLang="en-US" dirty="0"/>
                    </a:p>
                  </a:txBody>
                  <a:tcPr/>
                </a:tc>
                <a:tc>
                  <a:txBody>
                    <a:bodyPr/>
                    <a:lstStyle/>
                    <a:p>
                      <a:pPr algn="ctr"/>
                      <a:endParaRPr lang="en-US" altLang="zh-CN" dirty="0"/>
                    </a:p>
                    <a:p>
                      <a:pPr algn="ctr"/>
                      <a:r>
                        <a:rPr lang="en-US" altLang="zh-CN" dirty="0"/>
                        <a:t>✅</a:t>
                      </a:r>
                      <a:endParaRPr lang="zh-CN" altLang="en-US" dirty="0"/>
                    </a:p>
                  </a:txBody>
                  <a:tcPr/>
                </a:tc>
                <a:tc>
                  <a:txBody>
                    <a:bodyPr/>
                    <a:lstStyle/>
                    <a:p>
                      <a:r>
                        <a:rPr lang="en-US" altLang="zh-CN" sz="2000" dirty="0"/>
                        <a:t>Requires expert-designed physics models, poor </a:t>
                      </a:r>
                      <a:r>
                        <a:rPr lang="en-US" altLang="zh-CN" sz="2000" dirty="0">
                          <a:solidFill>
                            <a:schemeClr val="accent1"/>
                          </a:solidFill>
                        </a:rPr>
                        <a:t>generalization</a:t>
                      </a:r>
                      <a:endParaRPr lang="zh-CN" altLang="en-US" sz="2000" dirty="0">
                        <a:solidFill>
                          <a:schemeClr val="accent1"/>
                        </a:solidFill>
                      </a:endParaRPr>
                    </a:p>
                  </a:txBody>
                  <a:tcPr/>
                </a:tc>
                <a:extLst>
                  <a:ext uri="{0D108BD9-81ED-4DB2-BD59-A6C34878D82A}">
                    <a16:rowId xmlns:a16="http://schemas.microsoft.com/office/drawing/2014/main" val="3082698249"/>
                  </a:ext>
                </a:extLst>
              </a:tr>
              <a:tr h="370840">
                <a:tc>
                  <a:txBody>
                    <a:bodyPr/>
                    <a:lstStyle/>
                    <a:p>
                      <a:pPr algn="ctr"/>
                      <a:r>
                        <a:rPr lang="en-US" altLang="zh-CN" sz="2000" dirty="0"/>
                        <a:t>Vision-only</a:t>
                      </a:r>
                      <a:r>
                        <a:rPr lang="zh-CN" altLang="en-US" sz="2000" dirty="0"/>
                        <a:t> </a:t>
                      </a:r>
                      <a:r>
                        <a:rPr lang="en-US" altLang="zh-CN" sz="2000" dirty="0"/>
                        <a:t>intuitive</a:t>
                      </a:r>
                      <a:r>
                        <a:rPr lang="zh-CN" altLang="en-US" sz="2000" dirty="0"/>
                        <a:t> </a:t>
                      </a:r>
                      <a:r>
                        <a:rPr lang="en-US" altLang="zh-CN" sz="2000" dirty="0"/>
                        <a:t>physics</a:t>
                      </a:r>
                      <a:endParaRPr lang="zh-CN" altLang="en-US" sz="2000" dirty="0"/>
                    </a:p>
                  </a:txBody>
                  <a:tcPr/>
                </a:tc>
                <a:tc>
                  <a:txBody>
                    <a:bodyPr/>
                    <a:lstStyle/>
                    <a:p>
                      <a:pPr algn="ctr"/>
                      <a:endParaRPr lang="en-US" altLang="zh-CN" dirty="0"/>
                    </a:p>
                    <a:p>
                      <a:pPr algn="ctr"/>
                      <a:r>
                        <a:rPr lang="en-US" altLang="zh-CN" dirty="0"/>
                        <a:t>❌</a:t>
                      </a:r>
                      <a:endParaRPr lang="zh-CN" altLang="en-US" dirty="0"/>
                    </a:p>
                  </a:txBody>
                  <a:tcPr/>
                </a:tc>
                <a:tc>
                  <a:txBody>
                    <a:bodyPr/>
                    <a:lstStyle/>
                    <a:p>
                      <a:pPr algn="ctr"/>
                      <a:endParaRPr lang="en-US" altLang="zh-CN" dirty="0"/>
                    </a:p>
                    <a:p>
                      <a:pPr algn="ctr"/>
                      <a:r>
                        <a:rPr lang="en-US" altLang="zh-CN" dirty="0"/>
                        <a:t>✅</a:t>
                      </a:r>
                      <a:endParaRPr lang="zh-CN" altLang="en-US" dirty="0"/>
                    </a:p>
                  </a:txBody>
                  <a:tcPr/>
                </a:tc>
                <a:tc>
                  <a:txBody>
                    <a:bodyPr/>
                    <a:lstStyle/>
                    <a:p>
                      <a:pPr algn="ctr"/>
                      <a:endParaRPr lang="en-US" altLang="zh-CN" dirty="0"/>
                    </a:p>
                    <a:p>
                      <a:pPr algn="ctr"/>
                      <a:r>
                        <a:rPr lang="en-US" altLang="zh-CN" dirty="0"/>
                        <a:t>✅</a:t>
                      </a:r>
                      <a:endParaRPr lang="zh-CN" altLang="en-US" dirty="0"/>
                    </a:p>
                  </a:txBody>
                  <a:tcPr/>
                </a:tc>
                <a:tc>
                  <a:txBody>
                    <a:bodyPr/>
                    <a:lstStyle/>
                    <a:p>
                      <a:pPr marL="0" marR="0" lvl="0" indent="0" algn="l" defTabSz="457189" rtl="0" eaLnBrk="1" fontAlgn="auto" latinLnBrk="0" hangingPunct="1">
                        <a:lnSpc>
                          <a:spcPct val="100000"/>
                        </a:lnSpc>
                        <a:spcBef>
                          <a:spcPts val="0"/>
                        </a:spcBef>
                        <a:spcAft>
                          <a:spcPts val="0"/>
                        </a:spcAft>
                        <a:buClrTx/>
                        <a:buSzTx/>
                        <a:buFontTx/>
                        <a:buNone/>
                        <a:tabLst/>
                        <a:defRPr/>
                      </a:pPr>
                      <a:r>
                        <a:rPr lang="en" altLang="zh-CN" dirty="0"/>
                        <a:t>Insensitive to contact forces and friction; fragile in real-world conditions. </a:t>
                      </a:r>
                    </a:p>
                  </a:txBody>
                  <a:tcPr/>
                </a:tc>
                <a:extLst>
                  <a:ext uri="{0D108BD9-81ED-4DB2-BD59-A6C34878D82A}">
                    <a16:rowId xmlns:a16="http://schemas.microsoft.com/office/drawing/2014/main" val="2113700051"/>
                  </a:ext>
                </a:extLst>
              </a:tr>
              <a:tr h="370840">
                <a:tc>
                  <a:txBody>
                    <a:bodyPr/>
                    <a:lstStyle/>
                    <a:p>
                      <a:pPr algn="ctr"/>
                      <a:endParaRPr lang="en-US" altLang="zh-CN" sz="2000" dirty="0"/>
                    </a:p>
                    <a:p>
                      <a:pPr algn="ctr"/>
                      <a:r>
                        <a:rPr lang="en-US" altLang="zh-CN" sz="2000" dirty="0" err="1"/>
                        <a:t>SwingBot</a:t>
                      </a:r>
                      <a:r>
                        <a:rPr lang="en-US" altLang="zh-CN" sz="2000" dirty="0"/>
                        <a:t> (This paper)</a:t>
                      </a:r>
                      <a:endParaRPr lang="zh-CN" altLang="en-US" sz="2000" dirty="0"/>
                    </a:p>
                  </a:txBody>
                  <a:tcPr/>
                </a:tc>
                <a:tc>
                  <a:txBody>
                    <a:bodyPr/>
                    <a:lstStyle/>
                    <a:p>
                      <a:endParaRPr lang="en-US" altLang="zh-CN" dirty="0"/>
                    </a:p>
                    <a:p>
                      <a:r>
                        <a:rPr lang="zh-CN" altLang="en-US" dirty="0"/>
                        <a:t>     </a:t>
                      </a:r>
                      <a:r>
                        <a:rPr lang="en-US" altLang="zh-CN" dirty="0"/>
                        <a:t>✅</a:t>
                      </a:r>
                      <a:endParaRPr lang="zh-CN" altLang="en-US" dirty="0"/>
                    </a:p>
                  </a:txBody>
                  <a:tcPr/>
                </a:tc>
                <a:tc>
                  <a:txBody>
                    <a:bodyPr/>
                    <a:lstStyle/>
                    <a:p>
                      <a:pPr algn="ctr"/>
                      <a:endParaRPr lang="en-US" altLang="zh-CN" dirty="0"/>
                    </a:p>
                    <a:p>
                      <a:pPr algn="ctr"/>
                      <a:r>
                        <a:rPr lang="en-US" altLang="zh-CN" dirty="0"/>
                        <a:t>✅</a:t>
                      </a:r>
                      <a:endParaRPr lang="zh-CN" altLang="en-US" dirty="0"/>
                    </a:p>
                  </a:txBody>
                  <a:tcPr/>
                </a:tc>
                <a:tc>
                  <a:txBody>
                    <a:bodyPr/>
                    <a:lstStyle/>
                    <a:p>
                      <a:pPr algn="ctr"/>
                      <a:endParaRPr lang="en-US" altLang="zh-CN" dirty="0"/>
                    </a:p>
                    <a:p>
                      <a:pPr algn="ctr"/>
                      <a:r>
                        <a:rPr lang="en-US" altLang="zh-CN" dirty="0"/>
                        <a:t>✅</a:t>
                      </a:r>
                      <a:endParaRPr lang="zh-CN" altLang="en-US" dirty="0"/>
                    </a:p>
                  </a:txBody>
                  <a:tcPr/>
                </a:tc>
                <a:tc>
                  <a:txBody>
                    <a:bodyPr/>
                    <a:lstStyle/>
                    <a:p>
                      <a:pPr marL="0" marR="0" lvl="0" indent="0" algn="l" defTabSz="457189" rtl="0" eaLnBrk="1" fontAlgn="auto" latinLnBrk="0" hangingPunct="1">
                        <a:lnSpc>
                          <a:spcPct val="100000"/>
                        </a:lnSpc>
                        <a:spcBef>
                          <a:spcPts val="0"/>
                        </a:spcBef>
                        <a:spcAft>
                          <a:spcPts val="0"/>
                        </a:spcAft>
                        <a:buClrTx/>
                        <a:buSzTx/>
                        <a:buFontTx/>
                        <a:buNone/>
                        <a:tabLst/>
                        <a:defRPr/>
                      </a:pPr>
                      <a:r>
                        <a:rPr lang="en" sz="1800" dirty="0"/>
                        <a:t>Self-supervised tactile exploration enables more </a:t>
                      </a:r>
                      <a:r>
                        <a:rPr lang="en" altLang="zh-CN" sz="1800" b="0" kern="1200" dirty="0">
                          <a:solidFill>
                            <a:schemeClr val="dk1"/>
                          </a:solidFill>
                          <a:effectLst/>
                          <a:latin typeface="+mn-lt"/>
                          <a:ea typeface="+mn-ea"/>
                          <a:cs typeface="+mn-cs"/>
                        </a:rPr>
                        <a:t>generalizable</a:t>
                      </a:r>
                      <a:r>
                        <a:rPr lang="zh-CN" altLang="en-US" sz="1800" b="0" kern="1200" dirty="0">
                          <a:solidFill>
                            <a:schemeClr val="dk1"/>
                          </a:solidFill>
                          <a:effectLst/>
                          <a:latin typeface="+mn-lt"/>
                          <a:ea typeface="+mn-ea"/>
                          <a:cs typeface="+mn-cs"/>
                        </a:rPr>
                        <a:t> </a:t>
                      </a:r>
                      <a:r>
                        <a:rPr lang="en" sz="1800" dirty="0"/>
                        <a:t>dynamic physical understanding. </a:t>
                      </a:r>
                      <a:r>
                        <a:rPr lang="en-US" sz="1800" dirty="0">
                          <a:solidFill>
                            <a:schemeClr val="accent1"/>
                          </a:solidFill>
                        </a:rPr>
                        <a:t>In-hand manipulation provides more feedback</a:t>
                      </a:r>
                      <a:endParaRPr lang="en" sz="1800" dirty="0">
                        <a:solidFill>
                          <a:schemeClr val="accent1"/>
                        </a:solidFill>
                      </a:endParaRPr>
                    </a:p>
                  </a:txBody>
                  <a:tcPr anchor="ctr"/>
                </a:tc>
                <a:extLst>
                  <a:ext uri="{0D108BD9-81ED-4DB2-BD59-A6C34878D82A}">
                    <a16:rowId xmlns:a16="http://schemas.microsoft.com/office/drawing/2014/main" val="269584468"/>
                  </a:ext>
                </a:extLst>
              </a:tr>
            </a:tbl>
          </a:graphicData>
        </a:graphic>
      </p:graphicFrame>
      <p:sp>
        <p:nvSpPr>
          <p:cNvPr id="3" name="标题 2">
            <a:extLst>
              <a:ext uri="{FF2B5EF4-FFF2-40B4-BE49-F238E27FC236}">
                <a16:creationId xmlns:a16="http://schemas.microsoft.com/office/drawing/2014/main" id="{A47DB835-38B0-D9EA-1A0D-89B7A47E290B}"/>
              </a:ext>
            </a:extLst>
          </p:cNvPr>
          <p:cNvSpPr>
            <a:spLocks noGrp="1"/>
          </p:cNvSpPr>
          <p:nvPr>
            <p:ph type="title"/>
          </p:nvPr>
        </p:nvSpPr>
        <p:spPr/>
        <p:txBody>
          <a:bodyPr/>
          <a:lstStyle/>
          <a:p>
            <a:r>
              <a:rPr lang="en" altLang="zh-CN" dirty="0"/>
              <a:t>Why </a:t>
            </a:r>
            <a:r>
              <a:rPr lang="en" altLang="zh-CN" dirty="0" err="1"/>
              <a:t>SwingBot</a:t>
            </a:r>
            <a:r>
              <a:rPr lang="en" altLang="zh-CN" dirty="0"/>
              <a:t>? – Comparison with Previous Approaches</a:t>
            </a:r>
            <a:endParaRPr kumimoji="1" lang="zh-CN" altLang="en-US" dirty="0"/>
          </a:p>
        </p:txBody>
      </p:sp>
    </p:spTree>
    <p:extLst>
      <p:ext uri="{BB962C8B-B14F-4D97-AF65-F5344CB8AC3E}">
        <p14:creationId xmlns:p14="http://schemas.microsoft.com/office/powerpoint/2010/main" val="122352652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41FA24-DC3D-EC00-A777-BCE7EC36A025}"/>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7CD81749-5D15-B5B8-8003-4FBA51F3D736}"/>
              </a:ext>
            </a:extLst>
          </p:cNvPr>
          <p:cNvSpPr>
            <a:spLocks noGrp="1"/>
          </p:cNvSpPr>
          <p:nvPr>
            <p:ph type="ctrTitle"/>
          </p:nvPr>
        </p:nvSpPr>
        <p:spPr/>
        <p:txBody>
          <a:bodyPr/>
          <a:lstStyle/>
          <a:p>
            <a:r>
              <a:rPr kumimoji="1" lang="en-US" altLang="zh-CN" dirty="0"/>
              <a:t>Methodology</a:t>
            </a:r>
            <a:endParaRPr kumimoji="1" lang="zh-CN" altLang="en-US" dirty="0"/>
          </a:p>
        </p:txBody>
      </p:sp>
      <p:sp>
        <p:nvSpPr>
          <p:cNvPr id="3" name="副标题 2">
            <a:extLst>
              <a:ext uri="{FF2B5EF4-FFF2-40B4-BE49-F238E27FC236}">
                <a16:creationId xmlns:a16="http://schemas.microsoft.com/office/drawing/2014/main" id="{FA642C2C-8C2A-4161-2DD7-4CDD6C7DC6C3}"/>
              </a:ext>
            </a:extLst>
          </p:cNvPr>
          <p:cNvSpPr>
            <a:spLocks noGrp="1"/>
          </p:cNvSpPr>
          <p:nvPr>
            <p:ph type="subTitle" idx="1"/>
          </p:nvPr>
        </p:nvSpPr>
        <p:spPr/>
        <p:txBody>
          <a:bodyPr/>
          <a:lstStyle/>
          <a:p>
            <a:r>
              <a:rPr kumimoji="1" lang="en-US" altLang="zh-CN" dirty="0"/>
              <a:t>Part2</a:t>
            </a:r>
            <a:endParaRPr kumimoji="1" lang="zh-CN" altLang="en-US" dirty="0"/>
          </a:p>
        </p:txBody>
      </p:sp>
    </p:spTree>
    <p:extLst>
      <p:ext uri="{BB962C8B-B14F-4D97-AF65-F5344CB8AC3E}">
        <p14:creationId xmlns:p14="http://schemas.microsoft.com/office/powerpoint/2010/main" val="74258942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id="{15321B39-32A3-44EE-46DC-E32703212FB7}"/>
              </a:ext>
            </a:extLst>
          </p:cNvPr>
          <p:cNvSpPr>
            <a:spLocks noGrp="1"/>
          </p:cNvSpPr>
          <p:nvPr>
            <p:ph idx="1"/>
          </p:nvPr>
        </p:nvSpPr>
        <p:spPr>
          <a:xfrm>
            <a:off x="727950" y="1930400"/>
            <a:ext cx="11029615" cy="3815513"/>
          </a:xfrm>
        </p:spPr>
        <p:txBody>
          <a:bodyPr/>
          <a:lstStyle/>
          <a:p>
            <a:r>
              <a:rPr lang="en" altLang="zh-CN" dirty="0"/>
              <a:t>Workflow: </a:t>
            </a:r>
            <a:r>
              <a:rPr lang="zh-CN" altLang="en-US" dirty="0"/>
              <a:t> </a:t>
            </a:r>
            <a:r>
              <a:rPr lang="en-US" altLang="zh-CN" dirty="0"/>
              <a:t>Exploration</a:t>
            </a:r>
            <a:r>
              <a:rPr lang="zh-CN" altLang="en-US" dirty="0"/>
              <a:t> </a:t>
            </a:r>
            <a:r>
              <a:rPr lang="en-US" altLang="zh-CN" dirty="0"/>
              <a:t>Actions</a:t>
            </a:r>
            <a:r>
              <a:rPr lang="zh-CN" altLang="en-US" dirty="0"/>
              <a:t> </a:t>
            </a:r>
            <a:r>
              <a:rPr lang="en-US" altLang="zh-CN" dirty="0"/>
              <a:t>➡️ Physical Embedding ➡️</a:t>
            </a:r>
            <a:r>
              <a:rPr lang="zh-CN" altLang="en-US" dirty="0"/>
              <a:t> </a:t>
            </a:r>
            <a:r>
              <a:rPr lang="en-US" altLang="zh-CN" dirty="0"/>
              <a:t>Prediction Model ➡️ Final Output</a:t>
            </a:r>
            <a:endParaRPr lang="en" altLang="zh-CN" dirty="0"/>
          </a:p>
          <a:p>
            <a:r>
              <a:rPr lang="en" altLang="zh-CN" dirty="0"/>
              <a:t>Learn a </a:t>
            </a:r>
            <a:r>
              <a:rPr lang="en" altLang="zh-CN" i="1" dirty="0"/>
              <a:t>low-dimensional physical feature embedding</a:t>
            </a:r>
            <a:r>
              <a:rPr lang="en" altLang="zh-CN" dirty="0"/>
              <a:t> via manually designed in-hand exploration (tilting + shaking).</a:t>
            </a:r>
          </a:p>
          <a:p>
            <a:r>
              <a:rPr lang="en" altLang="zh-CN" dirty="0"/>
              <a:t>Use it to predict swing-up dynamics and choose control parameters for unseen objects.</a:t>
            </a:r>
          </a:p>
          <a:p>
            <a:endParaRPr kumimoji="1" lang="zh-CN" altLang="en-US" dirty="0"/>
          </a:p>
        </p:txBody>
      </p:sp>
      <p:sp>
        <p:nvSpPr>
          <p:cNvPr id="3" name="标题 2">
            <a:extLst>
              <a:ext uri="{FF2B5EF4-FFF2-40B4-BE49-F238E27FC236}">
                <a16:creationId xmlns:a16="http://schemas.microsoft.com/office/drawing/2014/main" id="{52FA307B-618A-C88B-E7A5-0E3D4452A526}"/>
              </a:ext>
            </a:extLst>
          </p:cNvPr>
          <p:cNvSpPr>
            <a:spLocks noGrp="1"/>
          </p:cNvSpPr>
          <p:nvPr>
            <p:ph type="title"/>
          </p:nvPr>
        </p:nvSpPr>
        <p:spPr/>
        <p:txBody>
          <a:bodyPr/>
          <a:lstStyle/>
          <a:p>
            <a:r>
              <a:rPr lang="en" altLang="zh-CN" dirty="0"/>
              <a:t> Overview</a:t>
            </a:r>
            <a:endParaRPr kumimoji="1" lang="zh-CN" altLang="en-US" dirty="0"/>
          </a:p>
        </p:txBody>
      </p:sp>
      <p:pic>
        <p:nvPicPr>
          <p:cNvPr id="4" name="图片 3">
            <a:extLst>
              <a:ext uri="{FF2B5EF4-FFF2-40B4-BE49-F238E27FC236}">
                <a16:creationId xmlns:a16="http://schemas.microsoft.com/office/drawing/2014/main" id="{9286247B-3DBD-5DBB-4059-0C67533E25D7}"/>
              </a:ext>
            </a:extLst>
          </p:cNvPr>
          <p:cNvPicPr>
            <a:picLocks noChangeAspect="1"/>
          </p:cNvPicPr>
          <p:nvPr/>
        </p:nvPicPr>
        <p:blipFill>
          <a:blip r:embed="rId3"/>
          <a:stretch>
            <a:fillRect/>
          </a:stretch>
        </p:blipFill>
        <p:spPr>
          <a:xfrm>
            <a:off x="1476501" y="3211841"/>
            <a:ext cx="9238998" cy="3470312"/>
          </a:xfrm>
          <a:prstGeom prst="rect">
            <a:avLst/>
          </a:prstGeom>
        </p:spPr>
      </p:pic>
    </p:spTree>
    <p:extLst>
      <p:ext uri="{BB962C8B-B14F-4D97-AF65-F5344CB8AC3E}">
        <p14:creationId xmlns:p14="http://schemas.microsoft.com/office/powerpoint/2010/main" val="300566002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id="{937031DC-87C6-C465-014A-B23C45B46634}"/>
              </a:ext>
            </a:extLst>
          </p:cNvPr>
          <p:cNvSpPr>
            <a:spLocks noGrp="1"/>
          </p:cNvSpPr>
          <p:nvPr>
            <p:ph idx="1"/>
          </p:nvPr>
        </p:nvSpPr>
        <p:spPr>
          <a:xfrm>
            <a:off x="581192" y="2095831"/>
            <a:ext cx="11029615" cy="3678303"/>
          </a:xfrm>
        </p:spPr>
        <p:txBody>
          <a:bodyPr/>
          <a:lstStyle/>
          <a:p>
            <a:r>
              <a:rPr kumimoji="1" lang="en-US" altLang="zh-CN" dirty="0">
                <a:solidFill>
                  <a:schemeClr val="accent1"/>
                </a:solidFill>
              </a:rPr>
              <a:t>Input</a:t>
            </a:r>
            <a:r>
              <a:rPr kumimoji="1" lang="zh-CN" altLang="en-US" dirty="0"/>
              <a:t>：</a:t>
            </a:r>
            <a:r>
              <a:rPr lang="en" altLang="zh-CN" dirty="0"/>
              <a:t>Real-world signals</a:t>
            </a:r>
            <a:r>
              <a:rPr lang="zh-CN" altLang="en-US" dirty="0"/>
              <a:t> </a:t>
            </a:r>
            <a:r>
              <a:rPr lang="en-US" altLang="zh-CN" dirty="0"/>
              <a:t>during</a:t>
            </a:r>
            <a:r>
              <a:rPr lang="zh-CN" altLang="en-US" dirty="0"/>
              <a:t> </a:t>
            </a:r>
            <a:r>
              <a:rPr lang="en-US" altLang="zh-CN" dirty="0"/>
              <a:t>exploration.</a:t>
            </a:r>
            <a:endParaRPr lang="en" altLang="zh-CN" dirty="0"/>
          </a:p>
          <a:p>
            <a:pPr fontAlgn="base">
              <a:buFont typeface="Arial" panose="020B0604020202020204" pitchFamily="34" charset="0"/>
              <a:buChar char="•"/>
            </a:pPr>
            <a:r>
              <a:rPr kumimoji="1" lang="en-US" altLang="zh-CN" dirty="0">
                <a:solidFill>
                  <a:schemeClr val="accent1"/>
                </a:solidFill>
              </a:rPr>
              <a:t>Output</a:t>
            </a:r>
            <a:r>
              <a:rPr kumimoji="1" lang="zh-CN" altLang="en-US" dirty="0"/>
              <a:t>：</a:t>
            </a:r>
            <a:r>
              <a:rPr lang="en" altLang="zh-CN" dirty="0"/>
              <a:t>High-resolution tactile images</a:t>
            </a:r>
            <a:r>
              <a:rPr lang="zh-CN" altLang="en-US" dirty="0"/>
              <a:t> </a:t>
            </a:r>
            <a:r>
              <a:rPr lang="en-US" altLang="zh-CN" dirty="0"/>
              <a:t>that</a:t>
            </a:r>
            <a:r>
              <a:rPr lang="en" altLang="zh-CN" dirty="0"/>
              <a:t> encodes local contact geometry, normal/shear force, torque, and texture information.</a:t>
            </a:r>
          </a:p>
          <a:p>
            <a:pPr algn="l" fontAlgn="base">
              <a:buFont typeface="Arial" panose="020B0604020202020204" pitchFamily="34" charset="0"/>
              <a:buChar char="•"/>
            </a:pPr>
            <a:r>
              <a:rPr lang="en-US" altLang="zh-CN" dirty="0">
                <a:solidFill>
                  <a:schemeClr val="accent1"/>
                </a:solidFill>
                <a:latin typeface="-apple-system"/>
              </a:rPr>
              <a:t>Key point</a:t>
            </a:r>
            <a:r>
              <a:rPr lang="en-US" altLang="zh-CN" dirty="0">
                <a:latin typeface="-apple-system"/>
              </a:rPr>
              <a:t>: ONLY use the raw m</a:t>
            </a:r>
            <a:r>
              <a:rPr lang="en-US" altLang="zh-CN" i="0" dirty="0">
                <a:effectLst/>
                <a:latin typeface="inherit"/>
              </a:rPr>
              <a:t>arker displacements</a:t>
            </a:r>
            <a:r>
              <a:rPr lang="en-US" altLang="zh-CN" b="1" i="0" dirty="0">
                <a:effectLst/>
                <a:latin typeface="inherit"/>
              </a:rPr>
              <a:t>​</a:t>
            </a:r>
            <a:r>
              <a:rPr lang="en-US" altLang="zh-CN" b="0" i="0" dirty="0">
                <a:effectLst/>
                <a:latin typeface="-apple-system"/>
              </a:rPr>
              <a:t>​ from high-resolution </a:t>
            </a:r>
            <a:r>
              <a:rPr lang="en-US" altLang="zh-CN" b="0" i="0" dirty="0" err="1">
                <a:effectLst/>
                <a:latin typeface="-apple-system"/>
              </a:rPr>
              <a:t>GelSight</a:t>
            </a:r>
            <a:r>
              <a:rPr lang="en-US" altLang="zh-CN" b="0" i="0" dirty="0">
                <a:effectLst/>
                <a:latin typeface="-apple-system"/>
              </a:rPr>
              <a:t> images.</a:t>
            </a:r>
          </a:p>
          <a:p>
            <a:pPr algn="l" fontAlgn="base">
              <a:buFont typeface="Arial" panose="020B0604020202020204" pitchFamily="34" charset="0"/>
              <a:buChar char="•"/>
            </a:pPr>
            <a:r>
              <a:rPr lang="en-US" altLang="zh-CN" dirty="0">
                <a:solidFill>
                  <a:schemeClr val="accent1"/>
                </a:solidFill>
                <a:latin typeface="-apple-system"/>
              </a:rPr>
              <a:t>Advantage</a:t>
            </a:r>
            <a:r>
              <a:rPr lang="en-US" altLang="zh-CN" dirty="0">
                <a:latin typeface="-apple-system"/>
              </a:rPr>
              <a:t>:</a:t>
            </a:r>
            <a:r>
              <a:rPr lang="zh-CN" altLang="en-US" dirty="0">
                <a:latin typeface="-apple-system"/>
              </a:rPr>
              <a:t> </a:t>
            </a:r>
            <a:r>
              <a:rPr lang="en-US" altLang="zh-CN" dirty="0">
                <a:latin typeface="-apple-system"/>
              </a:rPr>
              <a:t>keep rich information of the contact surface</a:t>
            </a:r>
          </a:p>
          <a:p>
            <a:pPr marL="0" indent="0" algn="l" fontAlgn="base">
              <a:buNone/>
            </a:pPr>
            <a:r>
              <a:rPr lang="en-US" altLang="zh-CN" dirty="0">
                <a:latin typeface="-apple-system"/>
              </a:rPr>
              <a:t>while avoiding the error caused by the nonlinear mechanical</a:t>
            </a:r>
          </a:p>
          <a:p>
            <a:pPr marL="0" indent="0" algn="l" fontAlgn="base">
              <a:buNone/>
            </a:pPr>
            <a:r>
              <a:rPr lang="en-US" altLang="zh-CN" dirty="0">
                <a:latin typeface="-apple-system"/>
              </a:rPr>
              <a:t>properties of the gel in the mechanical parameters regression</a:t>
            </a:r>
          </a:p>
          <a:p>
            <a:pPr marL="0" indent="0" algn="l" fontAlgn="base">
              <a:buNone/>
            </a:pPr>
            <a:r>
              <a:rPr lang="en-US" altLang="zh-CN" dirty="0">
                <a:latin typeface="-apple-system"/>
              </a:rPr>
              <a:t>Process.</a:t>
            </a:r>
            <a:endParaRPr lang="en" altLang="zh-CN" dirty="0"/>
          </a:p>
          <a:p>
            <a:endParaRPr lang="en" altLang="zh-CN" dirty="0"/>
          </a:p>
          <a:p>
            <a:endParaRPr kumimoji="1" lang="zh-CN" altLang="en-US" dirty="0"/>
          </a:p>
        </p:txBody>
      </p:sp>
      <p:sp>
        <p:nvSpPr>
          <p:cNvPr id="3" name="标题 2">
            <a:extLst>
              <a:ext uri="{FF2B5EF4-FFF2-40B4-BE49-F238E27FC236}">
                <a16:creationId xmlns:a16="http://schemas.microsoft.com/office/drawing/2014/main" id="{063F7711-412D-5418-F9F4-FCC1DC623C24}"/>
              </a:ext>
            </a:extLst>
          </p:cNvPr>
          <p:cNvSpPr>
            <a:spLocks noGrp="1"/>
          </p:cNvSpPr>
          <p:nvPr>
            <p:ph type="title"/>
          </p:nvPr>
        </p:nvSpPr>
        <p:spPr/>
        <p:txBody>
          <a:bodyPr/>
          <a:lstStyle/>
          <a:p>
            <a:r>
              <a:rPr kumimoji="1" lang="en-US" altLang="zh-CN" dirty="0"/>
              <a:t>Stage1——Sensing: </a:t>
            </a:r>
            <a:r>
              <a:rPr kumimoji="1" lang="en-US" altLang="zh-CN" dirty="0" err="1"/>
              <a:t>Gelsight</a:t>
            </a:r>
            <a:r>
              <a:rPr kumimoji="1" lang="en-US" altLang="zh-CN" dirty="0"/>
              <a:t> sensor</a:t>
            </a:r>
            <a:endParaRPr kumimoji="1" lang="zh-CN" altLang="en-US" dirty="0"/>
          </a:p>
        </p:txBody>
      </p:sp>
      <p:pic>
        <p:nvPicPr>
          <p:cNvPr id="5" name="图片 4" descr="图示&#10;&#10;AI 生成的内容可能不正确。">
            <a:extLst>
              <a:ext uri="{FF2B5EF4-FFF2-40B4-BE49-F238E27FC236}">
                <a16:creationId xmlns:a16="http://schemas.microsoft.com/office/drawing/2014/main" id="{D236995C-FBA6-E7FF-B624-BE444E41E4AA}"/>
              </a:ext>
            </a:extLst>
          </p:cNvPr>
          <p:cNvPicPr>
            <a:picLocks noChangeAspect="1"/>
          </p:cNvPicPr>
          <p:nvPr/>
        </p:nvPicPr>
        <p:blipFill>
          <a:blip r:embed="rId3"/>
          <a:stretch>
            <a:fillRect/>
          </a:stretch>
        </p:blipFill>
        <p:spPr>
          <a:xfrm>
            <a:off x="6636118" y="3777530"/>
            <a:ext cx="5081412" cy="2827251"/>
          </a:xfrm>
          <a:prstGeom prst="rect">
            <a:avLst/>
          </a:prstGeom>
        </p:spPr>
      </p:pic>
    </p:spTree>
    <p:extLst>
      <p:ext uri="{BB962C8B-B14F-4D97-AF65-F5344CB8AC3E}">
        <p14:creationId xmlns:p14="http://schemas.microsoft.com/office/powerpoint/2010/main" val="237563367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id="{05F1B60A-5608-B9A6-AF43-1DAF9070910C}"/>
              </a:ext>
            </a:extLst>
          </p:cNvPr>
          <p:cNvSpPr>
            <a:spLocks noGrp="1"/>
          </p:cNvSpPr>
          <p:nvPr>
            <p:ph idx="1"/>
          </p:nvPr>
        </p:nvSpPr>
        <p:spPr>
          <a:xfrm>
            <a:off x="475463" y="1937824"/>
            <a:ext cx="7261546" cy="4158219"/>
          </a:xfrm>
        </p:spPr>
        <p:txBody>
          <a:bodyPr>
            <a:normAutofit/>
          </a:bodyPr>
          <a:lstStyle/>
          <a:p>
            <a:r>
              <a:rPr lang="en" altLang="zh-CN" dirty="0"/>
              <a:t>Tilting generates static torque patterns on the contact surface.</a:t>
            </a:r>
          </a:p>
          <a:p>
            <a:r>
              <a:rPr lang="en" altLang="zh-CN" dirty="0">
                <a:solidFill>
                  <a:schemeClr val="accent1"/>
                </a:solidFill>
              </a:rPr>
              <a:t>Input</a:t>
            </a:r>
            <a:r>
              <a:rPr lang="en" altLang="zh-CN" dirty="0"/>
              <a:t>: Mark displacements captured at two tilt angles (20°, 45°).</a:t>
            </a:r>
            <a:endParaRPr lang="en-US" altLang="zh-CN" dirty="0"/>
          </a:p>
          <a:p>
            <a:pPr marL="342900" indent="-342900">
              <a:buAutoNum type="arabicParenBoth"/>
            </a:pPr>
            <a:r>
              <a:rPr lang="en" altLang="zh-CN" dirty="0"/>
              <a:t>Small angle: measure displacement → reveals object </a:t>
            </a:r>
            <a:r>
              <a:rPr lang="en" altLang="zh-CN" dirty="0">
                <a:solidFill>
                  <a:schemeClr val="accent1"/>
                </a:solidFill>
              </a:rPr>
              <a:t>mass</a:t>
            </a:r>
            <a:r>
              <a:rPr lang="en" altLang="zh-CN" dirty="0"/>
              <a:t>.</a:t>
            </a:r>
          </a:p>
          <a:p>
            <a:pPr marL="342900" indent="-342900">
              <a:buAutoNum type="arabicParenBoth"/>
            </a:pPr>
            <a:r>
              <a:rPr lang="en" altLang="zh-CN" dirty="0"/>
              <a:t>Large angles: highlight torque differences → exposes </a:t>
            </a:r>
            <a:r>
              <a:rPr lang="en" altLang="zh-CN" dirty="0">
                <a:solidFill>
                  <a:schemeClr val="accent1"/>
                </a:solidFill>
              </a:rPr>
              <a:t>center of mass.</a:t>
            </a:r>
            <a:endParaRPr lang="en" altLang="zh-CN" dirty="0"/>
          </a:p>
          <a:p>
            <a:pPr marL="342900" indent="-342900">
              <a:buAutoNum type="arabicParenBoth"/>
            </a:pPr>
            <a:r>
              <a:rPr lang="en" altLang="zh-CN" dirty="0"/>
              <a:t>Stable contact provides clean, low-noise signals → robust for </a:t>
            </a:r>
            <a:r>
              <a:rPr lang="en" altLang="zh-CN" dirty="0">
                <a:solidFill>
                  <a:schemeClr val="accent1"/>
                </a:solidFill>
              </a:rPr>
              <a:t>mass and </a:t>
            </a:r>
            <a:r>
              <a:rPr lang="en" altLang="zh-CN" dirty="0" err="1">
                <a:solidFill>
                  <a:schemeClr val="accent1"/>
                </a:solidFill>
              </a:rPr>
              <a:t>CoM</a:t>
            </a:r>
            <a:r>
              <a:rPr lang="en" altLang="zh-CN" dirty="0">
                <a:solidFill>
                  <a:schemeClr val="accent1"/>
                </a:solidFill>
              </a:rPr>
              <a:t> estimation</a:t>
            </a:r>
            <a:r>
              <a:rPr lang="en" altLang="zh-CN" dirty="0"/>
              <a:t>.</a:t>
            </a:r>
          </a:p>
          <a:p>
            <a:r>
              <a:rPr lang="en" altLang="zh-CN" dirty="0">
                <a:solidFill>
                  <a:schemeClr val="accent1"/>
                </a:solidFill>
              </a:rPr>
              <a:t>Processing</a:t>
            </a:r>
            <a:r>
              <a:rPr lang="en" altLang="zh-CN" dirty="0"/>
              <a:t>: CNN + MLP network</a:t>
            </a:r>
          </a:p>
          <a:p>
            <a:r>
              <a:rPr lang="en" altLang="zh-CN" dirty="0">
                <a:solidFill>
                  <a:schemeClr val="accent1"/>
                </a:solidFill>
              </a:rPr>
              <a:t>Output</a:t>
            </a:r>
            <a:r>
              <a:rPr lang="en" altLang="zh-CN" dirty="0"/>
              <a:t>: A embedding</a:t>
            </a:r>
            <a:r>
              <a:rPr lang="zh-CN" altLang="en-US" dirty="0"/>
              <a:t> </a:t>
            </a:r>
            <a:r>
              <a:rPr lang="en" altLang="zh-CN" dirty="0"/>
              <a:t>representing information</a:t>
            </a:r>
            <a:r>
              <a:rPr lang="zh-CN" altLang="en-US" dirty="0"/>
              <a:t> </a:t>
            </a:r>
            <a:r>
              <a:rPr lang="en-US" altLang="zh-CN" dirty="0"/>
              <a:t>about</a:t>
            </a:r>
            <a:r>
              <a:rPr lang="zh-CN" altLang="en-US" dirty="0"/>
              <a:t> </a:t>
            </a:r>
            <a:r>
              <a:rPr lang="en" altLang="zh-CN" dirty="0">
                <a:solidFill>
                  <a:schemeClr val="accent1"/>
                </a:solidFill>
              </a:rPr>
              <a:t>mass, center of mass.</a:t>
            </a:r>
            <a:endParaRPr lang="en" altLang="zh-CN" dirty="0"/>
          </a:p>
          <a:p>
            <a:endParaRPr kumimoji="1" lang="zh-CN" altLang="en-US" b="1" dirty="0"/>
          </a:p>
        </p:txBody>
      </p:sp>
      <p:sp>
        <p:nvSpPr>
          <p:cNvPr id="3" name="标题 2">
            <a:extLst>
              <a:ext uri="{FF2B5EF4-FFF2-40B4-BE49-F238E27FC236}">
                <a16:creationId xmlns:a16="http://schemas.microsoft.com/office/drawing/2014/main" id="{2C8A2F66-3C0F-D6B6-C402-E599D1234335}"/>
              </a:ext>
            </a:extLst>
          </p:cNvPr>
          <p:cNvSpPr>
            <a:spLocks noGrp="1"/>
          </p:cNvSpPr>
          <p:nvPr>
            <p:ph type="title"/>
          </p:nvPr>
        </p:nvSpPr>
        <p:spPr/>
        <p:txBody>
          <a:bodyPr/>
          <a:lstStyle/>
          <a:p>
            <a:r>
              <a:rPr lang="en-US" altLang="zh-CN" dirty="0"/>
              <a:t>Stage2Part1——Tilting </a:t>
            </a:r>
            <a:r>
              <a:rPr lang="en" altLang="zh-CN" dirty="0"/>
              <a:t>Exploration</a:t>
            </a:r>
            <a:r>
              <a:rPr lang="zh-CN" altLang="en-US" dirty="0"/>
              <a:t> </a:t>
            </a:r>
            <a:r>
              <a:rPr lang="en-US" altLang="zh-CN" dirty="0"/>
              <a:t>Actions</a:t>
            </a:r>
            <a:endParaRPr kumimoji="1" lang="zh-CN" altLang="en-US" dirty="0"/>
          </a:p>
        </p:txBody>
      </p:sp>
      <p:pic>
        <p:nvPicPr>
          <p:cNvPr id="7" name="图片 6" descr="图示, 示意图&#10;&#10;AI 生成的内容可能不正确。">
            <a:extLst>
              <a:ext uri="{FF2B5EF4-FFF2-40B4-BE49-F238E27FC236}">
                <a16:creationId xmlns:a16="http://schemas.microsoft.com/office/drawing/2014/main" id="{9D0CFE30-E6CC-4FFC-D56B-B81483352953}"/>
              </a:ext>
            </a:extLst>
          </p:cNvPr>
          <p:cNvPicPr>
            <a:picLocks noChangeAspect="1"/>
          </p:cNvPicPr>
          <p:nvPr/>
        </p:nvPicPr>
        <p:blipFill>
          <a:blip r:embed="rId3"/>
          <a:stretch>
            <a:fillRect/>
          </a:stretch>
        </p:blipFill>
        <p:spPr>
          <a:xfrm>
            <a:off x="7821415" y="2152357"/>
            <a:ext cx="4035136" cy="3729154"/>
          </a:xfrm>
          <a:prstGeom prst="rect">
            <a:avLst/>
          </a:prstGeom>
        </p:spPr>
      </p:pic>
    </p:spTree>
    <p:extLst>
      <p:ext uri="{BB962C8B-B14F-4D97-AF65-F5344CB8AC3E}">
        <p14:creationId xmlns:p14="http://schemas.microsoft.com/office/powerpoint/2010/main" val="336191374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id="{0FF8C612-4CD0-FEB8-3992-5797367A1000}"/>
              </a:ext>
            </a:extLst>
          </p:cNvPr>
          <p:cNvSpPr>
            <a:spLocks noGrp="1"/>
          </p:cNvSpPr>
          <p:nvPr>
            <p:ph idx="1"/>
          </p:nvPr>
        </p:nvSpPr>
        <p:spPr>
          <a:xfrm>
            <a:off x="398312" y="2131177"/>
            <a:ext cx="9800765" cy="4291895"/>
          </a:xfrm>
        </p:spPr>
        <p:txBody>
          <a:bodyPr>
            <a:normAutofit/>
          </a:bodyPr>
          <a:lstStyle/>
          <a:p>
            <a:r>
              <a:rPr lang="en" altLang="zh-CN" sz="2000" dirty="0"/>
              <a:t>Simple dynamic process encodes rich information for complex dynamic tasks</a:t>
            </a:r>
          </a:p>
          <a:p>
            <a:r>
              <a:rPr lang="en" altLang="zh-CN" sz="2000" dirty="0">
                <a:solidFill>
                  <a:schemeClr val="accent1"/>
                </a:solidFill>
              </a:rPr>
              <a:t>Input</a:t>
            </a:r>
            <a:r>
              <a:rPr lang="en" altLang="zh-CN" sz="2000" dirty="0"/>
              <a:t>: a temporal sequence of tactile frames captured during in-hand shaking.</a:t>
            </a:r>
            <a:endParaRPr lang="en-US" altLang="zh-CN" sz="2000" dirty="0"/>
          </a:p>
          <a:p>
            <a:pPr marL="342900" indent="-342900">
              <a:buAutoNum type="arabicParenBoth"/>
            </a:pPr>
            <a:r>
              <a:rPr lang="en" altLang="zh-CN" sz="2000" dirty="0"/>
              <a:t>Temporal tactile response is highly sensitive to </a:t>
            </a:r>
            <a:r>
              <a:rPr lang="en" altLang="zh-CN" sz="2000" dirty="0">
                <a:solidFill>
                  <a:schemeClr val="accent1"/>
                </a:solidFill>
              </a:rPr>
              <a:t>friction</a:t>
            </a:r>
            <a:r>
              <a:rPr lang="en" altLang="zh-CN" sz="2000" dirty="0"/>
              <a:t> and mechanic properties</a:t>
            </a:r>
          </a:p>
          <a:p>
            <a:pPr marL="342900" indent="-342900">
              <a:buAutoNum type="arabicParenBoth"/>
            </a:pPr>
            <a:r>
              <a:rPr lang="en" altLang="zh-CN" sz="2000" dirty="0"/>
              <a:t>Vibration patterns can also encode </a:t>
            </a:r>
            <a:r>
              <a:rPr lang="en-US" altLang="zh-CN" sz="2000" dirty="0">
                <a:solidFill>
                  <a:schemeClr val="accent1"/>
                </a:solidFill>
              </a:rPr>
              <a:t>friction</a:t>
            </a:r>
            <a:r>
              <a:rPr lang="en" altLang="zh-CN" sz="2000" dirty="0">
                <a:solidFill>
                  <a:schemeClr val="accent1"/>
                </a:solidFill>
              </a:rPr>
              <a:t>-related</a:t>
            </a:r>
            <a:r>
              <a:rPr lang="en" altLang="zh-CN" sz="2000" dirty="0"/>
              <a:t> information.</a:t>
            </a:r>
          </a:p>
          <a:p>
            <a:r>
              <a:rPr lang="en" altLang="zh-CN" sz="2000" dirty="0">
                <a:solidFill>
                  <a:schemeClr val="accent1"/>
                </a:solidFill>
              </a:rPr>
              <a:t>Processing</a:t>
            </a:r>
            <a:r>
              <a:rPr lang="en" altLang="zh-CN" sz="2000" dirty="0"/>
              <a:t>: per-frame CNN → sequence of per-frame features</a:t>
            </a:r>
          </a:p>
          <a:p>
            <a:pPr marL="0" indent="0">
              <a:buNone/>
            </a:pPr>
            <a:r>
              <a:rPr lang="en" altLang="zh-CN" sz="2000" dirty="0"/>
              <a:t>→ LSTM → concatenation of LSTM hidden and cell states.</a:t>
            </a:r>
          </a:p>
          <a:p>
            <a:r>
              <a:rPr lang="en" altLang="zh-CN" sz="2000" dirty="0">
                <a:solidFill>
                  <a:schemeClr val="accent1"/>
                </a:solidFill>
              </a:rPr>
              <a:t>Output</a:t>
            </a:r>
            <a:r>
              <a:rPr lang="en" altLang="zh-CN" sz="2000" dirty="0"/>
              <a:t>: an embedding that encodes </a:t>
            </a:r>
            <a:r>
              <a:rPr lang="en" altLang="zh-CN" sz="2000" dirty="0">
                <a:solidFill>
                  <a:schemeClr val="accent1"/>
                </a:solidFill>
              </a:rPr>
              <a:t>friction and</a:t>
            </a:r>
            <a:r>
              <a:rPr lang="en" altLang="zh-CN" sz="2000" dirty="0"/>
              <a:t> </a:t>
            </a:r>
            <a:r>
              <a:rPr lang="en" altLang="zh-CN" sz="2000" dirty="0">
                <a:solidFill>
                  <a:schemeClr val="accent1"/>
                </a:solidFill>
              </a:rPr>
              <a:t>moment</a:t>
            </a:r>
            <a:r>
              <a:rPr lang="zh-CN" altLang="en-US" sz="2000" dirty="0">
                <a:solidFill>
                  <a:schemeClr val="accent1"/>
                </a:solidFill>
              </a:rPr>
              <a:t> </a:t>
            </a:r>
            <a:r>
              <a:rPr lang="en-US" altLang="zh-CN" sz="2000" dirty="0">
                <a:solidFill>
                  <a:schemeClr val="accent1"/>
                </a:solidFill>
              </a:rPr>
              <a:t>of inertia.</a:t>
            </a:r>
            <a:endParaRPr lang="en" altLang="zh-CN" sz="2000" dirty="0">
              <a:solidFill>
                <a:schemeClr val="accent1"/>
              </a:solidFill>
            </a:endParaRPr>
          </a:p>
        </p:txBody>
      </p:sp>
      <p:sp>
        <p:nvSpPr>
          <p:cNvPr id="3" name="标题 2">
            <a:extLst>
              <a:ext uri="{FF2B5EF4-FFF2-40B4-BE49-F238E27FC236}">
                <a16:creationId xmlns:a16="http://schemas.microsoft.com/office/drawing/2014/main" id="{990EA73F-934C-DD4D-20C3-C1827AD3AB1D}"/>
              </a:ext>
            </a:extLst>
          </p:cNvPr>
          <p:cNvSpPr>
            <a:spLocks noGrp="1"/>
          </p:cNvSpPr>
          <p:nvPr>
            <p:ph type="title"/>
          </p:nvPr>
        </p:nvSpPr>
        <p:spPr/>
        <p:txBody>
          <a:bodyPr/>
          <a:lstStyle/>
          <a:p>
            <a:r>
              <a:rPr kumimoji="1" lang="en-US" altLang="zh-CN" dirty="0"/>
              <a:t>Stage2Part2</a:t>
            </a:r>
            <a:r>
              <a:rPr lang="en-US" altLang="zh-CN" dirty="0"/>
              <a:t>——Shaking</a:t>
            </a:r>
            <a:r>
              <a:rPr lang="zh-CN" altLang="en-US" dirty="0"/>
              <a:t> </a:t>
            </a:r>
            <a:r>
              <a:rPr lang="en" altLang="zh-CN" dirty="0"/>
              <a:t>Exploration</a:t>
            </a:r>
            <a:r>
              <a:rPr lang="zh-CN" altLang="en-US" dirty="0"/>
              <a:t> </a:t>
            </a:r>
            <a:r>
              <a:rPr lang="en-US" altLang="zh-CN" dirty="0"/>
              <a:t>Actions</a:t>
            </a:r>
            <a:endParaRPr kumimoji="1" lang="zh-CN" altLang="en-US" dirty="0"/>
          </a:p>
        </p:txBody>
      </p:sp>
      <p:pic>
        <p:nvPicPr>
          <p:cNvPr id="5" name="图片 4" descr="图示&#10;&#10;AI 生成的内容可能不正确。">
            <a:extLst>
              <a:ext uri="{FF2B5EF4-FFF2-40B4-BE49-F238E27FC236}">
                <a16:creationId xmlns:a16="http://schemas.microsoft.com/office/drawing/2014/main" id="{548D421F-4764-4B4D-73BD-4CD388224EA4}"/>
              </a:ext>
            </a:extLst>
          </p:cNvPr>
          <p:cNvPicPr>
            <a:picLocks noChangeAspect="1"/>
          </p:cNvPicPr>
          <p:nvPr/>
        </p:nvPicPr>
        <p:blipFill>
          <a:blip r:embed="rId3"/>
          <a:stretch>
            <a:fillRect/>
          </a:stretch>
        </p:blipFill>
        <p:spPr>
          <a:xfrm>
            <a:off x="9280235" y="1732831"/>
            <a:ext cx="2513453" cy="2544293"/>
          </a:xfrm>
          <a:prstGeom prst="rect">
            <a:avLst/>
          </a:prstGeom>
        </p:spPr>
      </p:pic>
      <p:pic>
        <p:nvPicPr>
          <p:cNvPr id="8" name="图片 7">
            <a:extLst>
              <a:ext uri="{FF2B5EF4-FFF2-40B4-BE49-F238E27FC236}">
                <a16:creationId xmlns:a16="http://schemas.microsoft.com/office/drawing/2014/main" id="{DB15DB37-DF1F-402F-ADED-AE97345B85B9}"/>
              </a:ext>
            </a:extLst>
          </p:cNvPr>
          <p:cNvPicPr>
            <a:picLocks noChangeAspect="1"/>
          </p:cNvPicPr>
          <p:nvPr/>
        </p:nvPicPr>
        <p:blipFill>
          <a:blip r:embed="rId4"/>
          <a:stretch>
            <a:fillRect/>
          </a:stretch>
        </p:blipFill>
        <p:spPr>
          <a:xfrm>
            <a:off x="7722121" y="4353953"/>
            <a:ext cx="4469879" cy="2393321"/>
          </a:xfrm>
          <a:prstGeom prst="rect">
            <a:avLst/>
          </a:prstGeom>
        </p:spPr>
      </p:pic>
    </p:spTree>
    <p:extLst>
      <p:ext uri="{BB962C8B-B14F-4D97-AF65-F5344CB8AC3E}">
        <p14:creationId xmlns:p14="http://schemas.microsoft.com/office/powerpoint/2010/main" val="211114189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id="{F0D66B7C-385C-E323-2183-1E31042E82FC}"/>
              </a:ext>
            </a:extLst>
          </p:cNvPr>
          <p:cNvSpPr>
            <a:spLocks noGrp="1"/>
          </p:cNvSpPr>
          <p:nvPr>
            <p:ph idx="1"/>
          </p:nvPr>
        </p:nvSpPr>
        <p:spPr/>
        <p:txBody>
          <a:bodyPr/>
          <a:lstStyle/>
          <a:p>
            <a:r>
              <a:rPr lang="en" altLang="zh-CN" dirty="0">
                <a:solidFill>
                  <a:schemeClr val="accent1"/>
                </a:solidFill>
              </a:rPr>
              <a:t>Inputs to fusion</a:t>
            </a:r>
            <a:r>
              <a:rPr lang="en" altLang="zh-CN" dirty="0"/>
              <a:t>: tilting embedding + shaking embedding.</a:t>
            </a:r>
          </a:p>
          <a:p>
            <a:r>
              <a:rPr lang="en" altLang="zh-CN" dirty="0">
                <a:solidFill>
                  <a:schemeClr val="accent1"/>
                </a:solidFill>
              </a:rPr>
              <a:t>Fusion network</a:t>
            </a:r>
            <a:r>
              <a:rPr lang="en" altLang="zh-CN" dirty="0"/>
              <a:t>: concatenates and processes these embeddings to produce a </a:t>
            </a:r>
            <a:r>
              <a:rPr lang="en" altLang="zh-CN" dirty="0">
                <a:solidFill>
                  <a:schemeClr val="accent1"/>
                </a:solidFill>
              </a:rPr>
              <a:t>joint physical embedding</a:t>
            </a:r>
            <a:r>
              <a:rPr lang="en" altLang="zh-CN" dirty="0"/>
              <a:t>.</a:t>
            </a:r>
          </a:p>
          <a:p>
            <a:r>
              <a:rPr lang="en" altLang="zh-CN" dirty="0">
                <a:solidFill>
                  <a:schemeClr val="accent1"/>
                </a:solidFill>
              </a:rPr>
              <a:t>Inputs to prediction:</a:t>
            </a:r>
            <a:r>
              <a:rPr lang="zh-CN" altLang="en-US" dirty="0">
                <a:solidFill>
                  <a:schemeClr val="accent1"/>
                </a:solidFill>
              </a:rPr>
              <a:t> </a:t>
            </a:r>
            <a:r>
              <a:rPr lang="en-US" altLang="zh-CN" dirty="0">
                <a:solidFill>
                  <a:schemeClr val="accent1"/>
                </a:solidFill>
              </a:rPr>
              <a:t>joint</a:t>
            </a:r>
            <a:r>
              <a:rPr lang="zh-CN" altLang="en-US" dirty="0">
                <a:solidFill>
                  <a:schemeClr val="accent1"/>
                </a:solidFill>
              </a:rPr>
              <a:t> </a:t>
            </a:r>
            <a:r>
              <a:rPr lang="en-US" altLang="zh-CN" dirty="0">
                <a:solidFill>
                  <a:schemeClr val="accent1"/>
                </a:solidFill>
              </a:rPr>
              <a:t>physical</a:t>
            </a:r>
            <a:r>
              <a:rPr lang="zh-CN" altLang="en-US" dirty="0">
                <a:solidFill>
                  <a:schemeClr val="accent1"/>
                </a:solidFill>
              </a:rPr>
              <a:t> </a:t>
            </a:r>
            <a:r>
              <a:rPr lang="en-US" altLang="zh-CN" dirty="0">
                <a:solidFill>
                  <a:schemeClr val="accent1"/>
                </a:solidFill>
              </a:rPr>
              <a:t>embedding </a:t>
            </a:r>
            <a:r>
              <a:rPr lang="en-US" altLang="zh-CN" dirty="0"/>
              <a:t>+ control parameters.</a:t>
            </a:r>
            <a:endParaRPr lang="en" altLang="zh-CN" dirty="0"/>
          </a:p>
          <a:p>
            <a:r>
              <a:rPr lang="en" altLang="zh-CN" dirty="0"/>
              <a:t>Output: predicted final swing angle.</a:t>
            </a:r>
          </a:p>
          <a:p>
            <a:endParaRPr kumimoji="1" lang="zh-CN" altLang="en-US" dirty="0"/>
          </a:p>
        </p:txBody>
      </p:sp>
      <p:sp>
        <p:nvSpPr>
          <p:cNvPr id="3" name="标题 2">
            <a:extLst>
              <a:ext uri="{FF2B5EF4-FFF2-40B4-BE49-F238E27FC236}">
                <a16:creationId xmlns:a16="http://schemas.microsoft.com/office/drawing/2014/main" id="{35184402-753E-983B-0A08-34E798718A52}"/>
              </a:ext>
            </a:extLst>
          </p:cNvPr>
          <p:cNvSpPr>
            <a:spLocks noGrp="1"/>
          </p:cNvSpPr>
          <p:nvPr>
            <p:ph type="title"/>
          </p:nvPr>
        </p:nvSpPr>
        <p:spPr/>
        <p:txBody>
          <a:bodyPr/>
          <a:lstStyle/>
          <a:p>
            <a:r>
              <a:rPr kumimoji="1" lang="en-US" altLang="zh-CN" dirty="0"/>
              <a:t>Stage3——Fusion</a:t>
            </a:r>
            <a:r>
              <a:rPr kumimoji="1" lang="zh-CN" altLang="en-US" dirty="0"/>
              <a:t> </a:t>
            </a:r>
            <a:r>
              <a:rPr kumimoji="1" lang="en-US" altLang="zh-CN" dirty="0"/>
              <a:t>and</a:t>
            </a:r>
            <a:r>
              <a:rPr kumimoji="1" lang="zh-CN" altLang="en-US" dirty="0"/>
              <a:t> </a:t>
            </a:r>
            <a:r>
              <a:rPr kumimoji="1" lang="en-US" altLang="zh-CN" dirty="0"/>
              <a:t>Prediction</a:t>
            </a:r>
            <a:endParaRPr kumimoji="1" lang="zh-CN" altLang="en-US" dirty="0"/>
          </a:p>
        </p:txBody>
      </p:sp>
      <p:pic>
        <p:nvPicPr>
          <p:cNvPr id="5" name="图片 4" descr="图片包含 前, 自行车, 摩托车, 小&#10;&#10;AI 生成的内容可能不正确。">
            <a:extLst>
              <a:ext uri="{FF2B5EF4-FFF2-40B4-BE49-F238E27FC236}">
                <a16:creationId xmlns:a16="http://schemas.microsoft.com/office/drawing/2014/main" id="{CF18EEE5-6344-41A2-5B8E-EC9EB404FF55}"/>
              </a:ext>
            </a:extLst>
          </p:cNvPr>
          <p:cNvPicPr>
            <a:picLocks noChangeAspect="1"/>
          </p:cNvPicPr>
          <p:nvPr/>
        </p:nvPicPr>
        <p:blipFill>
          <a:blip r:embed="rId3"/>
          <a:stretch>
            <a:fillRect/>
          </a:stretch>
        </p:blipFill>
        <p:spPr>
          <a:xfrm>
            <a:off x="4107743" y="3866311"/>
            <a:ext cx="4370212" cy="2431546"/>
          </a:xfrm>
          <a:prstGeom prst="rect">
            <a:avLst/>
          </a:prstGeom>
        </p:spPr>
      </p:pic>
    </p:spTree>
    <p:extLst>
      <p:ext uri="{BB962C8B-B14F-4D97-AF65-F5344CB8AC3E}">
        <p14:creationId xmlns:p14="http://schemas.microsoft.com/office/powerpoint/2010/main" val="36904113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id="{15DF0937-1D30-2FBC-97D5-F0FF0DC79BD4}"/>
              </a:ext>
            </a:extLst>
          </p:cNvPr>
          <p:cNvSpPr>
            <a:spLocks noGrp="1"/>
          </p:cNvSpPr>
          <p:nvPr>
            <p:ph idx="1"/>
          </p:nvPr>
        </p:nvSpPr>
        <p:spPr>
          <a:xfrm>
            <a:off x="349771" y="2474141"/>
            <a:ext cx="11029615" cy="3678303"/>
          </a:xfrm>
        </p:spPr>
        <p:txBody>
          <a:bodyPr>
            <a:normAutofit/>
          </a:bodyPr>
          <a:lstStyle/>
          <a:p>
            <a:r>
              <a:rPr lang="en" altLang="zh-CN" dirty="0"/>
              <a:t>Dataset: </a:t>
            </a:r>
            <a:r>
              <a:rPr lang="en" altLang="zh-CN" dirty="0">
                <a:solidFill>
                  <a:schemeClr val="accent1"/>
                </a:solidFill>
              </a:rPr>
              <a:t>33 modular objects</a:t>
            </a:r>
            <a:r>
              <a:rPr lang="en" altLang="zh-CN" dirty="0"/>
              <a:t> built from interchangeable handles, racks, and weights.</a:t>
            </a:r>
          </a:p>
          <a:p>
            <a:r>
              <a:rPr lang="en" altLang="zh-CN" dirty="0"/>
              <a:t>Data Collection</a:t>
            </a:r>
            <a:endParaRPr lang="en-US" altLang="zh-CN" dirty="0"/>
          </a:p>
          <a:p>
            <a:pPr marL="342900" indent="-342900">
              <a:buAutoNum type="arabicParenBoth"/>
            </a:pPr>
            <a:r>
              <a:rPr lang="en" altLang="zh-CN" dirty="0"/>
              <a:t>Each object: 50 swing-up trials → ~1650 total samples.</a:t>
            </a:r>
          </a:p>
          <a:p>
            <a:pPr marL="342900" indent="-342900">
              <a:buAutoNum type="arabicParenBoth"/>
            </a:pPr>
            <a:r>
              <a:rPr lang="en" altLang="zh-CN" dirty="0"/>
              <a:t>Automatic reset system allows continuous autonomous trials.</a:t>
            </a:r>
          </a:p>
          <a:p>
            <a:r>
              <a:rPr lang="en" altLang="zh-CN" dirty="0"/>
              <a:t>Training</a:t>
            </a:r>
            <a:endParaRPr lang="en-US" altLang="zh-CN" dirty="0"/>
          </a:p>
          <a:p>
            <a:pPr marL="342900" indent="-342900">
              <a:buAutoNum type="arabicParenBoth"/>
            </a:pPr>
            <a:r>
              <a:rPr lang="en" altLang="zh-CN" dirty="0">
                <a:solidFill>
                  <a:schemeClr val="accent1"/>
                </a:solidFill>
              </a:rPr>
              <a:t>End-to-end self-supervised learning </a:t>
            </a:r>
            <a:r>
              <a:rPr lang="en" altLang="zh-CN" dirty="0"/>
              <a:t>using final angle as supervision.</a:t>
            </a:r>
          </a:p>
          <a:p>
            <a:pPr marL="342900" indent="-342900">
              <a:buAutoNum type="arabicParenBoth"/>
            </a:pPr>
            <a:r>
              <a:rPr lang="en" altLang="zh-CN" dirty="0">
                <a:solidFill>
                  <a:schemeClr val="accent1"/>
                </a:solidFill>
              </a:rPr>
              <a:t>Loss</a:t>
            </a:r>
            <a:r>
              <a:rPr lang="en" altLang="zh-CN" dirty="0"/>
              <a:t>: prediction error between predicted and measured swing-up angles.</a:t>
            </a:r>
          </a:p>
          <a:p>
            <a:r>
              <a:rPr lang="en" altLang="zh-CN" dirty="0"/>
              <a:t>Inference: sample control parameters, choose the one with predicted angle closest to goal.</a:t>
            </a:r>
          </a:p>
          <a:p>
            <a:endParaRPr kumimoji="1" lang="zh-CN" altLang="en-US" dirty="0"/>
          </a:p>
        </p:txBody>
      </p:sp>
      <p:sp>
        <p:nvSpPr>
          <p:cNvPr id="3" name="标题 2">
            <a:extLst>
              <a:ext uri="{FF2B5EF4-FFF2-40B4-BE49-F238E27FC236}">
                <a16:creationId xmlns:a16="http://schemas.microsoft.com/office/drawing/2014/main" id="{CD0B6246-0656-F80F-6D07-FDAB68F5DD06}"/>
              </a:ext>
            </a:extLst>
          </p:cNvPr>
          <p:cNvSpPr>
            <a:spLocks noGrp="1"/>
          </p:cNvSpPr>
          <p:nvPr>
            <p:ph type="title"/>
          </p:nvPr>
        </p:nvSpPr>
        <p:spPr/>
        <p:txBody>
          <a:bodyPr/>
          <a:lstStyle/>
          <a:p>
            <a:r>
              <a:rPr kumimoji="1" lang="en-US" altLang="zh-CN" dirty="0"/>
              <a:t>Data, Training</a:t>
            </a:r>
            <a:r>
              <a:rPr kumimoji="1" lang="zh-CN" altLang="en-US" dirty="0"/>
              <a:t> </a:t>
            </a:r>
            <a:r>
              <a:rPr kumimoji="1" lang="en-US" altLang="zh-CN" dirty="0"/>
              <a:t>and</a:t>
            </a:r>
            <a:r>
              <a:rPr kumimoji="1" lang="zh-CN" altLang="en-US" dirty="0"/>
              <a:t> </a:t>
            </a:r>
            <a:r>
              <a:rPr kumimoji="1" lang="en-US" altLang="zh-CN" dirty="0"/>
              <a:t>Inference</a:t>
            </a:r>
            <a:endParaRPr kumimoji="1" lang="zh-CN" altLang="en-US" dirty="0"/>
          </a:p>
        </p:txBody>
      </p:sp>
      <p:pic>
        <p:nvPicPr>
          <p:cNvPr id="4" name="图片 3">
            <a:extLst>
              <a:ext uri="{FF2B5EF4-FFF2-40B4-BE49-F238E27FC236}">
                <a16:creationId xmlns:a16="http://schemas.microsoft.com/office/drawing/2014/main" id="{B9546A92-BE8A-251F-1AFF-12D9C40D4A80}"/>
              </a:ext>
            </a:extLst>
          </p:cNvPr>
          <p:cNvPicPr>
            <a:picLocks noChangeAspect="1"/>
          </p:cNvPicPr>
          <p:nvPr/>
        </p:nvPicPr>
        <p:blipFill>
          <a:blip r:embed="rId3"/>
          <a:stretch>
            <a:fillRect/>
          </a:stretch>
        </p:blipFill>
        <p:spPr>
          <a:xfrm>
            <a:off x="7538156" y="2918177"/>
            <a:ext cx="4653844" cy="2315459"/>
          </a:xfrm>
          <a:prstGeom prst="rect">
            <a:avLst/>
          </a:prstGeom>
        </p:spPr>
      </p:pic>
    </p:spTree>
    <p:extLst>
      <p:ext uri="{BB962C8B-B14F-4D97-AF65-F5344CB8AC3E}">
        <p14:creationId xmlns:p14="http://schemas.microsoft.com/office/powerpoint/2010/main" val="42129060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208758-35AD-72B1-3841-D11D4FDA9861}"/>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FED9E629-F2B8-4CCA-7A15-D7924AC6BC9C}"/>
              </a:ext>
            </a:extLst>
          </p:cNvPr>
          <p:cNvSpPr>
            <a:spLocks noGrp="1"/>
          </p:cNvSpPr>
          <p:nvPr>
            <p:ph type="ctrTitle"/>
          </p:nvPr>
        </p:nvSpPr>
        <p:spPr/>
        <p:txBody>
          <a:bodyPr/>
          <a:lstStyle/>
          <a:p>
            <a:r>
              <a:rPr kumimoji="1" lang="en-US" altLang="zh-CN" dirty="0"/>
              <a:t>Results</a:t>
            </a:r>
            <a:endParaRPr kumimoji="1" lang="zh-CN" altLang="en-US" dirty="0"/>
          </a:p>
        </p:txBody>
      </p:sp>
      <p:sp>
        <p:nvSpPr>
          <p:cNvPr id="3" name="副标题 2">
            <a:extLst>
              <a:ext uri="{FF2B5EF4-FFF2-40B4-BE49-F238E27FC236}">
                <a16:creationId xmlns:a16="http://schemas.microsoft.com/office/drawing/2014/main" id="{9749175D-7FF4-C6E0-3257-AB5D43309F32}"/>
              </a:ext>
            </a:extLst>
          </p:cNvPr>
          <p:cNvSpPr>
            <a:spLocks noGrp="1"/>
          </p:cNvSpPr>
          <p:nvPr>
            <p:ph type="subTitle" idx="1"/>
          </p:nvPr>
        </p:nvSpPr>
        <p:spPr/>
        <p:txBody>
          <a:bodyPr/>
          <a:lstStyle/>
          <a:p>
            <a:r>
              <a:rPr kumimoji="1" lang="en-US" altLang="zh-CN" dirty="0"/>
              <a:t>Part3</a:t>
            </a:r>
            <a:endParaRPr kumimoji="1" lang="zh-CN" altLang="en-US" dirty="0"/>
          </a:p>
        </p:txBody>
      </p:sp>
    </p:spTree>
    <p:extLst>
      <p:ext uri="{BB962C8B-B14F-4D97-AF65-F5344CB8AC3E}">
        <p14:creationId xmlns:p14="http://schemas.microsoft.com/office/powerpoint/2010/main" val="420030975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id="{38388413-19A4-F572-1BD9-9B9A76ED1EFA}"/>
              </a:ext>
            </a:extLst>
          </p:cNvPr>
          <p:cNvSpPr>
            <a:spLocks noGrp="1"/>
          </p:cNvSpPr>
          <p:nvPr>
            <p:ph idx="1"/>
          </p:nvPr>
        </p:nvSpPr>
        <p:spPr>
          <a:xfrm>
            <a:off x="581194" y="1917290"/>
            <a:ext cx="11029615" cy="3941511"/>
          </a:xfrm>
        </p:spPr>
        <p:txBody>
          <a:bodyPr>
            <a:normAutofit/>
          </a:bodyPr>
          <a:lstStyle/>
          <a:p>
            <a:r>
              <a:rPr kumimoji="1" lang="en" altLang="zh-CN" sz="2400" dirty="0">
                <a:solidFill>
                  <a:schemeClr val="accent2"/>
                </a:solidFill>
              </a:rPr>
              <a:t>Exploration is Essential</a:t>
            </a:r>
            <a:r>
              <a:rPr kumimoji="1" lang="en" altLang="zh-CN" sz="2400" dirty="0"/>
              <a:t>:  </a:t>
            </a:r>
            <a:r>
              <a:rPr kumimoji="1" lang="en" altLang="zh-CN" sz="2400" dirty="0" err="1"/>
              <a:t>Swingbot</a:t>
            </a:r>
            <a:r>
              <a:rPr kumimoji="1" lang="en" altLang="zh-CN" sz="2400" dirty="0"/>
              <a:t> reduces error by &gt;50% vs. the no-exploration</a:t>
            </a:r>
            <a:r>
              <a:rPr kumimoji="1" lang="zh-CN" altLang="en-US" sz="2400" dirty="0"/>
              <a:t> </a:t>
            </a:r>
            <a:r>
              <a:rPr kumimoji="1" lang="en" altLang="zh-CN" sz="2400" dirty="0"/>
              <a:t>baseline </a:t>
            </a:r>
            <a:r>
              <a:rPr kumimoji="1" lang="zh-CN" altLang="en-US" sz="2400" dirty="0"/>
              <a:t> </a:t>
            </a:r>
            <a:r>
              <a:rPr kumimoji="1" lang="en" altLang="zh-CN" sz="2400" dirty="0"/>
              <a:t>(None)</a:t>
            </a:r>
            <a:r>
              <a:rPr kumimoji="1" lang="zh-CN" altLang="en-US" sz="2400" dirty="0"/>
              <a:t> </a:t>
            </a:r>
            <a:r>
              <a:rPr kumimoji="1" lang="en" altLang="zh-CN" sz="2400" dirty="0"/>
              <a:t>on unseen objects.</a:t>
            </a:r>
          </a:p>
          <a:p>
            <a:r>
              <a:rPr kumimoji="1" lang="en" altLang="zh-CN" sz="2400" dirty="0">
                <a:solidFill>
                  <a:schemeClr val="accent2"/>
                </a:solidFill>
              </a:rPr>
              <a:t>Fusion is Optimal</a:t>
            </a:r>
            <a:r>
              <a:rPr kumimoji="1" lang="en" altLang="zh-CN" sz="2400" dirty="0"/>
              <a:t>: Combining tilt and shake embeddings outperforms either alone, proving they provide complementary physical information.</a:t>
            </a:r>
          </a:p>
          <a:p>
            <a:r>
              <a:rPr kumimoji="1" lang="en" altLang="zh-CN" sz="2400" dirty="0">
                <a:solidFill>
                  <a:schemeClr val="accent2"/>
                </a:solidFill>
              </a:rPr>
              <a:t>Learned &gt; Given</a:t>
            </a:r>
            <a:r>
              <a:rPr kumimoji="1" lang="en" altLang="zh-CN" sz="2400" dirty="0"/>
              <a:t>:</a:t>
            </a:r>
            <a:r>
              <a:rPr kumimoji="1" lang="zh-CN" altLang="en-US" sz="2400" dirty="0"/>
              <a:t> </a:t>
            </a:r>
            <a:r>
              <a:rPr kumimoji="1" lang="en" altLang="zh-CN" sz="2400" dirty="0"/>
              <a:t>Surprisingly, our learned embedding even outperforms using the true physical properties (PP), as it captures the real-world system dynamics.</a:t>
            </a:r>
            <a:endParaRPr kumimoji="1" lang="zh-CN" altLang="en-US" sz="2400" dirty="0"/>
          </a:p>
        </p:txBody>
      </p:sp>
      <p:sp>
        <p:nvSpPr>
          <p:cNvPr id="3" name="标题 2">
            <a:extLst>
              <a:ext uri="{FF2B5EF4-FFF2-40B4-BE49-F238E27FC236}">
                <a16:creationId xmlns:a16="http://schemas.microsoft.com/office/drawing/2014/main" id="{D5521481-79FC-CA7B-C0D6-CCE3E33E6418}"/>
              </a:ext>
            </a:extLst>
          </p:cNvPr>
          <p:cNvSpPr>
            <a:spLocks noGrp="1"/>
          </p:cNvSpPr>
          <p:nvPr>
            <p:ph type="title"/>
          </p:nvPr>
        </p:nvSpPr>
        <p:spPr/>
        <p:txBody>
          <a:bodyPr/>
          <a:lstStyle/>
          <a:p>
            <a:r>
              <a:rPr kumimoji="1" lang="en" altLang="zh-CN" dirty="0"/>
              <a:t>Significant performance improvement</a:t>
            </a:r>
            <a:endParaRPr kumimoji="1" lang="zh-CN" altLang="en-US" dirty="0"/>
          </a:p>
        </p:txBody>
      </p:sp>
      <p:pic>
        <p:nvPicPr>
          <p:cNvPr id="4" name="图片 3">
            <a:extLst>
              <a:ext uri="{FF2B5EF4-FFF2-40B4-BE49-F238E27FC236}">
                <a16:creationId xmlns:a16="http://schemas.microsoft.com/office/drawing/2014/main" id="{40FE4D60-F054-D7A7-8BCB-E8A62DFF3549}"/>
              </a:ext>
            </a:extLst>
          </p:cNvPr>
          <p:cNvPicPr>
            <a:picLocks noChangeAspect="1"/>
          </p:cNvPicPr>
          <p:nvPr/>
        </p:nvPicPr>
        <p:blipFill>
          <a:blip r:embed="rId2"/>
          <a:stretch>
            <a:fillRect/>
          </a:stretch>
        </p:blipFill>
        <p:spPr>
          <a:xfrm>
            <a:off x="1353206" y="4723882"/>
            <a:ext cx="9485588" cy="1699190"/>
          </a:xfrm>
          <a:prstGeom prst="rect">
            <a:avLst/>
          </a:prstGeom>
        </p:spPr>
      </p:pic>
    </p:spTree>
    <p:extLst>
      <p:ext uri="{BB962C8B-B14F-4D97-AF65-F5344CB8AC3E}">
        <p14:creationId xmlns:p14="http://schemas.microsoft.com/office/powerpoint/2010/main" val="283177769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id="{30D67C72-FB0B-2F11-B21E-883996CD75B3}"/>
              </a:ext>
            </a:extLst>
          </p:cNvPr>
          <p:cNvSpPr>
            <a:spLocks noGrp="1"/>
          </p:cNvSpPr>
          <p:nvPr>
            <p:ph idx="1"/>
          </p:nvPr>
        </p:nvSpPr>
        <p:spPr>
          <a:xfrm>
            <a:off x="491610" y="1642331"/>
            <a:ext cx="11029615" cy="4677502"/>
          </a:xfrm>
        </p:spPr>
        <p:txBody>
          <a:bodyPr>
            <a:normAutofit/>
          </a:bodyPr>
          <a:lstStyle/>
          <a:p>
            <a:r>
              <a:rPr lang="en" altLang="zh-CN" sz="2400" dirty="0">
                <a:solidFill>
                  <a:schemeClr val="accent2"/>
                </a:solidFill>
              </a:rPr>
              <a:t>Specialization of Actions:</a:t>
            </a:r>
          </a:p>
          <a:p>
            <a:pPr lvl="1"/>
            <a:r>
              <a:rPr lang="en" altLang="zh-CN" sz="2400" dirty="0"/>
              <a:t>Tilting is superior for estimating Mass &amp; Center of Mass.</a:t>
            </a:r>
          </a:p>
          <a:p>
            <a:pPr lvl="1"/>
            <a:r>
              <a:rPr lang="en" altLang="zh-CN" sz="2400" dirty="0"/>
              <a:t>Shaking is highly effective for identifying Friction.</a:t>
            </a:r>
          </a:p>
          <a:p>
            <a:pPr lvl="1"/>
            <a:r>
              <a:rPr lang="en" altLang="zh-CN" sz="2400" dirty="0"/>
              <a:t>F</a:t>
            </a:r>
            <a:r>
              <a:rPr lang="en-US" altLang="zh-CN" sz="2400" dirty="0" err="1"/>
              <a:t>usion</a:t>
            </a:r>
            <a:r>
              <a:rPr lang="zh-CN" altLang="en-US" sz="2400" dirty="0"/>
              <a:t> </a:t>
            </a:r>
            <a:r>
              <a:rPr lang="en" altLang="zh-CN" sz="2400" dirty="0"/>
              <a:t>provides the most robust and well-rounded estimation across all properties, especially on unseen objects.</a:t>
            </a:r>
            <a:endParaRPr lang="en" altLang="zh-CN" sz="2400" b="1" dirty="0"/>
          </a:p>
          <a:p>
            <a:r>
              <a:rPr lang="en" altLang="zh-CN" sz="2400" dirty="0">
                <a:solidFill>
                  <a:schemeClr val="accent2"/>
                </a:solidFill>
              </a:rPr>
              <a:t>Self-Taught Physical Knowledge: </a:t>
            </a:r>
            <a:r>
              <a:rPr lang="en" altLang="zh-CN" sz="2400" dirty="0"/>
              <a:t>The model was never trained on true physical values. It learned these concepts unsupervised, purely from predicting swing angles.</a:t>
            </a:r>
          </a:p>
          <a:p>
            <a:pPr lvl="1"/>
            <a:endParaRPr lang="en" altLang="zh-CN" sz="2400" dirty="0"/>
          </a:p>
          <a:p>
            <a:pPr lvl="1"/>
            <a:endParaRPr lang="en-US" altLang="zh-CN" sz="2400" dirty="0"/>
          </a:p>
          <a:p>
            <a:endParaRPr kumimoji="1" lang="zh-CN" altLang="en-US" sz="2400" dirty="0"/>
          </a:p>
        </p:txBody>
      </p:sp>
      <p:sp>
        <p:nvSpPr>
          <p:cNvPr id="3" name="标题 2">
            <a:extLst>
              <a:ext uri="{FF2B5EF4-FFF2-40B4-BE49-F238E27FC236}">
                <a16:creationId xmlns:a16="http://schemas.microsoft.com/office/drawing/2014/main" id="{0F040F14-9ED0-0C51-DADD-F9A083AE81B9}"/>
              </a:ext>
            </a:extLst>
          </p:cNvPr>
          <p:cNvSpPr>
            <a:spLocks noGrp="1"/>
          </p:cNvSpPr>
          <p:nvPr>
            <p:ph type="title"/>
          </p:nvPr>
        </p:nvSpPr>
        <p:spPr/>
        <p:txBody>
          <a:bodyPr/>
          <a:lstStyle/>
          <a:p>
            <a:r>
              <a:rPr kumimoji="1" lang="en-US" altLang="zh-CN" dirty="0"/>
              <a:t>Physical</a:t>
            </a:r>
            <a:r>
              <a:rPr kumimoji="1" lang="zh-CN" altLang="en-US" dirty="0"/>
              <a:t> </a:t>
            </a:r>
            <a:r>
              <a:rPr kumimoji="1" lang="en-US" altLang="zh-CN" dirty="0"/>
              <a:t>Features</a:t>
            </a:r>
            <a:r>
              <a:rPr kumimoji="1" lang="zh-CN" altLang="en-US" dirty="0"/>
              <a:t> </a:t>
            </a:r>
            <a:r>
              <a:rPr kumimoji="1" lang="en-US" altLang="zh-CN" dirty="0" err="1"/>
              <a:t>Distanglement</a:t>
            </a:r>
            <a:endParaRPr kumimoji="1" lang="zh-CN" altLang="en-US" dirty="0"/>
          </a:p>
        </p:txBody>
      </p:sp>
      <p:pic>
        <p:nvPicPr>
          <p:cNvPr id="4" name="图片 3">
            <a:extLst>
              <a:ext uri="{FF2B5EF4-FFF2-40B4-BE49-F238E27FC236}">
                <a16:creationId xmlns:a16="http://schemas.microsoft.com/office/drawing/2014/main" id="{7E4D9430-19D2-5B12-78AA-D8DA5ED52FA2}"/>
              </a:ext>
            </a:extLst>
          </p:cNvPr>
          <p:cNvPicPr>
            <a:picLocks noChangeAspect="1"/>
          </p:cNvPicPr>
          <p:nvPr/>
        </p:nvPicPr>
        <p:blipFill>
          <a:blip r:embed="rId3"/>
          <a:stretch>
            <a:fillRect/>
          </a:stretch>
        </p:blipFill>
        <p:spPr>
          <a:xfrm>
            <a:off x="1312264" y="4919088"/>
            <a:ext cx="9388309" cy="1799426"/>
          </a:xfrm>
          <a:prstGeom prst="rect">
            <a:avLst/>
          </a:prstGeom>
        </p:spPr>
      </p:pic>
    </p:spTree>
    <p:extLst>
      <p:ext uri="{BB962C8B-B14F-4D97-AF65-F5344CB8AC3E}">
        <p14:creationId xmlns:p14="http://schemas.microsoft.com/office/powerpoint/2010/main" val="117514736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id="{C7466C91-4BF2-4610-F718-D87F4A688672}"/>
              </a:ext>
            </a:extLst>
          </p:cNvPr>
          <p:cNvSpPr>
            <a:spLocks noGrp="1"/>
          </p:cNvSpPr>
          <p:nvPr>
            <p:ph idx="1"/>
          </p:nvPr>
        </p:nvSpPr>
        <p:spPr>
          <a:xfrm>
            <a:off x="581192" y="1800578"/>
            <a:ext cx="11029615" cy="4882444"/>
          </a:xfrm>
        </p:spPr>
        <p:txBody>
          <a:bodyPr>
            <a:normAutofit lnSpcReduction="10000"/>
          </a:bodyPr>
          <a:lstStyle/>
          <a:p>
            <a:r>
              <a:rPr kumimoji="1" lang="en" altLang="zh-CN" dirty="0"/>
              <a:t> Objects with similar dynamics cluster together in embedding space (verified by PCA).</a:t>
            </a:r>
          </a:p>
          <a:p>
            <a:r>
              <a:rPr kumimoji="1" lang="en" altLang="zh-CN" dirty="0"/>
              <a:t> Enables policy transfer across objects with similar physics.</a:t>
            </a:r>
            <a:endParaRPr lang="en" altLang="zh-CN" dirty="0"/>
          </a:p>
          <a:p>
            <a:r>
              <a:rPr lang="en" altLang="zh-CN" dirty="0"/>
              <a:t>The pattern in (a) mirrors the physical behavior in (b).</a:t>
            </a:r>
          </a:p>
          <a:p>
            <a:endParaRPr lang="en" altLang="zh-CN" dirty="0"/>
          </a:p>
          <a:p>
            <a:endParaRPr lang="en" altLang="zh-CN" dirty="0"/>
          </a:p>
          <a:p>
            <a:endParaRPr lang="en" altLang="zh-CN" dirty="0"/>
          </a:p>
          <a:p>
            <a:endParaRPr lang="en" altLang="zh-CN" dirty="0"/>
          </a:p>
          <a:p>
            <a:endParaRPr lang="en" altLang="zh-CN" dirty="0"/>
          </a:p>
          <a:p>
            <a:endParaRPr lang="en" altLang="zh-CN" dirty="0"/>
          </a:p>
          <a:p>
            <a:endParaRPr lang="en" altLang="zh-CN" dirty="0"/>
          </a:p>
          <a:p>
            <a:endParaRPr lang="en" altLang="zh-CN" dirty="0"/>
          </a:p>
          <a:p>
            <a:pPr marL="0" indent="0">
              <a:buNone/>
            </a:pPr>
            <a:r>
              <a:rPr kumimoji="1" lang="en" altLang="zh-CN" dirty="0"/>
              <a:t>   Figure(a): </a:t>
            </a:r>
            <a:r>
              <a:rPr lang="en" altLang="zh-CN" dirty="0"/>
              <a:t>Embedding Space (PCA Visualization)   Figure(b): Data Distribution(Control Parameter - Final Angle)</a:t>
            </a:r>
          </a:p>
          <a:p>
            <a:pPr marL="0" indent="0">
              <a:buNone/>
            </a:pPr>
            <a:endParaRPr lang="en" altLang="zh-CN" dirty="0"/>
          </a:p>
          <a:p>
            <a:endParaRPr lang="en" altLang="zh-CN" dirty="0"/>
          </a:p>
          <a:p>
            <a:endParaRPr kumimoji="1" lang="en" altLang="zh-CN" dirty="0"/>
          </a:p>
          <a:p>
            <a:endParaRPr kumimoji="1" lang="zh-CN" altLang="en-US" dirty="0"/>
          </a:p>
        </p:txBody>
      </p:sp>
      <p:sp>
        <p:nvSpPr>
          <p:cNvPr id="3" name="标题 2">
            <a:extLst>
              <a:ext uri="{FF2B5EF4-FFF2-40B4-BE49-F238E27FC236}">
                <a16:creationId xmlns:a16="http://schemas.microsoft.com/office/drawing/2014/main" id="{2255382C-FA9E-296B-C5A7-497AD6C8960A}"/>
              </a:ext>
            </a:extLst>
          </p:cNvPr>
          <p:cNvSpPr>
            <a:spLocks noGrp="1"/>
          </p:cNvSpPr>
          <p:nvPr>
            <p:ph type="title"/>
          </p:nvPr>
        </p:nvSpPr>
        <p:spPr/>
        <p:txBody>
          <a:bodyPr/>
          <a:lstStyle/>
          <a:p>
            <a:r>
              <a:rPr kumimoji="1" lang="en" altLang="zh-CN" dirty="0"/>
              <a:t>Task-Oriented Embedding</a:t>
            </a:r>
            <a:endParaRPr kumimoji="1" lang="zh-CN" altLang="en-US" dirty="0"/>
          </a:p>
        </p:txBody>
      </p:sp>
      <p:pic>
        <p:nvPicPr>
          <p:cNvPr id="4" name="图片 3">
            <a:extLst>
              <a:ext uri="{FF2B5EF4-FFF2-40B4-BE49-F238E27FC236}">
                <a16:creationId xmlns:a16="http://schemas.microsoft.com/office/drawing/2014/main" id="{5FAC10FD-9B7C-C18F-6FEE-F826E2B25216}"/>
              </a:ext>
            </a:extLst>
          </p:cNvPr>
          <p:cNvPicPr>
            <a:picLocks noChangeAspect="1"/>
          </p:cNvPicPr>
          <p:nvPr/>
        </p:nvPicPr>
        <p:blipFill>
          <a:blip r:embed="rId3"/>
          <a:stretch>
            <a:fillRect/>
          </a:stretch>
        </p:blipFill>
        <p:spPr>
          <a:xfrm>
            <a:off x="2257039" y="2917897"/>
            <a:ext cx="7084517" cy="3049032"/>
          </a:xfrm>
          <a:prstGeom prst="rect">
            <a:avLst/>
          </a:prstGeom>
        </p:spPr>
      </p:pic>
    </p:spTree>
    <p:extLst>
      <p:ext uri="{BB962C8B-B14F-4D97-AF65-F5344CB8AC3E}">
        <p14:creationId xmlns:p14="http://schemas.microsoft.com/office/powerpoint/2010/main" val="386748296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id="{A5DADD98-7C83-3427-566E-9230CA644A74}"/>
              </a:ext>
            </a:extLst>
          </p:cNvPr>
          <p:cNvSpPr>
            <a:spLocks noGrp="1"/>
          </p:cNvSpPr>
          <p:nvPr>
            <p:ph idx="1"/>
          </p:nvPr>
        </p:nvSpPr>
        <p:spPr>
          <a:xfrm>
            <a:off x="581192" y="2606383"/>
            <a:ext cx="11029615" cy="3678303"/>
          </a:xfrm>
        </p:spPr>
        <p:txBody>
          <a:bodyPr/>
          <a:lstStyle/>
          <a:p>
            <a:r>
              <a:rPr lang="en" altLang="zh-CN" sz="3200" dirty="0"/>
              <a:t>The first work to leverage </a:t>
            </a:r>
            <a:r>
              <a:rPr lang="en" altLang="zh-CN" sz="3200" dirty="0">
                <a:solidFill>
                  <a:schemeClr val="accent2"/>
                </a:solidFill>
              </a:rPr>
              <a:t>tactile-based </a:t>
            </a:r>
            <a:r>
              <a:rPr lang="en" altLang="zh-CN" sz="3200" dirty="0"/>
              <a:t>physical embeddings for </a:t>
            </a:r>
            <a:r>
              <a:rPr lang="en" altLang="zh-CN" sz="3200" dirty="0">
                <a:solidFill>
                  <a:schemeClr val="accent2"/>
                </a:solidFill>
              </a:rPr>
              <a:t>dynamic</a:t>
            </a:r>
            <a:r>
              <a:rPr lang="en" altLang="zh-CN" sz="3200" dirty="0"/>
              <a:t> manipulation tasks</a:t>
            </a:r>
            <a:r>
              <a:rPr lang="en-US" altLang="zh-CN" sz="3200" dirty="0"/>
              <a:t>.</a:t>
            </a:r>
            <a:endParaRPr lang="en" altLang="zh-CN" sz="3200" dirty="0"/>
          </a:p>
          <a:p>
            <a:r>
              <a:rPr lang="en" altLang="zh-CN" sz="3200" dirty="0"/>
              <a:t>Removes need for explicit modeling of dynamics.</a:t>
            </a:r>
          </a:p>
          <a:p>
            <a:r>
              <a:rPr lang="en" altLang="zh-CN" sz="3200" dirty="0"/>
              <a:t>Greater</a:t>
            </a:r>
            <a:r>
              <a:rPr lang="zh-CN" altLang="en-US" sz="3200" dirty="0"/>
              <a:t> </a:t>
            </a:r>
            <a:r>
              <a:rPr lang="en-US" altLang="zh-CN" sz="3200" dirty="0">
                <a:solidFill>
                  <a:schemeClr val="accent1"/>
                </a:solidFill>
              </a:rPr>
              <a:t>generalization</a:t>
            </a:r>
            <a:r>
              <a:rPr lang="zh-CN" altLang="en-US" sz="3200" dirty="0">
                <a:solidFill>
                  <a:schemeClr val="accent1"/>
                </a:solidFill>
              </a:rPr>
              <a:t> </a:t>
            </a:r>
            <a:r>
              <a:rPr lang="en-US" altLang="zh-CN" sz="3200" dirty="0"/>
              <a:t>ability</a:t>
            </a:r>
            <a:r>
              <a:rPr lang="zh-CN" altLang="en-US" sz="3200" dirty="0"/>
              <a:t> </a:t>
            </a:r>
            <a:r>
              <a:rPr lang="en-US" altLang="zh-CN" sz="3200" dirty="0"/>
              <a:t>and</a:t>
            </a:r>
            <a:r>
              <a:rPr lang="zh-CN" altLang="en-US" sz="3200" dirty="0"/>
              <a:t> </a:t>
            </a:r>
            <a:r>
              <a:rPr lang="en-US" altLang="zh-CN" sz="3200" dirty="0"/>
              <a:t>robustness.</a:t>
            </a:r>
            <a:endParaRPr lang="en" altLang="zh-CN" sz="3200" dirty="0"/>
          </a:p>
          <a:p>
            <a:endParaRPr kumimoji="1" lang="zh-CN" altLang="en-US" dirty="0"/>
          </a:p>
        </p:txBody>
      </p:sp>
      <p:sp>
        <p:nvSpPr>
          <p:cNvPr id="3" name="标题 2">
            <a:extLst>
              <a:ext uri="{FF2B5EF4-FFF2-40B4-BE49-F238E27FC236}">
                <a16:creationId xmlns:a16="http://schemas.microsoft.com/office/drawing/2014/main" id="{464CD4B5-6D68-FC6F-60D3-587ADA94E0D9}"/>
              </a:ext>
            </a:extLst>
          </p:cNvPr>
          <p:cNvSpPr>
            <a:spLocks noGrp="1"/>
          </p:cNvSpPr>
          <p:nvPr>
            <p:ph type="title"/>
          </p:nvPr>
        </p:nvSpPr>
        <p:spPr/>
        <p:txBody>
          <a:bodyPr/>
          <a:lstStyle/>
          <a:p>
            <a:r>
              <a:rPr lang="en" altLang="zh-CN" dirty="0"/>
              <a:t>Breakthroughs Compared with Prior Work</a:t>
            </a:r>
            <a:endParaRPr kumimoji="1" lang="zh-CN" altLang="en-US" dirty="0"/>
          </a:p>
        </p:txBody>
      </p:sp>
    </p:spTree>
    <p:extLst>
      <p:ext uri="{BB962C8B-B14F-4D97-AF65-F5344CB8AC3E}">
        <p14:creationId xmlns:p14="http://schemas.microsoft.com/office/powerpoint/2010/main" val="390431921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5A1FF7-84FF-62AA-46AC-172A5BAA9224}"/>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CB75EECB-6324-7565-B93E-1E52C1940C12}"/>
              </a:ext>
            </a:extLst>
          </p:cNvPr>
          <p:cNvSpPr>
            <a:spLocks noGrp="1"/>
          </p:cNvSpPr>
          <p:nvPr>
            <p:ph type="ctrTitle"/>
          </p:nvPr>
        </p:nvSpPr>
        <p:spPr/>
        <p:txBody>
          <a:bodyPr/>
          <a:lstStyle/>
          <a:p>
            <a:r>
              <a:rPr lang="en" altLang="zh-CN" dirty="0"/>
              <a:t>Limitations &amp; Future Work</a:t>
            </a:r>
            <a:endParaRPr kumimoji="1" lang="zh-CN" altLang="en-US" dirty="0"/>
          </a:p>
        </p:txBody>
      </p:sp>
      <p:sp>
        <p:nvSpPr>
          <p:cNvPr id="3" name="副标题 2">
            <a:extLst>
              <a:ext uri="{FF2B5EF4-FFF2-40B4-BE49-F238E27FC236}">
                <a16:creationId xmlns:a16="http://schemas.microsoft.com/office/drawing/2014/main" id="{3B1E1EBF-948B-9C43-5FA6-FED0571C7B24}"/>
              </a:ext>
            </a:extLst>
          </p:cNvPr>
          <p:cNvSpPr>
            <a:spLocks noGrp="1"/>
          </p:cNvSpPr>
          <p:nvPr>
            <p:ph type="subTitle" idx="1"/>
          </p:nvPr>
        </p:nvSpPr>
        <p:spPr/>
        <p:txBody>
          <a:bodyPr/>
          <a:lstStyle/>
          <a:p>
            <a:r>
              <a:rPr kumimoji="1" lang="en-US" altLang="zh-CN" dirty="0"/>
              <a:t>Part4</a:t>
            </a:r>
            <a:endParaRPr kumimoji="1" lang="zh-CN" altLang="en-US" dirty="0"/>
          </a:p>
        </p:txBody>
      </p:sp>
    </p:spTree>
    <p:extLst>
      <p:ext uri="{BB962C8B-B14F-4D97-AF65-F5344CB8AC3E}">
        <p14:creationId xmlns:p14="http://schemas.microsoft.com/office/powerpoint/2010/main" val="54665243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id="{53677A74-B0C1-F87F-9A39-044A973DD3CC}"/>
              </a:ext>
            </a:extLst>
          </p:cNvPr>
          <p:cNvSpPr>
            <a:spLocks noGrp="1"/>
          </p:cNvSpPr>
          <p:nvPr>
            <p:ph idx="1"/>
          </p:nvPr>
        </p:nvSpPr>
        <p:spPr>
          <a:xfrm>
            <a:off x="581192" y="2404997"/>
            <a:ext cx="11029615" cy="4782163"/>
          </a:xfrm>
        </p:spPr>
        <p:txBody>
          <a:bodyPr>
            <a:normAutofit/>
          </a:bodyPr>
          <a:lstStyle/>
          <a:p>
            <a:r>
              <a:rPr lang="en" altLang="zh-CN" sz="2800" dirty="0">
                <a:solidFill>
                  <a:schemeClr val="accent2"/>
                </a:solidFill>
              </a:rPr>
              <a:t>E</a:t>
            </a:r>
            <a:r>
              <a:rPr lang="en" altLang="zh-CN" sz="3200" dirty="0">
                <a:solidFill>
                  <a:schemeClr val="accent2"/>
                </a:solidFill>
              </a:rPr>
              <a:t>xploration Actions: </a:t>
            </a:r>
            <a:r>
              <a:rPr lang="en" altLang="zh-CN" sz="3200" dirty="0"/>
              <a:t>Manually designed, not learned</a:t>
            </a:r>
          </a:p>
          <a:p>
            <a:r>
              <a:rPr lang="en" altLang="zh-CN" sz="3200" dirty="0">
                <a:solidFill>
                  <a:schemeClr val="accent2"/>
                </a:solidFill>
              </a:rPr>
              <a:t>Task Specificity: </a:t>
            </a:r>
            <a:r>
              <a:rPr lang="en" altLang="zh-CN" sz="3200" dirty="0"/>
              <a:t>Evaluated only on swing-up task</a:t>
            </a:r>
          </a:p>
          <a:p>
            <a:r>
              <a:rPr lang="en" altLang="zh-CN" sz="3200" dirty="0">
                <a:solidFill>
                  <a:schemeClr val="accent2"/>
                </a:solidFill>
              </a:rPr>
              <a:t>Action Space: </a:t>
            </a:r>
            <a:r>
              <a:rPr lang="en" altLang="zh-CN" sz="3200" dirty="0"/>
              <a:t>Limited degrees of freedom for action execution</a:t>
            </a:r>
          </a:p>
          <a:p>
            <a:r>
              <a:rPr lang="en" altLang="zh-CN" sz="3200" dirty="0">
                <a:solidFill>
                  <a:schemeClr val="accent2"/>
                </a:solidFill>
              </a:rPr>
              <a:t>Hardware Dependence: </a:t>
            </a:r>
            <a:r>
              <a:rPr lang="en" altLang="zh-CN" sz="3200" dirty="0"/>
              <a:t>Strong reliance on specific arm and tactile sensor</a:t>
            </a:r>
          </a:p>
          <a:p>
            <a:r>
              <a:rPr lang="en" altLang="zh-CN" sz="3200" dirty="0">
                <a:solidFill>
                  <a:schemeClr val="accent2"/>
                </a:solidFill>
              </a:rPr>
              <a:t>Data Limitation: </a:t>
            </a:r>
            <a:r>
              <a:rPr lang="en" altLang="zh-CN" sz="3200" dirty="0"/>
              <a:t>Restricted generalization capability</a:t>
            </a:r>
          </a:p>
          <a:p>
            <a:pPr marL="0" indent="0">
              <a:buNone/>
            </a:pPr>
            <a:endParaRPr lang="en" altLang="zh-CN" sz="3200" dirty="0"/>
          </a:p>
        </p:txBody>
      </p:sp>
      <p:sp>
        <p:nvSpPr>
          <p:cNvPr id="3" name="标题 2">
            <a:extLst>
              <a:ext uri="{FF2B5EF4-FFF2-40B4-BE49-F238E27FC236}">
                <a16:creationId xmlns:a16="http://schemas.microsoft.com/office/drawing/2014/main" id="{B048F305-7C8E-ADE0-7E58-4E2E531E5A66}"/>
              </a:ext>
            </a:extLst>
          </p:cNvPr>
          <p:cNvSpPr>
            <a:spLocks noGrp="1"/>
          </p:cNvSpPr>
          <p:nvPr>
            <p:ph type="title"/>
          </p:nvPr>
        </p:nvSpPr>
        <p:spPr/>
        <p:txBody>
          <a:bodyPr/>
          <a:lstStyle/>
          <a:p>
            <a:r>
              <a:rPr lang="en" altLang="zh-CN" dirty="0"/>
              <a:t>Limitations</a:t>
            </a:r>
            <a:endParaRPr kumimoji="1" lang="zh-CN" altLang="en-US" dirty="0"/>
          </a:p>
        </p:txBody>
      </p:sp>
    </p:spTree>
    <p:extLst>
      <p:ext uri="{BB962C8B-B14F-4D97-AF65-F5344CB8AC3E}">
        <p14:creationId xmlns:p14="http://schemas.microsoft.com/office/powerpoint/2010/main" val="323892493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id="{3E3225B9-E810-55C1-B6CF-B6F2FAEAC55D}"/>
              </a:ext>
            </a:extLst>
          </p:cNvPr>
          <p:cNvSpPr>
            <a:spLocks noGrp="1"/>
          </p:cNvSpPr>
          <p:nvPr>
            <p:ph idx="1"/>
          </p:nvPr>
        </p:nvSpPr>
        <p:spPr>
          <a:xfrm>
            <a:off x="744032" y="2744769"/>
            <a:ext cx="11029615" cy="3678303"/>
          </a:xfrm>
        </p:spPr>
        <p:txBody>
          <a:bodyPr>
            <a:normAutofit/>
          </a:bodyPr>
          <a:lstStyle/>
          <a:p>
            <a:r>
              <a:rPr lang="en" altLang="zh-CN" sz="3200" dirty="0">
                <a:solidFill>
                  <a:schemeClr val="accent2"/>
                </a:solidFill>
              </a:rPr>
              <a:t>Autonomous Exploration: </a:t>
            </a:r>
            <a:r>
              <a:rPr lang="en" altLang="zh-CN" sz="3200" dirty="0"/>
              <a:t>Learn optimal exploration strategies</a:t>
            </a:r>
          </a:p>
          <a:p>
            <a:r>
              <a:rPr lang="en" altLang="zh-CN" sz="3200" dirty="0">
                <a:solidFill>
                  <a:schemeClr val="accent2"/>
                </a:solidFill>
              </a:rPr>
              <a:t>Cross-task Transfer: </a:t>
            </a:r>
            <a:r>
              <a:rPr lang="en" altLang="zh-CN" sz="3200" dirty="0"/>
              <a:t>Evaluate embedding generalization on other tasks</a:t>
            </a:r>
          </a:p>
          <a:p>
            <a:r>
              <a:rPr lang="en" altLang="zh-CN" sz="3200" dirty="0">
                <a:solidFill>
                  <a:schemeClr val="accent2"/>
                </a:solidFill>
              </a:rPr>
              <a:t>Hardware Enhancement: </a:t>
            </a:r>
            <a:r>
              <a:rPr lang="zh-CN" altLang="en-US" sz="3200" dirty="0">
                <a:solidFill>
                  <a:schemeClr val="accent2"/>
                </a:solidFill>
              </a:rPr>
              <a:t> </a:t>
            </a:r>
            <a:r>
              <a:rPr lang="en-US" altLang="zh-CN" sz="3200" dirty="0"/>
              <a:t>Better sensors and robot arms</a:t>
            </a:r>
          </a:p>
          <a:p>
            <a:r>
              <a:rPr lang="en" altLang="zh-CN" sz="3200" dirty="0">
                <a:solidFill>
                  <a:schemeClr val="accent2"/>
                </a:solidFill>
              </a:rPr>
              <a:t>Dataset Expansion: </a:t>
            </a:r>
            <a:r>
              <a:rPr lang="en" altLang="zh-CN" sz="3200" dirty="0"/>
              <a:t>Increase diversity and scale</a:t>
            </a:r>
          </a:p>
        </p:txBody>
      </p:sp>
      <p:sp>
        <p:nvSpPr>
          <p:cNvPr id="3" name="标题 2">
            <a:extLst>
              <a:ext uri="{FF2B5EF4-FFF2-40B4-BE49-F238E27FC236}">
                <a16:creationId xmlns:a16="http://schemas.microsoft.com/office/drawing/2014/main" id="{74CEA8E9-A2CA-1BF9-4790-0AA74BDB6B8A}"/>
              </a:ext>
            </a:extLst>
          </p:cNvPr>
          <p:cNvSpPr>
            <a:spLocks noGrp="1"/>
          </p:cNvSpPr>
          <p:nvPr>
            <p:ph type="title"/>
          </p:nvPr>
        </p:nvSpPr>
        <p:spPr/>
        <p:txBody>
          <a:bodyPr/>
          <a:lstStyle/>
          <a:p>
            <a:r>
              <a:rPr lang="en" altLang="zh-CN" dirty="0"/>
              <a:t> Future Directions</a:t>
            </a:r>
            <a:endParaRPr kumimoji="1" lang="zh-CN" altLang="en-US" dirty="0"/>
          </a:p>
        </p:txBody>
      </p:sp>
    </p:spTree>
    <p:extLst>
      <p:ext uri="{BB962C8B-B14F-4D97-AF65-F5344CB8AC3E}">
        <p14:creationId xmlns:p14="http://schemas.microsoft.com/office/powerpoint/2010/main" val="38875189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id="{EC632327-117E-3B73-DF5F-54C9B18177BD}"/>
              </a:ext>
            </a:extLst>
          </p:cNvPr>
          <p:cNvSpPr>
            <a:spLocks noGrp="1"/>
          </p:cNvSpPr>
          <p:nvPr>
            <p:ph idx="1"/>
          </p:nvPr>
        </p:nvSpPr>
        <p:spPr/>
        <p:txBody>
          <a:bodyPr>
            <a:normAutofit/>
          </a:bodyPr>
          <a:lstStyle/>
          <a:p>
            <a:r>
              <a:rPr kumimoji="1" lang="en-US" altLang="zh-CN" sz="3200" dirty="0">
                <a:solidFill>
                  <a:schemeClr val="accent1"/>
                </a:solidFill>
              </a:rPr>
              <a:t>Presentation</a:t>
            </a:r>
            <a:r>
              <a:rPr kumimoji="1" lang="en-US" altLang="zh-CN" sz="3200" dirty="0"/>
              <a:t>: Boyan Pu, </a:t>
            </a:r>
            <a:r>
              <a:rPr kumimoji="1" lang="en-US" altLang="zh-CN" sz="3200" dirty="0" err="1"/>
              <a:t>Yangyi</a:t>
            </a:r>
            <a:r>
              <a:rPr kumimoji="1" lang="en-US" altLang="zh-CN" sz="3200" dirty="0"/>
              <a:t> Xiong, Chunyu Liu </a:t>
            </a:r>
          </a:p>
          <a:p>
            <a:r>
              <a:rPr kumimoji="1" lang="en-US" altLang="zh-CN" sz="3200" dirty="0">
                <a:solidFill>
                  <a:schemeClr val="accent1"/>
                </a:solidFill>
              </a:rPr>
              <a:t>PPT</a:t>
            </a:r>
            <a:r>
              <a:rPr kumimoji="1" lang="en-US" altLang="zh-CN" sz="3200" dirty="0"/>
              <a:t>: Chunyu Liu</a:t>
            </a:r>
          </a:p>
          <a:p>
            <a:r>
              <a:rPr kumimoji="1" lang="en-US" altLang="zh-CN" sz="3200" dirty="0">
                <a:solidFill>
                  <a:schemeClr val="accent1"/>
                </a:solidFill>
              </a:rPr>
              <a:t>Script</a:t>
            </a:r>
            <a:r>
              <a:rPr kumimoji="1" lang="en-US" altLang="zh-CN" sz="3200" dirty="0"/>
              <a:t>: Boyan Pu, </a:t>
            </a:r>
            <a:r>
              <a:rPr kumimoji="1" lang="en-US" altLang="zh-CN" sz="3200" dirty="0" err="1"/>
              <a:t>Yangyi</a:t>
            </a:r>
            <a:r>
              <a:rPr kumimoji="1" lang="en-US" altLang="zh-CN" sz="3200" dirty="0"/>
              <a:t> Xiong, Chunyu Liu </a:t>
            </a:r>
          </a:p>
          <a:p>
            <a:endParaRPr kumimoji="1" lang="zh-CN" altLang="en-US" sz="3200" dirty="0"/>
          </a:p>
        </p:txBody>
      </p:sp>
      <p:sp>
        <p:nvSpPr>
          <p:cNvPr id="3" name="标题 2">
            <a:extLst>
              <a:ext uri="{FF2B5EF4-FFF2-40B4-BE49-F238E27FC236}">
                <a16:creationId xmlns:a16="http://schemas.microsoft.com/office/drawing/2014/main" id="{BA4C542C-EF07-E321-D053-CF5CB779AD0D}"/>
              </a:ext>
            </a:extLst>
          </p:cNvPr>
          <p:cNvSpPr>
            <a:spLocks noGrp="1"/>
          </p:cNvSpPr>
          <p:nvPr>
            <p:ph type="title"/>
          </p:nvPr>
        </p:nvSpPr>
        <p:spPr/>
        <p:txBody>
          <a:bodyPr/>
          <a:lstStyle/>
          <a:p>
            <a:r>
              <a:rPr kumimoji="1" lang="en-US" altLang="zh-CN" dirty="0"/>
              <a:t>Contribution</a:t>
            </a:r>
            <a:endParaRPr kumimoji="1" lang="zh-CN" altLang="en-US" dirty="0"/>
          </a:p>
        </p:txBody>
      </p:sp>
    </p:spTree>
    <p:extLst>
      <p:ext uri="{BB962C8B-B14F-4D97-AF65-F5344CB8AC3E}">
        <p14:creationId xmlns:p14="http://schemas.microsoft.com/office/powerpoint/2010/main" val="236065838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D8A6FF1-38C6-BF40-AA54-FC2C1268CA34}"/>
              </a:ext>
            </a:extLst>
          </p:cNvPr>
          <p:cNvSpPr>
            <a:spLocks noGrp="1"/>
          </p:cNvSpPr>
          <p:nvPr>
            <p:ph type="ctrTitle"/>
          </p:nvPr>
        </p:nvSpPr>
        <p:spPr/>
        <p:txBody>
          <a:bodyPr/>
          <a:lstStyle/>
          <a:p>
            <a:r>
              <a:rPr kumimoji="1" lang="en-US" altLang="zh-CN" dirty="0"/>
              <a:t>Thanks</a:t>
            </a:r>
            <a:r>
              <a:rPr kumimoji="1" lang="zh-CN" altLang="en-US" dirty="0"/>
              <a:t>！</a:t>
            </a:r>
          </a:p>
        </p:txBody>
      </p:sp>
      <p:sp>
        <p:nvSpPr>
          <p:cNvPr id="3" name="副标题 2">
            <a:extLst>
              <a:ext uri="{FF2B5EF4-FFF2-40B4-BE49-F238E27FC236}">
                <a16:creationId xmlns:a16="http://schemas.microsoft.com/office/drawing/2014/main" id="{0486DF19-DC1B-514A-8C02-64E0ECCD2C31}"/>
              </a:ext>
            </a:extLst>
          </p:cNvPr>
          <p:cNvSpPr>
            <a:spLocks noGrp="1"/>
          </p:cNvSpPr>
          <p:nvPr>
            <p:ph type="subTitle" idx="1"/>
          </p:nvPr>
        </p:nvSpPr>
        <p:spPr/>
        <p:txBody>
          <a:bodyPr/>
          <a:lstStyle/>
          <a:p>
            <a:r>
              <a:rPr kumimoji="1" lang="en-US" altLang="zh-CN" dirty="0" err="1"/>
              <a:t>Yangyi</a:t>
            </a:r>
            <a:r>
              <a:rPr kumimoji="1" lang="en-US" altLang="zh-CN" dirty="0"/>
              <a:t> Xiong, Boyan Pu, Chunyu Liu</a:t>
            </a:r>
          </a:p>
          <a:p>
            <a:r>
              <a:rPr kumimoji="1" lang="en-US" altLang="zh-CN" dirty="0"/>
              <a:t>2025.10.31</a:t>
            </a:r>
          </a:p>
          <a:p>
            <a:endParaRPr kumimoji="1" lang="zh-CN" altLang="en-US" dirty="0"/>
          </a:p>
        </p:txBody>
      </p:sp>
    </p:spTree>
    <p:extLst>
      <p:ext uri="{BB962C8B-B14F-4D97-AF65-F5344CB8AC3E}">
        <p14:creationId xmlns:p14="http://schemas.microsoft.com/office/powerpoint/2010/main" val="1433308298"/>
      </p:ext>
    </p:extLst>
  </p:cSld>
  <p:clrMapOvr>
    <a:masterClrMapping/>
  </p:clrMapOvr>
</p:sld>
</file>

<file path=ppt/theme/theme1.xml><?xml version="1.0" encoding="utf-8"?>
<a:theme xmlns:a="http://schemas.openxmlformats.org/drawingml/2006/main" name="清华简约主题-留边-16:9">
  <a:themeElements>
    <a:clrScheme name="清华紫主题">
      <a:dk1>
        <a:srgbClr val="000000"/>
      </a:dk1>
      <a:lt1>
        <a:srgbClr val="FFFFFF"/>
      </a:lt1>
      <a:dk2>
        <a:srgbClr val="3D3D3D"/>
      </a:dk2>
      <a:lt2>
        <a:srgbClr val="EBEBEB"/>
      </a:lt2>
      <a:accent1>
        <a:srgbClr val="660874"/>
      </a:accent1>
      <a:accent2>
        <a:srgbClr val="660874"/>
      </a:accent2>
      <a:accent3>
        <a:srgbClr val="E6C46D"/>
      </a:accent3>
      <a:accent4>
        <a:srgbClr val="969FA7"/>
      </a:accent4>
      <a:accent5>
        <a:srgbClr val="A9C37C"/>
      </a:accent5>
      <a:accent6>
        <a:srgbClr val="5A8071"/>
      </a:accent6>
      <a:hlink>
        <a:srgbClr val="007698"/>
      </a:hlink>
      <a:folHlink>
        <a:srgbClr val="43064C"/>
      </a:folHlink>
    </a:clrScheme>
    <a:fontScheme name="红利">
      <a:maj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红利">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Dividend" id="{9697A71B-4AB7-4A1A-BD5B-BB2D22835B57}" vid="{5D8C9649-FBE1-4B5B-8258-8A170F9843AD}"/>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4706</TotalTime>
  <Words>2919</Words>
  <Application>Microsoft Macintosh PowerPoint</Application>
  <PresentationFormat>宽屏</PresentationFormat>
  <Paragraphs>242</Paragraphs>
  <Slides>23</Slides>
  <Notes>19</Notes>
  <HiddenSlides>0</HiddenSlides>
  <MMClips>0</MMClips>
  <ScaleCrop>false</ScaleCrop>
  <HeadingPairs>
    <vt:vector size="6" baseType="variant">
      <vt:variant>
        <vt:lpstr>已用的字体</vt:lpstr>
      </vt:variant>
      <vt:variant>
        <vt:i4>7</vt:i4>
      </vt:variant>
      <vt:variant>
        <vt:lpstr>主题</vt:lpstr>
      </vt:variant>
      <vt:variant>
        <vt:i4>1</vt:i4>
      </vt:variant>
      <vt:variant>
        <vt:lpstr>幻灯片标题</vt:lpstr>
      </vt:variant>
      <vt:variant>
        <vt:i4>23</vt:i4>
      </vt:variant>
    </vt:vector>
  </HeadingPairs>
  <TitlesOfParts>
    <vt:vector size="31" baseType="lpstr">
      <vt:lpstr>-apple-system</vt:lpstr>
      <vt:lpstr>等线</vt:lpstr>
      <vt:lpstr>微软雅黑</vt:lpstr>
      <vt:lpstr>inherit</vt:lpstr>
      <vt:lpstr>Arial</vt:lpstr>
      <vt:lpstr>Gill Sans MT</vt:lpstr>
      <vt:lpstr>Wingdings 2</vt:lpstr>
      <vt:lpstr>清华简约主题-留边-16:9</vt:lpstr>
      <vt:lpstr>SwingBot: Learning Physical Features from In-hand Tactile Exploration for Dynamic Swing-up Manipulation</vt:lpstr>
      <vt:lpstr>目录</vt:lpstr>
      <vt:lpstr>Motivation</vt:lpstr>
      <vt:lpstr>The Importance and Challenge of Dynamic Manipulation</vt:lpstr>
      <vt:lpstr>GOAL: Building a similar tactile-based physical intuition like humans</vt:lpstr>
      <vt:lpstr>Why SwingBot? – Comparison with Previous Approaches</vt:lpstr>
      <vt:lpstr>Methodology</vt:lpstr>
      <vt:lpstr> Overview</vt:lpstr>
      <vt:lpstr>Stage1——Sensing: Gelsight sensor</vt:lpstr>
      <vt:lpstr>Stage2Part1——Tilting Exploration Actions</vt:lpstr>
      <vt:lpstr>Stage2Part2——Shaking Exploration Actions</vt:lpstr>
      <vt:lpstr>Stage3——Fusion and Prediction</vt:lpstr>
      <vt:lpstr>Data, Training and Inference</vt:lpstr>
      <vt:lpstr>Results</vt:lpstr>
      <vt:lpstr>Significant performance improvement</vt:lpstr>
      <vt:lpstr>Physical Features Distanglement</vt:lpstr>
      <vt:lpstr>Task-Oriented Embedding</vt:lpstr>
      <vt:lpstr>Breakthroughs Compared with Prior Work</vt:lpstr>
      <vt:lpstr>Limitations &amp; Future Work</vt:lpstr>
      <vt:lpstr>Limitations</vt:lpstr>
      <vt:lpstr> Future Directions</vt:lpstr>
      <vt:lpstr>Contribution</vt:lpstr>
      <vt:lpstr>Thanks！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陈 伟浩</dc:creator>
  <cp:lastModifiedBy>MacBook</cp:lastModifiedBy>
  <cp:revision>1203</cp:revision>
  <cp:lastPrinted>2020-04-04T02:50:47Z</cp:lastPrinted>
  <dcterms:created xsi:type="dcterms:W3CDTF">2020-01-04T07:43:38Z</dcterms:created>
  <dcterms:modified xsi:type="dcterms:W3CDTF">2026-09-07T06:00:35Z</dcterms:modified>
</cp:coreProperties>
</file>